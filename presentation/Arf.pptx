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/>
          </ns0:cNvSpPr>
          <ns0:nvPr>
            <ns0:ph type="sldImg" idx="2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3" sz="quarter"/>
          </ns0:nvPr>
        </ns0:nvSpPr>
        <ns0:spPr/>
        <ns0:txBody>
          <ns1:bodyPr/>
          <ns1:lstStyle/>
          <ns1:p>
            <ns1:r>
              <ns1:t/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 sz="quarter"/>
          </ns0:nvPr>
        </ns0:nvSpPr>
        <ns0:spPr/>
      </ns0:sp>
    </ns0:spTree>
  </ns0:cSld>
  <ns0:clrMapOvr>
    <ns1:masterClrMapping/>
  </ns0:clrMapOvr>
</ns0:notes>
</file>

<file path=ppt/notesSlides/notesSlide2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/>
          </ns0:cNvSpPr>
          <ns0:nvPr>
            <ns0:ph type="sldImg" idx="2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3" sz="quarter"/>
          </ns0:nvPr>
        </ns0:nvSpPr>
        <ns0:spPr/>
        <ns0:txBody>
          <ns1:bodyPr/>
          <ns1:lstStyle/>
          <ns1:p>
            <ns1:r>
              <ns1:t/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 sz="quarter"/>
          </ns0:nvPr>
        </ns0:nvSpPr>
        <ns0:spPr/>
      </ns0:sp>
    </ns0:spTree>
  </ns0:cSld>
  <ns0:clrMapOvr>
    <ns1:masterClrMapping/>
  </ns0:clrMapOvr>
</ns0:notes>
</file>

<file path=ppt/notesSlides/notesSlide3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/>
          </ns0:cNvSpPr>
          <ns0:nvPr>
            <ns0:ph type="sldImg" idx="2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3" sz="quarter"/>
          </ns0:nvPr>
        </ns0:nvSpPr>
        <ns0:spPr/>
        <ns0:txBody>
          <ns1:bodyPr/>
          <ns1:lstStyle/>
          <ns1:p>
            <ns1:r>
              <ns1:t/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 sz="quarter"/>
          </ns0:nvPr>
        </ns0:nvSpPr>
        <ns0:spPr/>
      </ns0:sp>
    </ns0:spTree>
  </ns0:cSld>
  <ns0:clrMapOvr>
    <ns1:masterClrMapping/>
  </ns0:clrMapOvr>
</ns0:notes>
</file>

<file path=ppt/notesSlides/notesSlide4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/>
          </ns0:cNvSpPr>
          <ns0:nvPr>
            <ns0:ph type="sldImg" idx="2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3" sz="quarter"/>
          </ns0:nvPr>
        </ns0:nvSpPr>
        <ns0:spPr/>
        <ns0:txBody>
          <ns1:bodyPr/>
          <ns1:lstStyle/>
          <ns1:p>
            <ns1:r>
              <ns1:t/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 sz="quarter"/>
          </ns0:nvPr>
        </ns0:nvSpPr>
        <ns0:spPr/>
      </ns0:sp>
    </ns0:spTree>
  </ns0:cSld>
  <ns0:clrMapOvr>
    <ns1:masterClrMapping/>
  </ns0:clrMapOvr>
</ns0:notes>
</file>

<file path=ppt/notesSlides/notesSlide5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/>
          </ns0:cNvSpPr>
          <ns0:nvPr>
            <ns0:ph type="sldImg" idx="2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3" sz="quarter"/>
          </ns0:nvPr>
        </ns0:nvSpPr>
        <ns0:spPr/>
        <ns0:txBody>
          <ns1:bodyPr/>
          <ns1:lstStyle/>
          <ns1:p>
            <ns1:r>
              <ns1:t/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 sz="quarter"/>
          </ns0:nvPr>
        </ns0:nvSpPr>
        <ns0:spPr/>
      </ns0:sp>
    </ns0:spTree>
  </ns0:cSld>
  <ns0:clrMapOvr>
    <ns1:masterClrMapping/>
  </ns0:clrMapOvr>
</ns0:notes>
</file>

<file path=ppt/notesSlides/notesSlide6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/>
          </ns0:cNvSpPr>
          <ns0:nvPr>
            <ns0:ph type="sldImg" idx="2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3" sz="quarter"/>
          </ns0:nvPr>
        </ns0:nvSpPr>
        <ns0:spPr/>
        <ns0:txBody>
          <ns1:bodyPr/>
          <ns1:lstStyle/>
          <ns1:p>
            <ns1:r>
              <ns1:t/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 sz="quarter"/>
          </ns0:nvPr>
        </ns0:nvSpPr>
        <ns0:spPr/>
      </ns0:sp>
    </ns0:spTree>
  </ns0:cSld>
  <ns0:clrMapOvr>
    <ns1:masterClrMapping/>
  </ns0:clrMapOvr>
</ns0:notes>
</file>

<file path=ppt/notesSlides/notesSlide7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/>
          </ns0:cNvSpPr>
          <ns0:nvPr>
            <ns0:ph type="sldImg" idx="2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3" sz="quarter"/>
          </ns0:nvPr>
        </ns0:nvSpPr>
        <ns0:spPr/>
        <ns0:txBody>
          <ns1:bodyPr/>
          <ns1:lstStyle/>
          <ns1:p>
            <ns1:r>
              <ns1:t/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 sz="quarter"/>
          </ns0:nvPr>
        </ns0:nvSpPr>
        <ns0:spPr/>
      </ns0:sp>
    </ns0:spTree>
  </ns0:cSld>
  <ns0:clrMapOvr>
    <ns1:masterClrMapping/>
  </ns0:clrMapOvr>
</ns0:notes>
</file>

<file path=ppt/notesSlides/notesSlide8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/>
          </ns0:cNvSpPr>
          <ns0:nvPr>
            <ns0:ph type="sldImg" idx="2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3" sz="quarter"/>
          </ns0:nvPr>
        </ns0:nvSpPr>
        <ns0:spPr/>
        <ns0:txBody>
          <ns1:bodyPr/>
          <ns1:lstStyle/>
          <ns1:p>
            <ns1:r>
              <ns1:t/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 sz="quarter"/>
          </ns0:nvPr>
        </ns0:nvSpPr>
        <ns0:spPr/>
      </ns0:sp>
    </ns0:spTree>
  </ns0:cSld>
  <ns0:clrMapOvr>
    <ns1:masterClrMapping/>
  </ns0:clrMapOvr>
</ns0:notes>
</file>

<file path=ppt/notesSlides/notesSlide9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/>
          </ns0:cNvSpPr>
          <ns0:nvPr>
            <ns0:ph type="sldImg" idx="2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3" sz="quarter"/>
          </ns0:nvPr>
        </ns0:nvSpPr>
        <ns0:spPr/>
        <ns0:txBody>
          <ns1:bodyPr/>
          <ns1:lstStyle/>
          <ns1:p>
            <ns1:r>
              <ns1:t/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 sz="quarter"/>
          </ns0:nvPr>
        </ns0:nvSpPr>
        <ns0:spPr/>
      </ns0:sp>
    </ns0:spTree>
  </ns0:cSld>
  <ns0:clrMapOvr>
    <ns1:masterClrMapping/>
  </ns0:clrMapOvr>
</ns0:notes>
</file>

<file path=ppt/notesSlides/notesSlide10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/>
          </ns0:cNvSpPr>
          <ns0:nvPr>
            <ns0:ph type="sldImg" idx="2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3" sz="quarter"/>
          </ns0:nvPr>
        </ns0:nvSpPr>
        <ns0:spPr/>
        <ns0:txBody>
          <ns1:bodyPr/>
          <ns1:lstStyle/>
          <ns1:p>
            <ns1:r>
              <ns1:t/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 sz="quarter"/>
          </ns0:nvPr>
        </ns0:nvSpPr>
        <ns0:spPr/>
      </ns0:sp>
    </ns0:spTree>
  </ns0:cSld>
  <ns0:clrMapOvr>
    <ns1:masterClrMapping/>
  </ns0:clrMapOvr>
</ns0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arf-icra-demo.copperspoon2.chatgpt.site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explorer-test.avax.network/c-chain/tx/0x7bef94f297de147acf74dce1139eca659e982e2ae51a51f013b2d89071ba5173" TargetMode="External"/><Relationship Id="rId4" Type="http://schemas.openxmlformats.org/officeDocument/2006/relationships/hyperlink" Target="https://explorer-test.avax.network/c-chain/tx/0xa5798d597f00a46e36c93a48f4423d46a18faf082d2006562140e4bd5eaacbbe" TargetMode="External"/><Relationship Id="rId5" Type="http://schemas.openxmlformats.org/officeDocument/2006/relationships/hyperlink" Target="https://explorer-test.avax.network/c-chain/tx/0x175eaee2cdce982ad58988c3d73bb08944bf3d62fbcf91dcab1a973b8f4bf0e5" TargetMode="External"/><Relationship Id="rId6" Type="http://schemas.openxmlformats.org/officeDocument/2006/relationships/hyperlink" Target="https://explorer-test.avax.network/c-chain/tx/0x80aeb84999c64df29bec84dccedd6addb3b1c22adac4e69abd74fc29eb2667a6" TargetMode="External"/><Relationship Id="rId7" Type="http://schemas.openxmlformats.org/officeDocument/2006/relationships/hyperlink" Target="https://explorer-test.avax.network/c-chain/tx/0x0b05e13fa25cb379d62f715820266a32db08250b40b19e2474940b5311ede98e" TargetMode="External"/><Relationship Id="rId8" Type="http://schemas.openxmlformats.org/officeDocument/2006/relationships/hyperlink" Target="https://explorer-test.avax.network/c-chain/tx/0xa1ad95144f813310c2b6c96457b35be32f71c3290f53d632f2b46baffbf99a80" TargetMode="External"/><Relationship Id="rId9" Type="http://schemas.openxmlformats.org/officeDocument/2006/relationships/hyperlink" Target="https://explorer-test.avax.network/c-chain/tx/0x0b29025776a1f03d8304fd01144ebe88741fe1d760ec405e5b8ebac9b91233a3" TargetMode="External"/><Relationship Id="rId10" Type="http://schemas.openxmlformats.org/officeDocument/2006/relationships/hyperlink" Target="https://explorer-test.avax.network/c-chain/address/0xddE4C78F831f082E8AFDF716266bd1338B591159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github.com/akifaybek/arf" TargetMode="External"/><Relationship Id="rId4" Type="http://schemas.openxmlformats.org/officeDocument/2006/relationships/hyperlink" Target="https://arf-icra-demo.copperspoon2.chatgpt.site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F2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13232" y="6345936"/>
            <a:ext cx="10762488" cy="0"/>
          </a:xfrm>
          <a:prstGeom prst="line">
            <a:avLst/>
          </a:prstGeom>
          <a:ln w="8890">
            <a:solidFill>
              <a:srgbClr val="3552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73952"/>
            <a:ext cx="9966960" cy="22860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>
                <a:solidFill>
                  <a:srgbClr val="ADC0BA"/>
                </a:solidFill>
                <a:latin typeface="Arial"/>
              </a:rPr>
              <a:t>Arf   /   OKX Agent Trade Kit × Avalanche   /   17 Ekim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9376" y="6446520"/>
            <a:ext cx="438912" cy="27432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ADC0BA"/>
                </a:solidFill>
                <a:latin typeface="Courier New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366760" y="0"/>
            <a:ext cx="3825239" cy="6336792"/>
          </a:xfrm>
          <a:prstGeom prst="rect">
            <a:avLst/>
          </a:prstGeom>
          <a:solidFill>
            <a:srgbClr val="E8E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7132320" cy="150876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200" b="0">
                <a:solidFill>
                  <a:srgbClr val="EEF1E8"/>
                </a:solidFill>
                <a:latin typeface="Georgia"/>
              </a:rPr>
              <a:t>Arf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798064"/>
            <a:ext cx="6995160" cy="1490472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600" b="0">
                <a:solidFill>
                  <a:srgbClr val="EEF1E8"/>
                </a:solidFill>
                <a:latin typeface="Arial"/>
              </a:rPr>
              <a:t>İşlem öncesi icra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600" b="0">
                <a:solidFill>
                  <a:srgbClr val="EEF1E8"/>
                </a:solidFill>
                <a:latin typeface="Arial"/>
              </a:rPr>
              <a:t>ve likidite kalkanı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901184"/>
            <a:ext cx="6766560" cy="6400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300" b="0">
                <a:solidFill>
                  <a:srgbClr val="ADC0BA"/>
                </a:solidFill>
                <a:latin typeface="Arial"/>
              </a:rPr>
              <a:t>AI trading agent’lar için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14232" y="1645920"/>
            <a:ext cx="3108960" cy="6400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2500" b="0">
                <a:solidFill>
                  <a:srgbClr val="16312E"/>
                </a:solidFill>
                <a:latin typeface="Courier New"/>
              </a:rPr>
              <a:t>emir tutarı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14232" y="2432304"/>
            <a:ext cx="3108960" cy="137160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0000" b="0">
                <a:solidFill>
                  <a:srgbClr val="16312E"/>
                </a:solidFill>
                <a:latin typeface="Georgia"/>
              </a:rPr>
              <a:t>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22792" y="3995928"/>
            <a:ext cx="3291840" cy="6400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2500" b="0">
                <a:solidFill>
                  <a:srgbClr val="16312E"/>
                </a:solidFill>
                <a:latin typeface="Courier New"/>
              </a:rPr>
              <a:t>maxSafeSize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760720"/>
            <a:ext cx="6675120" cy="29260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0">
                <a:solidFill>
                  <a:srgbClr val="ADC0BA"/>
                </a:solidFill>
                <a:latin typeface="Arial"/>
              </a:rPr>
              <a:t>Cahit Arf’a ve değişmez fikrine gönderme.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B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612648"/>
            <a:ext cx="10789920" cy="102412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0">
                <a:solidFill>
                  <a:srgbClr val="16312E"/>
                </a:solidFill>
                <a:latin typeface="Georgia"/>
              </a:rPr>
              <a:t>Aynı tahta. Çok farklı icra maliyeti.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13232" y="6345936"/>
            <a:ext cx="10762488" cy="0"/>
          </a:xfrm>
          <a:prstGeom prst="line">
            <a:avLst/>
          </a:prstGeom>
          <a:ln w="8890">
            <a:solidFill>
              <a:srgbClr val="4D65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6473952"/>
            <a:ext cx="9966960" cy="22860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>
                <a:solidFill>
                  <a:srgbClr val="4D655D"/>
                </a:solidFill>
                <a:latin typeface="Arial"/>
              </a:rPr>
              <a:t>Arf   /   OKX Agent Trade Kit × Avalanche   /   17 Ekim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9376" y="6446520"/>
            <a:ext cx="438912" cy="27432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4D655D"/>
                </a:solidFill>
                <a:latin typeface="Courier New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01952"/>
            <a:ext cx="4983480" cy="50292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200" b="0">
                <a:solidFill>
                  <a:srgbClr val="4D655D"/>
                </a:solidFill>
                <a:latin typeface="Arial"/>
              </a:rPr>
              <a:t>BIGTIME-USDT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89320" y="1984248"/>
            <a:ext cx="0" cy="2935224"/>
          </a:xfrm>
          <a:prstGeom prst="line">
            <a:avLst/>
          </a:prstGeom>
          <a:ln w="12700">
            <a:solidFill>
              <a:srgbClr val="B7C5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2633472"/>
            <a:ext cx="4663440" cy="50292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400" b="0">
                <a:solidFill>
                  <a:srgbClr val="16312E"/>
                </a:solidFill>
                <a:latin typeface="Arial"/>
              </a:rPr>
              <a:t>1.000 USDT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46120"/>
            <a:ext cx="5029200" cy="105156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7600" b="0">
                <a:solidFill>
                  <a:srgbClr val="16312E"/>
                </a:solidFill>
                <a:latin typeface="Courier New"/>
              </a:rPr>
              <a:t>10,8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4498848"/>
            <a:ext cx="4663440" cy="45720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300" b="0">
                <a:solidFill>
                  <a:srgbClr val="4D655D"/>
                </a:solidFill>
                <a:latin typeface="Arial"/>
              </a:rPr>
              <a:t>bps kayma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633472"/>
            <a:ext cx="4663440" cy="50292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400" b="0">
                <a:solidFill>
                  <a:srgbClr val="16312E"/>
                </a:solidFill>
                <a:latin typeface="Arial"/>
              </a:rPr>
              <a:t>10.000 USDT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246120"/>
            <a:ext cx="4754880" cy="105156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7600" b="0">
                <a:solidFill>
                  <a:srgbClr val="16312E"/>
                </a:solidFill>
                <a:latin typeface="Courier New"/>
              </a:rPr>
              <a:t>1284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4498848"/>
            <a:ext cx="4663440" cy="45720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300" b="0">
                <a:solidFill>
                  <a:srgbClr val="4D655D"/>
                </a:solidFill>
                <a:latin typeface="Arial"/>
              </a:rPr>
              <a:t>bps kayma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394960"/>
            <a:ext cx="10515600" cy="521207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800" b="0">
                <a:solidFill>
                  <a:srgbClr val="16312E"/>
                </a:solidFill>
                <a:latin typeface="Arial"/>
              </a:rPr>
              <a:t>10× tutar, 100× üzerinde kayma oranı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6007608"/>
            <a:ext cx="10515600" cy="219456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4D655D"/>
                </a:solidFill>
                <a:latin typeface="Arial"/>
              </a:rPr>
              <a:t>ÖLÇÜLEN: hackathon ölçüm notu. Canlı tahta değişir.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612648"/>
            <a:ext cx="10789920" cy="102412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0">
                <a:solidFill>
                  <a:srgbClr val="EEF1E8"/>
                </a:solidFill>
                <a:latin typeface="Georgia"/>
              </a:rPr>
              <a:t>Bir emir için tek değişmez.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13232" y="6345936"/>
            <a:ext cx="10762488" cy="0"/>
          </a:xfrm>
          <a:prstGeom prst="line">
            <a:avLst/>
          </a:prstGeom>
          <a:ln w="8890">
            <a:solidFill>
              <a:srgbClr val="3552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6473952"/>
            <a:ext cx="9966960" cy="22860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>
                <a:solidFill>
                  <a:srgbClr val="ADC0BA"/>
                </a:solidFill>
                <a:latin typeface="Arial"/>
              </a:rPr>
              <a:t>Arf   /   OKX Agent Trade Kit × Avalanche   /   17 Ekim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9376" y="6446520"/>
            <a:ext cx="438912" cy="27432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ADC0BA"/>
                </a:solidFill>
                <a:latin typeface="Courier New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10515600" cy="50292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700" b="0">
                <a:solidFill>
                  <a:srgbClr val="ADC0BA"/>
                </a:solidFill>
                <a:latin typeface="Arial"/>
              </a:rPr>
              <a:t>Her emirden önce: ölçüm, imza ve zincir kontrolü.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788920"/>
            <a:ext cx="10744200" cy="1536192"/>
          </a:xfrm>
          <a:prstGeom prst="rect">
            <a:avLst/>
          </a:prstGeom>
          <a:solidFill>
            <a:srgbClr val="E8E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3182112"/>
            <a:ext cx="10195560" cy="77724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4400" b="0">
                <a:solidFill>
                  <a:srgbClr val="16312E"/>
                </a:solidFill>
                <a:latin typeface="Courier New"/>
              </a:rPr>
              <a:t>emir tutarı ≤ maxSafeSize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4983480"/>
            <a:ext cx="10561320" cy="6400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000" b="0">
                <a:solidFill>
                  <a:srgbClr val="EEF1E8"/>
                </a:solidFill>
                <a:latin typeface="Georgia"/>
              </a:rPr>
              <a:t>Tahtanın taşıyamadığı emir, sınırda durur.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5769864"/>
            <a:ext cx="10515600" cy="32004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000" b="0">
                <a:solidFill>
                  <a:srgbClr val="B5D0BD"/>
                </a:solidFill>
                <a:latin typeface="Courier New"/>
              </a:rPr>
              <a:t>check_execution(symbol, side, size)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B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612648"/>
            <a:ext cx="10789920" cy="102412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0">
                <a:solidFill>
                  <a:srgbClr val="16312E"/>
                </a:solidFill>
                <a:latin typeface="Georgia"/>
              </a:rPr>
              <a:t>ATK verisinden Fuji kontrolüne.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13232" y="6345936"/>
            <a:ext cx="10762488" cy="0"/>
          </a:xfrm>
          <a:prstGeom prst="line">
            <a:avLst/>
          </a:prstGeom>
          <a:ln w="8890">
            <a:solidFill>
              <a:srgbClr val="4D65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6473952"/>
            <a:ext cx="9966960" cy="22860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>
                <a:solidFill>
                  <a:srgbClr val="4D655D"/>
                </a:solidFill>
                <a:latin typeface="Arial"/>
              </a:rPr>
              <a:t>Arf   /   OKX Agent Trade Kit × Avalanche   /   17 Ekim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9376" y="6446520"/>
            <a:ext cx="438912" cy="27432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4D655D"/>
                </a:solidFill>
                <a:latin typeface="Courier New"/>
              </a:rPr>
              <a:t>04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2304288"/>
            <a:ext cx="2286000" cy="0"/>
          </a:xfrm>
          <a:prstGeom prst="line">
            <a:avLst/>
          </a:prstGeom>
          <a:ln w="12700">
            <a:solidFill>
              <a:srgbClr val="4D65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2596896"/>
            <a:ext cx="2340864" cy="6400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700" b="0">
                <a:solidFill>
                  <a:srgbClr val="16312E"/>
                </a:solidFill>
                <a:latin typeface="Georgia"/>
              </a:rPr>
              <a:t>ATK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438144"/>
            <a:ext cx="2331720" cy="77724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200" b="0">
                <a:solidFill>
                  <a:srgbClr val="4D655D"/>
                </a:solidFill>
                <a:latin typeface="Arial"/>
              </a:rPr>
              <a:t>Canlı tahta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08960" y="2962656"/>
            <a:ext cx="329184" cy="0"/>
          </a:xfrm>
          <a:prstGeom prst="line">
            <a:avLst/>
          </a:prstGeom>
          <a:ln w="19050">
            <a:solidFill>
              <a:srgbClr val="4D655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566160" y="2304288"/>
            <a:ext cx="2286000" cy="0"/>
          </a:xfrm>
          <a:prstGeom prst="line">
            <a:avLst/>
          </a:prstGeom>
          <a:ln w="12700">
            <a:solidFill>
              <a:srgbClr val="4D65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566160" y="2596896"/>
            <a:ext cx="2340864" cy="6400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700" b="0">
                <a:solidFill>
                  <a:srgbClr val="16312E"/>
                </a:solidFill>
                <a:latin typeface="Georgia"/>
              </a:rPr>
              <a:t>Metrikler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438144"/>
            <a:ext cx="2331720" cy="77724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200" b="0">
                <a:solidFill>
                  <a:srgbClr val="4D655D"/>
                </a:solidFill>
                <a:latin typeface="Arial"/>
              </a:rPr>
              <a:t>İcra maliyeti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897879" y="2962656"/>
            <a:ext cx="329185" cy="0"/>
          </a:xfrm>
          <a:prstGeom prst="line">
            <a:avLst/>
          </a:prstGeom>
          <a:ln w="19050">
            <a:solidFill>
              <a:srgbClr val="4D655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355079" y="2304288"/>
            <a:ext cx="2286001" cy="0"/>
          </a:xfrm>
          <a:prstGeom prst="line">
            <a:avLst/>
          </a:prstGeom>
          <a:ln w="12700">
            <a:solidFill>
              <a:srgbClr val="4D65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55079" y="2596896"/>
            <a:ext cx="2340864" cy="6400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700" b="0">
                <a:solidFill>
                  <a:srgbClr val="16312E"/>
                </a:solidFill>
                <a:latin typeface="Georgia"/>
              </a:rPr>
              <a:t>Planlayıcı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79" y="3438144"/>
            <a:ext cx="2331720" cy="77724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200" b="0">
                <a:solidFill>
                  <a:srgbClr val="4D655D"/>
                </a:solidFill>
                <a:latin typeface="Arial"/>
              </a:rPr>
              <a:t>LLM araç seçimi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86800" y="2962656"/>
            <a:ext cx="329184" cy="0"/>
          </a:xfrm>
          <a:prstGeom prst="line">
            <a:avLst/>
          </a:prstGeom>
          <a:ln w="19050">
            <a:solidFill>
              <a:srgbClr val="4D655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143999" y="2304288"/>
            <a:ext cx="2286000" cy="0"/>
          </a:xfrm>
          <a:prstGeom prst="line">
            <a:avLst/>
          </a:prstGeom>
          <a:ln w="12700">
            <a:solidFill>
              <a:srgbClr val="4D65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143999" y="2596896"/>
            <a:ext cx="2340864" cy="6400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700" b="0">
                <a:solidFill>
                  <a:srgbClr val="16312E"/>
                </a:solidFill>
                <a:latin typeface="Georgia"/>
              </a:rPr>
              <a:t>İmza + Fuji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3999" y="3438144"/>
            <a:ext cx="2331720" cy="77724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200" b="0">
                <a:solidFill>
                  <a:srgbClr val="4D655D"/>
                </a:solidFill>
                <a:latin typeface="Arial"/>
              </a:rPr>
              <a:t>Devre kesici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736592"/>
            <a:ext cx="4846320" cy="68580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600" b="0">
                <a:solidFill>
                  <a:srgbClr val="16312E"/>
                </a:solidFill>
                <a:latin typeface="Courier New"/>
              </a:rPr>
              <a:t>20 parite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5513832"/>
            <a:ext cx="4846320" cy="45720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200" b="0">
                <a:solidFill>
                  <a:srgbClr val="4D655D"/>
                </a:solidFill>
                <a:latin typeface="Arial"/>
              </a:rPr>
              <a:t>epizodik hafıza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4736592"/>
            <a:ext cx="4846320" cy="68580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600" b="0">
                <a:solidFill>
                  <a:srgbClr val="16312E"/>
                </a:solidFill>
                <a:latin typeface="Courier New"/>
              </a:rPr>
              <a:t>60 sn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83096" y="5513832"/>
            <a:ext cx="4846320" cy="45720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200" b="0">
                <a:solidFill>
                  <a:srgbClr val="4D655D"/>
                </a:solidFill>
                <a:latin typeface="Arial"/>
              </a:rPr>
              <a:t>kayıt aralığı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612648"/>
            <a:ext cx="10789920" cy="102412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0">
                <a:solidFill>
                  <a:srgbClr val="EEF1E8"/>
                </a:solidFill>
                <a:latin typeface="Georgia"/>
              </a:rPr>
              <a:t>LLM planlar. Sayılar deterministik.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13232" y="6345936"/>
            <a:ext cx="10762488" cy="0"/>
          </a:xfrm>
          <a:prstGeom prst="line">
            <a:avLst/>
          </a:prstGeom>
          <a:ln w="8890">
            <a:solidFill>
              <a:srgbClr val="3552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6473952"/>
            <a:ext cx="9966960" cy="22860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>
                <a:solidFill>
                  <a:srgbClr val="ADC0BA"/>
                </a:solidFill>
                <a:latin typeface="Arial"/>
              </a:rPr>
              <a:t>Arf   /   OKX Agent Trade Kit × Avalanche   /   17 Ekim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9376" y="6446520"/>
            <a:ext cx="438912" cy="27432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ADC0BA"/>
                </a:solidFill>
                <a:latin typeface="Courier New"/>
              </a:rPr>
              <a:t>05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86384" y="2103120"/>
            <a:ext cx="3017520" cy="0"/>
          </a:xfrm>
          <a:prstGeom prst="line">
            <a:avLst/>
          </a:prstGeom>
          <a:ln w="12700">
            <a:solidFill>
              <a:srgbClr val="3552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86384" y="2487168"/>
            <a:ext cx="3063240" cy="68580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600" b="0">
                <a:solidFill>
                  <a:srgbClr val="B5D0BD"/>
                </a:solidFill>
                <a:latin typeface="Georgia"/>
              </a:rPr>
              <a:t>LLM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3383280"/>
            <a:ext cx="3017520" cy="118872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500" b="0">
                <a:solidFill>
                  <a:srgbClr val="EEF1E8"/>
                </a:solidFill>
                <a:latin typeface="Arial"/>
              </a:rPr>
              <a:t>Aracı seçer.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500" b="0">
                <a:solidFill>
                  <a:srgbClr val="EEF1E8"/>
                </a:solidFill>
                <a:latin typeface="Arial"/>
              </a:rPr>
              <a:t>Kanıtı yorumlar.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617720" y="2103120"/>
            <a:ext cx="3017520" cy="0"/>
          </a:xfrm>
          <a:prstGeom prst="line">
            <a:avLst/>
          </a:prstGeom>
          <a:ln w="12700">
            <a:solidFill>
              <a:srgbClr val="3552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617720" y="2487168"/>
            <a:ext cx="3063240" cy="68580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600" b="0">
                <a:solidFill>
                  <a:srgbClr val="B5D0BD"/>
                </a:solidFill>
                <a:latin typeface="Georgia"/>
              </a:rPr>
              <a:t>Metrikler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3383280"/>
            <a:ext cx="3017520" cy="118872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500" b="0">
                <a:solidFill>
                  <a:srgbClr val="EEF1E8"/>
                </a:solidFill>
                <a:latin typeface="Arial"/>
              </a:rPr>
              <a:t>Skoru hesaplar.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500" b="0">
                <a:solidFill>
                  <a:srgbClr val="EEF1E8"/>
                </a:solidFill>
                <a:latin typeface="Arial"/>
              </a:rPr>
              <a:t>Güvenli tutarı bulur.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339327" y="2103120"/>
            <a:ext cx="3017520" cy="0"/>
          </a:xfrm>
          <a:prstGeom prst="line">
            <a:avLst/>
          </a:prstGeom>
          <a:ln w="12700">
            <a:solidFill>
              <a:srgbClr val="3552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339327" y="2487168"/>
            <a:ext cx="3063240" cy="68580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600" b="0">
                <a:solidFill>
                  <a:srgbClr val="B5D0BD"/>
                </a:solidFill>
                <a:latin typeface="Georgia"/>
              </a:rPr>
              <a:t>Kontrat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9327" y="3383280"/>
            <a:ext cx="3017520" cy="118872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500" b="0">
                <a:solidFill>
                  <a:srgbClr val="EEF1E8"/>
                </a:solidFill>
                <a:latin typeface="Arial"/>
              </a:rPr>
              <a:t>İmzayı doğrular.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500" b="0">
                <a:solidFill>
                  <a:srgbClr val="EEF1E8"/>
                </a:solidFill>
                <a:latin typeface="Arial"/>
              </a:rPr>
              <a:t>Sınırı uygular.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138928"/>
            <a:ext cx="10698480" cy="45720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300" b="0">
                <a:solidFill>
                  <a:srgbClr val="B5D0BD"/>
                </a:solidFill>
                <a:latin typeface="Arial"/>
              </a:rPr>
              <a:t>Anthropic   /   Gemini   /   deterministik yedek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824728"/>
            <a:ext cx="10515600" cy="32004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>
                <a:solidFill>
                  <a:srgbClr val="ADC0BA"/>
                </a:solidFill>
                <a:latin typeface="Arial"/>
              </a:rPr>
              <a:t>Sınır: LLM karar etiketi zincirde imzalanmıyor.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B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612648"/>
            <a:ext cx="10789920" cy="102412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0">
                <a:solidFill>
                  <a:srgbClr val="16312E"/>
                </a:solidFill>
                <a:latin typeface="Georgia"/>
              </a:rPr>
              <a:t>Üç sahnede çalışan sistem.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13232" y="6345936"/>
            <a:ext cx="10762488" cy="0"/>
          </a:xfrm>
          <a:prstGeom prst="line">
            <a:avLst/>
          </a:prstGeom>
          <a:ln w="8890">
            <a:solidFill>
              <a:srgbClr val="4D65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6473952"/>
            <a:ext cx="9966960" cy="22860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>
                <a:solidFill>
                  <a:srgbClr val="4D655D"/>
                </a:solidFill>
                <a:latin typeface="Arial"/>
              </a:rPr>
              <a:t>Arf   /   OKX Agent Trade Kit × Avalanche   /   17 Ekim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9376" y="6446520"/>
            <a:ext cx="438912" cy="27432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4D655D"/>
                </a:solidFill>
                <a:latin typeface="Courier New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874519"/>
            <a:ext cx="3017520" cy="36576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00" b="0">
                <a:solidFill>
                  <a:srgbClr val="4D655D"/>
                </a:solidFill>
                <a:latin typeface="Courier New"/>
              </a:rPr>
              <a:t>01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95528" y="2414016"/>
            <a:ext cx="2971800" cy="0"/>
          </a:xfrm>
          <a:prstGeom prst="line">
            <a:avLst/>
          </a:prstGeom>
          <a:ln w="12700">
            <a:solidFill>
              <a:srgbClr val="B7C5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95528" y="2697480"/>
            <a:ext cx="3108960" cy="68580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900" b="0">
                <a:solidFill>
                  <a:srgbClr val="16312E"/>
                </a:solidFill>
                <a:latin typeface="Arial"/>
              </a:rPr>
              <a:t>1.000 USDT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3675887"/>
            <a:ext cx="3108960" cy="603504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700" b="1">
                <a:solidFill>
                  <a:srgbClr val="2BB673"/>
                </a:solidFill>
                <a:latin typeface="Arial"/>
              </a:rPr>
              <a:t>ONAY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4553712"/>
            <a:ext cx="3108960" cy="96012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200" b="0">
                <a:solidFill>
                  <a:srgbClr val="16312E"/>
                </a:solidFill>
                <a:latin typeface="Arial"/>
              </a:rPr>
              <a:t>Tahta uygunsa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200" b="0">
                <a:solidFill>
                  <a:srgbClr val="16312E"/>
                </a:solidFill>
                <a:latin typeface="Arial"/>
              </a:rPr>
              <a:t>imzalı kontrol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864" y="1874519"/>
            <a:ext cx="3017520" cy="36576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00" b="0">
                <a:solidFill>
                  <a:srgbClr val="4D655D"/>
                </a:solidFill>
                <a:latin typeface="Courier New"/>
              </a:rPr>
              <a:t>02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626864" y="2414016"/>
            <a:ext cx="2971799" cy="0"/>
          </a:xfrm>
          <a:prstGeom prst="line">
            <a:avLst/>
          </a:prstGeom>
          <a:ln w="12700">
            <a:solidFill>
              <a:srgbClr val="B7C5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626864" y="2697480"/>
            <a:ext cx="3108960" cy="68580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900" b="0">
                <a:solidFill>
                  <a:srgbClr val="16312E"/>
                </a:solidFill>
                <a:latin typeface="Arial"/>
              </a:rPr>
              <a:t>10.000 USDT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6864" y="3675887"/>
            <a:ext cx="3108960" cy="603504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700" b="1">
                <a:solidFill>
                  <a:srgbClr val="B17C17"/>
                </a:solidFill>
                <a:latin typeface="Arial"/>
              </a:rPr>
              <a:t>BÖL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6864" y="4553712"/>
            <a:ext cx="3108960" cy="96012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200" b="0">
                <a:solidFill>
                  <a:srgbClr val="16312E"/>
                </a:solidFill>
                <a:latin typeface="Arial"/>
              </a:rPr>
              <a:t>ExceedsSafeSize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200" b="0">
                <a:solidFill>
                  <a:srgbClr val="16312E"/>
                </a:solidFill>
                <a:latin typeface="Arial"/>
              </a:rPr>
              <a:t>N parçaya böl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1874519"/>
            <a:ext cx="3017520" cy="36576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00" b="0">
                <a:solidFill>
                  <a:srgbClr val="4D655D"/>
                </a:solidFill>
                <a:latin typeface="Courier New"/>
              </a:rPr>
              <a:t>03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93608" y="2414016"/>
            <a:ext cx="2971800" cy="0"/>
          </a:xfrm>
          <a:prstGeom prst="line">
            <a:avLst/>
          </a:prstGeom>
          <a:ln w="12700">
            <a:solidFill>
              <a:srgbClr val="B7C5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293608" y="2697480"/>
            <a:ext cx="3108960" cy="68580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900" b="0">
                <a:solidFill>
                  <a:srgbClr val="16312E"/>
                </a:solidFill>
                <a:latin typeface="Arial"/>
              </a:rPr>
              <a:t>Veri yok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3675887"/>
            <a:ext cx="3108960" cy="603504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700" b="1">
                <a:solidFill>
                  <a:srgbClr val="BF4746"/>
                </a:solidFill>
                <a:latin typeface="Arial"/>
              </a:rPr>
              <a:t>İMZA YOK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4553712"/>
            <a:ext cx="3108960" cy="96012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200" b="0">
                <a:solidFill>
                  <a:srgbClr val="16312E"/>
                </a:solidFill>
                <a:latin typeface="Arial"/>
              </a:rPr>
              <a:t>SİMÜLASYON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200" b="0">
                <a:solidFill>
                  <a:srgbClr val="16312E"/>
                </a:solidFill>
                <a:latin typeface="Arial"/>
              </a:rPr>
              <a:t>BadSigner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879592"/>
            <a:ext cx="10607040" cy="347472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000" b="0">
                <a:solidFill>
                  <a:srgbClr val="4D655D"/>
                </a:solidFill>
                <a:latin typeface="Arial"/>
                <a:hlinkClick r:id="rId3"/>
              </a:rPr>
              <a:t>Yerelde canlı demo. İnternette kayıtlı simülasyon.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612648"/>
            <a:ext cx="10789920" cy="102412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0">
                <a:solidFill>
                  <a:srgbClr val="EEF1E8"/>
                </a:solidFill>
                <a:latin typeface="Georgia"/>
              </a:rPr>
              <a:t>Veri bozulursa imza yok.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13232" y="6345936"/>
            <a:ext cx="10762488" cy="0"/>
          </a:xfrm>
          <a:prstGeom prst="line">
            <a:avLst/>
          </a:prstGeom>
          <a:ln w="8890">
            <a:solidFill>
              <a:srgbClr val="3552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6473952"/>
            <a:ext cx="9966960" cy="22860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>
                <a:solidFill>
                  <a:srgbClr val="ADC0BA"/>
                </a:solidFill>
                <a:latin typeface="Arial"/>
              </a:rPr>
              <a:t>Arf   /   OKX Agent Trade Kit × Avalanche   /   17 Ekim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9376" y="6446520"/>
            <a:ext cx="438912" cy="27432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ADC0BA"/>
                </a:solidFill>
                <a:latin typeface="Courier New"/>
              </a:rPr>
              <a:t>07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95528" y="2404872"/>
            <a:ext cx="10570464" cy="0"/>
          </a:xfrm>
          <a:prstGeom prst="line">
            <a:avLst/>
          </a:prstGeom>
          <a:ln w="8890">
            <a:solidFill>
              <a:srgbClr val="3552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1847088"/>
            <a:ext cx="4023360" cy="484632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400" b="0">
                <a:solidFill>
                  <a:srgbClr val="ADC0BA"/>
                </a:solidFill>
                <a:latin typeface="Arial"/>
              </a:rPr>
              <a:t>Veri kesintisi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56048" y="1847088"/>
            <a:ext cx="6400800" cy="512064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300" b="0">
                <a:solidFill>
                  <a:srgbClr val="EEF1E8"/>
                </a:solidFill>
                <a:latin typeface="Arial"/>
              </a:rPr>
              <a:t>İmza üretilmez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95528" y="3127248"/>
            <a:ext cx="10570464" cy="0"/>
          </a:xfrm>
          <a:prstGeom prst="line">
            <a:avLst/>
          </a:prstGeom>
          <a:ln w="8890">
            <a:solidFill>
              <a:srgbClr val="3552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2960" y="2569464"/>
            <a:ext cx="4023360" cy="484632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400" b="0">
                <a:solidFill>
                  <a:srgbClr val="ADC0BA"/>
                </a:solidFill>
                <a:latin typeface="Arial"/>
              </a:rPr>
              <a:t>Yetkisiz imza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2569464"/>
            <a:ext cx="6400800" cy="512064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300" b="0">
                <a:solidFill>
                  <a:srgbClr val="EEF1E8"/>
                </a:solidFill>
                <a:latin typeface="Courier New"/>
              </a:rPr>
              <a:t>BadSigner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95528" y="3849624"/>
            <a:ext cx="10570464" cy="0"/>
          </a:xfrm>
          <a:prstGeom prst="line">
            <a:avLst/>
          </a:prstGeom>
          <a:ln w="8890">
            <a:solidFill>
              <a:srgbClr val="3552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22960" y="3291840"/>
            <a:ext cx="4023360" cy="484632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400" b="0">
                <a:solidFill>
                  <a:srgbClr val="ADC0BA"/>
                </a:solidFill>
                <a:latin typeface="Arial"/>
              </a:rPr>
              <a:t>Eski onay / tekrar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6048" y="3291840"/>
            <a:ext cx="6400800" cy="512064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300" b="0">
                <a:solidFill>
                  <a:srgbClr val="EEF1E8"/>
                </a:solidFill>
                <a:latin typeface="Courier New"/>
              </a:rPr>
              <a:t>StaleScore / AlreadyUsed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95528" y="4572000"/>
            <a:ext cx="10570464" cy="0"/>
          </a:xfrm>
          <a:prstGeom prst="line">
            <a:avLst/>
          </a:prstGeom>
          <a:ln w="8890">
            <a:solidFill>
              <a:srgbClr val="3552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22960" y="4014216"/>
            <a:ext cx="4023360" cy="484632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400" b="0">
                <a:solidFill>
                  <a:srgbClr val="ADC0BA"/>
                </a:solidFill>
                <a:latin typeface="Arial"/>
              </a:rPr>
              <a:t>Oracle anahtarı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56048" y="4014216"/>
            <a:ext cx="6400800" cy="512064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300" b="0">
                <a:solidFill>
                  <a:srgbClr val="EEF1E8"/>
                </a:solidFill>
                <a:latin typeface="Courier New"/>
              </a:rPr>
              <a:t>pause + setOracle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95528" y="5294376"/>
            <a:ext cx="10570464" cy="0"/>
          </a:xfrm>
          <a:prstGeom prst="line">
            <a:avLst/>
          </a:prstGeom>
          <a:ln w="8890">
            <a:solidFill>
              <a:srgbClr val="3552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22960" y="4736592"/>
            <a:ext cx="4023360" cy="484632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400" b="0">
                <a:solidFill>
                  <a:srgbClr val="ADC0BA"/>
                </a:solidFill>
                <a:latin typeface="Arial"/>
              </a:rPr>
              <a:t>LLM / yanlış alarm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56048" y="4736592"/>
            <a:ext cx="6400800" cy="512064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300" b="0">
                <a:solidFill>
                  <a:srgbClr val="EEF1E8"/>
                </a:solidFill>
                <a:latin typeface="Arial"/>
              </a:rPr>
              <a:t>Deterministik skor + parametrik eşik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879592"/>
            <a:ext cx="10607040" cy="32004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900" b="0">
                <a:solidFill>
                  <a:srgbClr val="B5D0BD"/>
                </a:solidFill>
                <a:latin typeface="Arial"/>
              </a:rPr>
              <a:t>Tazelik kontrolü replay kontrolünden önce gelir.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B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612648"/>
            <a:ext cx="10789920" cy="102412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0">
                <a:solidFill>
                  <a:srgbClr val="16312E"/>
                </a:solidFill>
                <a:latin typeface="Georgia"/>
              </a:rPr>
              <a:t>Zincirde doğrulandı.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13232" y="6345936"/>
            <a:ext cx="10762488" cy="0"/>
          </a:xfrm>
          <a:prstGeom prst="line">
            <a:avLst/>
          </a:prstGeom>
          <a:ln w="8890">
            <a:solidFill>
              <a:srgbClr val="4D65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6473952"/>
            <a:ext cx="9966960" cy="22860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>
                <a:solidFill>
                  <a:srgbClr val="4D655D"/>
                </a:solidFill>
                <a:latin typeface="Arial"/>
              </a:rPr>
              <a:t>Arf   /   OKX Agent Trade Kit × Avalanche   /   17 Ekim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9376" y="6446520"/>
            <a:ext cx="438912" cy="27432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4D655D"/>
                </a:solidFill>
                <a:latin typeface="Courier New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700784"/>
            <a:ext cx="7040880" cy="50292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300" b="0">
                <a:solidFill>
                  <a:srgbClr val="4D655D"/>
                </a:solidFill>
                <a:latin typeface="Arial"/>
              </a:rPr>
              <a:t>7 gerçek tx / ana kanıt listesi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359152"/>
            <a:ext cx="3776472" cy="356616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000" b="0">
                <a:solidFill>
                  <a:srgbClr val="16312E"/>
                </a:solidFill>
                <a:latin typeface="Arial"/>
              </a:rPr>
              <a:t>IntentApproved / ilk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45152" y="2359152"/>
            <a:ext cx="2907792" cy="356616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000" b="0">
                <a:solidFill>
                  <a:srgbClr val="4D655D"/>
                </a:solidFill>
                <a:latin typeface="Courier New"/>
                <a:hlinkClick r:id="rId3"/>
              </a:rPr>
              <a:t>0x7bef94f2…ba5173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04672" y="2752344"/>
            <a:ext cx="6693407" cy="0"/>
          </a:xfrm>
          <a:prstGeom prst="line">
            <a:avLst/>
          </a:prstGeom>
          <a:ln w="6350">
            <a:solidFill>
              <a:srgbClr val="B7C5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04672" y="2798064"/>
            <a:ext cx="3776472" cy="356616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000" b="0">
                <a:solidFill>
                  <a:srgbClr val="16312E"/>
                </a:solidFill>
                <a:latin typeface="Arial"/>
              </a:rPr>
              <a:t>IntentApproved /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2" y="2798064"/>
            <a:ext cx="2907792" cy="356616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000" b="0">
                <a:solidFill>
                  <a:srgbClr val="4D655D"/>
                </a:solidFill>
                <a:latin typeface="Courier New"/>
                <a:hlinkClick r:id="rId4"/>
              </a:rPr>
              <a:t>0xa5798d59…aacbbe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04672" y="3191256"/>
            <a:ext cx="6693407" cy="0"/>
          </a:xfrm>
          <a:prstGeom prst="line">
            <a:avLst/>
          </a:prstGeom>
          <a:ln w="6350">
            <a:solidFill>
              <a:srgbClr val="B7C5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04672" y="3236976"/>
            <a:ext cx="3776472" cy="356616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000" b="0">
                <a:solidFill>
                  <a:srgbClr val="16312E"/>
                </a:solidFill>
                <a:latin typeface="Arial"/>
              </a:rPr>
              <a:t>ExceedsSafeSize / ilk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3236976"/>
            <a:ext cx="2907792" cy="356616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000" b="0">
                <a:solidFill>
                  <a:srgbClr val="4D655D"/>
                </a:solidFill>
                <a:latin typeface="Courier New"/>
                <a:hlinkClick r:id="rId5"/>
              </a:rPr>
              <a:t>0x175eaee2…4bf0e5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04672" y="3630168"/>
            <a:ext cx="6693407" cy="0"/>
          </a:xfrm>
          <a:prstGeom prst="line">
            <a:avLst/>
          </a:prstGeom>
          <a:ln w="6350">
            <a:solidFill>
              <a:srgbClr val="B7C5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04672" y="3675887"/>
            <a:ext cx="3776472" cy="356616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000" b="0">
                <a:solidFill>
                  <a:srgbClr val="16312E"/>
                </a:solidFill>
                <a:latin typeface="Arial"/>
              </a:rPr>
              <a:t>ExceedsSafeSize /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3675887"/>
            <a:ext cx="2907792" cy="356616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000" b="0">
                <a:solidFill>
                  <a:srgbClr val="4D655D"/>
                </a:solidFill>
                <a:latin typeface="Courier New"/>
                <a:hlinkClick r:id="rId6"/>
              </a:rPr>
              <a:t>0x80aeb849…2667a6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04672" y="4069079"/>
            <a:ext cx="6693407" cy="0"/>
          </a:xfrm>
          <a:prstGeom prst="line">
            <a:avLst/>
          </a:prstGeom>
          <a:ln w="6350">
            <a:solidFill>
              <a:srgbClr val="B7C5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04672" y="4114800"/>
            <a:ext cx="3776472" cy="356616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000" b="0">
                <a:solidFill>
                  <a:srgbClr val="16312E"/>
                </a:solidFill>
                <a:latin typeface="Arial"/>
              </a:rPr>
              <a:t>BadSigner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5152" y="4114800"/>
            <a:ext cx="2907792" cy="356616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000" b="0">
                <a:solidFill>
                  <a:srgbClr val="4D655D"/>
                </a:solidFill>
                <a:latin typeface="Courier New"/>
                <a:hlinkClick r:id="rId7"/>
              </a:rPr>
              <a:t>0x0b05e13f…ede98e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04672" y="4507992"/>
            <a:ext cx="6693407" cy="0"/>
          </a:xfrm>
          <a:prstGeom prst="line">
            <a:avLst/>
          </a:prstGeom>
          <a:ln w="6350">
            <a:solidFill>
              <a:srgbClr val="B7C5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04672" y="4553712"/>
            <a:ext cx="3776472" cy="356616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000" b="0">
                <a:solidFill>
                  <a:srgbClr val="16312E"/>
                </a:solidFill>
                <a:latin typeface="Arial"/>
              </a:rPr>
              <a:t>AlreadyUsed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45152" y="4553712"/>
            <a:ext cx="2907792" cy="356616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000" b="0">
                <a:solidFill>
                  <a:srgbClr val="4D655D"/>
                </a:solidFill>
                <a:latin typeface="Courier New"/>
                <a:hlinkClick r:id="rId8"/>
              </a:rPr>
              <a:t>0xa1ad9514…f99a80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04672" y="4946904"/>
            <a:ext cx="6693407" cy="0"/>
          </a:xfrm>
          <a:prstGeom prst="line">
            <a:avLst/>
          </a:prstGeom>
          <a:ln w="6350">
            <a:solidFill>
              <a:srgbClr val="B7C5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04672" y="4992624"/>
            <a:ext cx="3776472" cy="356616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000" b="0">
                <a:solidFill>
                  <a:srgbClr val="16312E"/>
                </a:solidFill>
                <a:latin typeface="Arial"/>
              </a:rPr>
              <a:t>StaleScore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45152" y="4992624"/>
            <a:ext cx="2907792" cy="356616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000" b="0">
                <a:solidFill>
                  <a:srgbClr val="4D655D"/>
                </a:solidFill>
                <a:latin typeface="Courier New"/>
                <a:hlinkClick r:id="rId9"/>
              </a:rPr>
              <a:t>0x0b290257…1233a3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04672" y="5385816"/>
            <a:ext cx="6693407" cy="0"/>
          </a:xfrm>
          <a:prstGeom prst="line">
            <a:avLst/>
          </a:prstGeom>
          <a:ln w="6350">
            <a:solidFill>
              <a:srgbClr val="B7C5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936992" y="1828800"/>
            <a:ext cx="0" cy="3931920"/>
          </a:xfrm>
          <a:prstGeom prst="line">
            <a:avLst/>
          </a:prstGeom>
          <a:ln w="12700">
            <a:solidFill>
              <a:srgbClr val="B7C5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412480" y="1965960"/>
            <a:ext cx="2788920" cy="77724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300" b="0">
                <a:solidFill>
                  <a:srgbClr val="16312E"/>
                </a:solidFill>
                <a:latin typeface="Courier New"/>
              </a:rPr>
              <a:t>87/87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2834640"/>
            <a:ext cx="2770632" cy="4114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200" b="0">
                <a:solidFill>
                  <a:srgbClr val="4D655D"/>
                </a:solidFill>
                <a:latin typeface="Arial"/>
              </a:rPr>
              <a:t>Python testi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3703320"/>
            <a:ext cx="2743200" cy="77724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300" b="0">
                <a:solidFill>
                  <a:srgbClr val="16312E"/>
                </a:solidFill>
                <a:latin typeface="Courier New"/>
              </a:rPr>
              <a:t>~2 sn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4572000"/>
            <a:ext cx="2761488" cy="59436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200" b="0">
                <a:solidFill>
                  <a:srgbClr val="4D655D"/>
                </a:solidFill>
                <a:latin typeface="Arial"/>
              </a:rPr>
              <a:t>zincir onayı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5532120"/>
            <a:ext cx="2743200" cy="36576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000" b="0">
                <a:solidFill>
                  <a:srgbClr val="4D655D"/>
                </a:solidFill>
                <a:latin typeface="Arial"/>
              </a:rPr>
              <a:t>LLM ~0,001 USD/koşu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5678424"/>
            <a:ext cx="6949440" cy="329184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00" b="0">
                <a:solidFill>
                  <a:srgbClr val="4D655D"/>
                </a:solidFill>
                <a:latin typeface="Arial"/>
              </a:rPr>
              <a:t>14/14 Solidity testi (STATUS kaydı)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6071616"/>
            <a:ext cx="10607040" cy="210312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4D655D"/>
                </a:solidFill>
                <a:latin typeface="Courier New"/>
                <a:hlinkClick r:id="rId10"/>
              </a:rPr>
              <a:t>Fuji kontratı: 0xddE4C78F831f082E8AFDF716266bd1338B591159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612648"/>
            <a:ext cx="10789920" cy="102412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0">
                <a:solidFill>
                  <a:srgbClr val="EEF1E8"/>
                </a:solidFill>
                <a:latin typeface="Georgia"/>
              </a:rPr>
              <a:t>Bugün çalışan. Sonra geliştirilecek.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13232" y="6345936"/>
            <a:ext cx="10762488" cy="0"/>
          </a:xfrm>
          <a:prstGeom prst="line">
            <a:avLst/>
          </a:prstGeom>
          <a:ln w="8890">
            <a:solidFill>
              <a:srgbClr val="3552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6473952"/>
            <a:ext cx="9966960" cy="22860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>
                <a:solidFill>
                  <a:srgbClr val="ADC0BA"/>
                </a:solidFill>
                <a:latin typeface="Arial"/>
              </a:rPr>
              <a:t>Arf   /   OKX Agent Trade Kit × Avalanche   /   17 Ekim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9376" y="6446520"/>
            <a:ext cx="438912" cy="27432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ADC0BA"/>
                </a:solidFill>
                <a:latin typeface="Courier New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828800"/>
            <a:ext cx="5029200" cy="50292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000" b="0">
                <a:solidFill>
                  <a:srgbClr val="B5D0BD"/>
                </a:solidFill>
                <a:latin typeface="Georgia"/>
              </a:rPr>
              <a:t>Bugün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724912"/>
            <a:ext cx="5074920" cy="164592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600" b="0">
                <a:solidFill>
                  <a:srgbClr val="EEF1E8"/>
                </a:solidFill>
                <a:latin typeface="Arial"/>
              </a:rPr>
              <a:t>Yerelde canlı demo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600" b="0">
                <a:solidFill>
                  <a:srgbClr val="EEF1E8"/>
                </a:solidFill>
                <a:latin typeface="Arial"/>
              </a:rPr>
              <a:t>Fuji’de devre kesici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600" b="0">
                <a:solidFill>
                  <a:srgbClr val="EEF1E8"/>
                </a:solidFill>
                <a:latin typeface="Arial"/>
              </a:rPr>
              <a:t>İnternette simülasyon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89320" y="1874519"/>
            <a:ext cx="0" cy="2697481"/>
          </a:xfrm>
          <a:prstGeom prst="line">
            <a:avLst/>
          </a:prstGeom>
          <a:ln w="12700">
            <a:solidFill>
              <a:srgbClr val="3552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10528" y="1828800"/>
            <a:ext cx="4846320" cy="50292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000" b="0">
                <a:solidFill>
                  <a:srgbClr val="B5D0BD"/>
                </a:solidFill>
                <a:latin typeface="Georgia"/>
              </a:rPr>
              <a:t>Sonraki adım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0528" y="2724912"/>
            <a:ext cx="4846320" cy="164592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600" b="0">
                <a:solidFill>
                  <a:srgbClr val="EEF1E8"/>
                </a:solidFill>
                <a:latin typeface="Arial"/>
              </a:rPr>
              <a:t>Çoklu oracle + EIP-712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600" b="0">
                <a:solidFill>
                  <a:srgbClr val="EEF1E8"/>
                </a:solidFill>
                <a:latin typeface="Arial"/>
              </a:rPr>
              <a:t>İcra planı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600" b="0">
                <a:solidFill>
                  <a:srgbClr val="EEF1E8"/>
                </a:solidFill>
                <a:latin typeface="Arial"/>
              </a:rPr>
              <a:t>OKX.ai servis yayını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8816" y="4617720"/>
            <a:ext cx="4754880" cy="32004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00" b="0">
                <a:solidFill>
                  <a:srgbClr val="ADC0BA"/>
                </a:solidFill>
                <a:latin typeface="Arial"/>
              </a:rPr>
              <a:t>Henüz kodlanmadı.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95528" y="5257800"/>
            <a:ext cx="10570464" cy="0"/>
          </a:xfrm>
          <a:prstGeom prst="line">
            <a:avLst/>
          </a:prstGeom>
          <a:ln w="12700">
            <a:solidFill>
              <a:srgbClr val="3552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22960" y="5513832"/>
            <a:ext cx="10607040" cy="54864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200" b="0">
                <a:solidFill>
                  <a:srgbClr val="ADC0BA"/>
                </a:solidFill>
                <a:latin typeface="Arial"/>
              </a:rPr>
              <a:t>İş modeli tasarımı: temel ücretsiz, gerçek zamanlı API ücretli.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BD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13232" y="6345936"/>
            <a:ext cx="10762488" cy="0"/>
          </a:xfrm>
          <a:prstGeom prst="line">
            <a:avLst/>
          </a:prstGeom>
          <a:ln w="8890">
            <a:solidFill>
              <a:srgbClr val="4D65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73952"/>
            <a:ext cx="9966960" cy="22860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>
                <a:solidFill>
                  <a:srgbClr val="4D655D"/>
                </a:solidFill>
                <a:latin typeface="Arial"/>
              </a:rPr>
              <a:t>Arf   /   OKX Agent Trade Kit × Avalanche   /   17 Ekim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9376" y="6446520"/>
            <a:ext cx="438912" cy="27432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4D655D"/>
                </a:solidFill>
                <a:latin typeface="Courier New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607040" cy="123444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7400" b="0">
                <a:solidFill>
                  <a:srgbClr val="16312E"/>
                </a:solidFill>
                <a:latin typeface="Georgia"/>
              </a:rPr>
              <a:t>Teşekkürler.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" y="2679192"/>
            <a:ext cx="10515600" cy="77724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0">
                <a:solidFill>
                  <a:srgbClr val="16312E"/>
                </a:solidFill>
                <a:latin typeface="Georgia"/>
              </a:rPr>
              <a:t>Arf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10424160" cy="61264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800" b="0">
                <a:solidFill>
                  <a:srgbClr val="4D655D"/>
                </a:solidFill>
                <a:latin typeface="Arial"/>
              </a:rPr>
              <a:t>İşlem öncesi icra ve likidite kalkanı.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60" y="4434840"/>
            <a:ext cx="10515600" cy="0"/>
          </a:xfrm>
          <a:prstGeom prst="line">
            <a:avLst/>
          </a:prstGeom>
          <a:ln w="12700">
            <a:solidFill>
              <a:srgbClr val="B7C5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41248" y="4782312"/>
            <a:ext cx="9875520" cy="54864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900" b="0">
                <a:solidFill>
                  <a:srgbClr val="16312E"/>
                </a:solidFill>
                <a:latin typeface="Arial"/>
                <a:hlinkClick r:id="rId3"/>
              </a:rPr>
              <a:t>github.com/akifaybek/arf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5550408"/>
            <a:ext cx="10058400" cy="438912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100" b="0">
                <a:solidFill>
                  <a:srgbClr val="4D655D"/>
                </a:solidFill>
                <a:latin typeface="Arial"/>
                <a:hlinkClick r:id="rId4"/>
              </a:rPr>
              <a:t>Web demosu: kayıtlı verilerle etkileşimli simülasyon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Arf — İşlem öncesi icra ve likidite kalkanı</dc:title>
  <dc:subject>OKX Agent Trade Kit × Avalanche Fuji</dc:subject>
  <dc:creator>Arf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