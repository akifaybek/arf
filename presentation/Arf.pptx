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Arf, AI trading agent'lar için işlem öncesi icra ve likidite kalkanı; ATK verisini Avalanche üzerindeki bir devre kesiciye bağlıyorum. Adı Cahit Arf ve Arf değişmezine gönderme yapıyor, çünkü sistem tek bir değişmezi koruyor: emir tutarı imzalı güvenli tutarı aşamaz. Bu sunumda problemi, kurduğum akışı ve kötü senaryoda ne olduğunu göstereceğim; canlı uygulama yerelde, internetteki paylaşılabilir sürüm ise açıkça etiketlenmiş kayıtlı bir simülasyon.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ATK ile binlerce trading agent yazılacak; tahtanın emri kaldırıp kaldıramayacağını bilmeyen agent kendini batırır. Hackathon ölçüm notundaki BIGTIME örneğinde bin USDT için kayma on virgül sekiz baz puanken on bin USDT için bin iki yüz seksen dört baz puan; tutar on kat, kayma oranı yüz kattan fazla büyüyor. Bunlar 17 Ekim tarihli tek bir tahta örneği, canlı fiyat veya genel performans garantisi değil; bu nedenle kontrolün her emirden önce tekrarlanması gerekiyor.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Arf’ın sorduğu soru basit: bu emir bu tahtada kaça patlar ve en fazla ne kadarlık emir güvenli? check_execution sembolü, yönü ve tutarı alır; deterministik risk skorunu, güvenli tutarı ve gerekiyorsa bölme önerisini üretir, taze sonuç oracle tarafından imzalanır ve kontrat bu sınırı uygular. Buradaki güvenli tutar anlık tahta ölçümüdür, gelecekteki dolum garantisi değildir ve kontrat OKX üzerinde kendisi emir yürütmez.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Piyasa verisi ATK CLI’dan TR sitesi ve JSON çıktısıyla geliyor; logger yirmi paritenin epizodik hafızasını altmış saniye aralıkla tutuyor. Deterministik metrikler kaymayı ve derinliği hesaplıyor, geçmiş medyanla piyasa rejimini karşılaştırıyor, LLM de bu araçların kullanımını planlıyor. Sonuç EIP-191 ile imzalanıp Fuji’de denetleniyor; piyasa verisi için yüz yirmi saniyelik eşik ve kontrattaki üç yüz saniyelik imza penceresi ayrı kontroller.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taraf, hangi kanıta hangi araçla bakılacağını seçen LLM planlayıcı; scan_market, get_candles, get_orderbook, compute_metric ve argümansız sign_score araçlarını kullanıyor. Sayılar deterministik hesaplanıyor, karar birleştirmede yalnızca daha muhafazakâr öneri kazanıyor ve sağlayıcılar çalışmazsa deterministik yedek plan devreye giriyor. Dürüst sınır şu: kontrat LLM karar etiketini değil imzalı sayıları denetler, dolayısıyla entegratör uygulama kararını da uygulamalı; serbest kullanıcı metni LLM’e gönderilmez.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Şimdi yerel uygulamada önce bin USDT niyetini açıp karar izini, güvenli tutarı ve imzayı gösteriyorum; tahta uygunsa sonuç onay, canlı veri değiştiğinde sonuç da değişebilir. Sonra on bin USDT niyetinde güvenli tutar aşılırsa ExceedsSafeSize ve N parçaya bölme önerisini karşılaştırıyorum; N’yi önceden sabitlemiyorum, agent ve kontrat aynı yukarı yuvarlama hesabını kullanıyor. Üçüncü sahne açıkça veri kesintisi simülasyonu: oracle imza üretmiyor ve trader’ın kendi imzası BadSigner alıyor; varsayılan yerel kontrat cevabı eth_call ön izlemesi, gerçek işlem kanıtları ayrı ve internet sürümü yalnızca kayıtlı örnekleri gösteriyor.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Kötü senaryoda önce veri kesintisini gösteriyorum: imza yok, yetkisiz imza BadSigner alıyor; replay’de ise kontrat önce tazeliğe baktığı için eski kullanılmış onay StaleScore, geçerlilik penceresindeki kullanılmış onay AlreadyUsed alıyor ve iki yol da gerçek tx ile kaydedildi. Oracle anahtarı çalınırsa owner pause ve setOracle ile müdahale edebiliyor, ama tek oracle güveni devam ediyor. LLM için yapısal veri ve deterministik sayılar, yanlış alarm için parametrik eşik ve nominal Bonferroni düzeltmesi var; gerçek yanlış alarm oranını ölçtüğümü söylemiyorum ve acil çıkış yolu yalnızca kavram.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kanıt listesinde yedi gerçek işlem var: IntentApproved kayıtları ve demo kapsamındaki ExceedsSafeSize, BadSigner, AlreadyUsed ve StaleScore kontrolleri; taze replay için bir USDT hazırlık işlemi ayrıca kullanıldı. Tablodaki işlem kimlikleri tıklanabilir, Python testlerinin güncel sayısı seksen yedi ve Solidity için on dört test kaydı var; burada Python koşuları ortam dosyası okunmadan, açık kontrat adresiyle doğrulandı, Solidity sayısı STATUS kaydından geliyor. Yaklaşık iki saniye zincir onayı ve koşu başına yaklaşık 0,001 USD LLM maliyeti proje kayıtlarına dayanıyor, bütün uygulamanın iki saniyede tamamlandığı anlamına gelmiyor; tek oracle ve testnet sınırları devam ediyor, risk ağırlıkları tasarım tercihi.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Bugün yerelde çalışan canlı ATK ve imzalı skor akışı, Fuji kontratı ve paylaşılabilir bir internet simülasyonu var; internet sürümü kayıtlı örnekler kullanıyor, yeni veri veya imza üretmiyor. Hedef müşteri ATK ile agent geliştiren ekipler ve bireyler, tasarlanan iş modeli temel kontrolü ücretsiz tutup gerçek zamanlı API erişimini ücretlendirmek ama fiyat ve ödeme isteği henüz doğrulanmadı. Çoklu oracle, eşik imza, EIP-712, Almgren–Chriss icra planı, OKX.ai listeleme ve çağrı başına ödeme sonraki adımlar; bunları bugün kodlanmış özellik gibi sunmuyorum.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Teşekkür ederim, Arf’ın amacı her emirden önce tahtanın taşıyabileceği tutarı görünür ve doğrulanabilir kılmak. GitHub bağlantısında kaynak kod ve gerçek işlem kanıtları, internet bağlantısında ise kayıtlı verilerle çalışan etkileşimli simülasyon var. Canlı sistemi yerelde göstermeye ve sorularınızı cevaplamaya hazırım.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f-icra-demo.copperspoon2.chatgpt.site"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explorer-test.avax.network/c-chain/tx/0x7bef94f297de147acf74dce1139eca659e982e2ae51a51f013b2d89071ba5173" TargetMode="External"/><Relationship Id="rId4" Type="http://schemas.openxmlformats.org/officeDocument/2006/relationships/hyperlink" Target="https://explorer-test.avax.network/c-chain/tx/0xa5798d597f00a46e36c93a48f4423d46a18faf082d2006562140e4bd5eaacbbe" TargetMode="External"/><Relationship Id="rId5" Type="http://schemas.openxmlformats.org/officeDocument/2006/relationships/hyperlink" Target="https://explorer-test.avax.network/c-chain/tx/0x175eaee2cdce982ad58988c3d73bb08944bf3d62fbcf91dcab1a973b8f4bf0e5" TargetMode="External"/><Relationship Id="rId6" Type="http://schemas.openxmlformats.org/officeDocument/2006/relationships/hyperlink" Target="https://explorer-test.avax.network/c-chain/tx/0x80aeb84999c64df29bec84dccedd6addb3b1c22adac4e69abd74fc29eb2667a6" TargetMode="External"/><Relationship Id="rId7" Type="http://schemas.openxmlformats.org/officeDocument/2006/relationships/hyperlink" Target="https://explorer-test.avax.network/c-chain/tx/0x0b05e13fa25cb379d62f715820266a32db08250b40b19e2474940b5311ede98e" TargetMode="External"/><Relationship Id="rId8" Type="http://schemas.openxmlformats.org/officeDocument/2006/relationships/hyperlink" Target="https://explorer-test.avax.network/c-chain/tx/0xa1ad95144f813310c2b6c96457b35be32f71c3290f53d632f2b46baffbf99a80" TargetMode="External"/><Relationship Id="rId9" Type="http://schemas.openxmlformats.org/officeDocument/2006/relationships/hyperlink" Target="https://explorer-test.avax.network/c-chain/tx/0x0b29025776a1f03d8304fd01144ebe88741fe1d760ec405e5b8ebac9b91233a3" TargetMode="External"/><Relationship Id="rId10" Type="http://schemas.openxmlformats.org/officeDocument/2006/relationships/hyperlink" Target="https://explorer-test.avax.network/c-chain/address/0xddE4C78F831f082E8AFDF716266bd1338B59115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github.com/akifaybek/arf" TargetMode="External"/><Relationship Id="rId4" Type="http://schemas.openxmlformats.org/officeDocument/2006/relationships/hyperlink" Target="https://arf-icra-demo.copperspoon2.chatgpt.site"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F23"/>
        </a:solidFill>
        <a:effectLst/>
      </p:bgPr>
    </p:bg>
    <p:spTree>
      <p:nvGrpSpPr>
        <p:cNvPr id="1" name=""/>
        <p:cNvGrpSpPr/>
        <p:nvPr/>
      </p:nvGrpSpPr>
      <p:grpSpPr/>
      <p:cxnSp>
        <p:nvCxnSpPr>
          <p:cNvPr id="2" name="Connector 1"/>
          <p:cNvCxnSpPr/>
          <p:nvPr/>
        </p:nvCxnSpPr>
        <p:spPr>
          <a:xfrm>
            <a:off x="713232" y="6345936"/>
            <a:ext cx="10762488" cy="0"/>
          </a:xfrm>
          <a:prstGeom prst="line">
            <a:avLst/>
          </a:prstGeom>
          <a:ln w="8890">
            <a:solidFill>
              <a:srgbClr val="35524F"/>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31520" y="6473952"/>
            <a:ext cx="9966960" cy="228600"/>
          </a:xfrm>
          <a:prstGeom prst="rect">
            <a:avLst/>
          </a:prstGeom>
          <a:noFill/>
        </p:spPr>
        <p:txBody>
          <a:bodyPr wrap="square" lIns="0" rIns="0" tIns="18288" bIns="18288">
            <a:spAutoFit/>
          </a:bodyPr>
          <a:lstStyle/>
          <a:p>
            <a:pPr algn="l">
              <a:lnSpc>
                <a:spcPct val="105000"/>
              </a:lnSpc>
              <a:spcAft>
                <a:spcPts val="400"/>
              </a:spcAft>
            </a:pPr>
            <a:r>
              <a:rPr sz="1100" b="0">
                <a:solidFill>
                  <a:srgbClr val="ADC0BA"/>
                </a:solidFill>
                <a:latin typeface="Arial"/>
              </a:rPr>
              <a:t>Arf   /   OKX Agent Trade Kit × Avalanche   /   17 Ekim 2026</a:t>
            </a:r>
          </a:p>
        </p:txBody>
      </p:sp>
      <p:sp>
        <p:nvSpPr>
          <p:cNvPr id="4" name="TextBox 3"/>
          <p:cNvSpPr txBox="1"/>
          <p:nvPr/>
        </p:nvSpPr>
        <p:spPr>
          <a:xfrm>
            <a:off x="11009376" y="6446520"/>
            <a:ext cx="438912" cy="274320"/>
          </a:xfrm>
          <a:prstGeom prst="rect">
            <a:avLst/>
          </a:prstGeom>
          <a:noFill/>
        </p:spPr>
        <p:txBody>
          <a:bodyPr wrap="square" lIns="0" rIns="0" tIns="18288" bIns="18288">
            <a:spAutoFit/>
          </a:bodyPr>
          <a:lstStyle/>
          <a:p>
            <a:pPr algn="r">
              <a:lnSpc>
                <a:spcPct val="105000"/>
              </a:lnSpc>
              <a:spcAft>
                <a:spcPts val="400"/>
              </a:spcAft>
            </a:pPr>
            <a:r>
              <a:rPr sz="1200" b="0">
                <a:solidFill>
                  <a:srgbClr val="ADC0BA"/>
                </a:solidFill>
                <a:latin typeface="Courier New"/>
              </a:rPr>
              <a:t>01</a:t>
            </a:r>
          </a:p>
        </p:txBody>
      </p:sp>
      <p:sp>
        <p:nvSpPr>
          <p:cNvPr id="5" name="Rectangle 4"/>
          <p:cNvSpPr/>
          <p:nvPr/>
        </p:nvSpPr>
        <p:spPr>
          <a:xfrm>
            <a:off x="8366760" y="0"/>
            <a:ext cx="3825239" cy="6336792"/>
          </a:xfrm>
          <a:prstGeom prst="rect">
            <a:avLst/>
          </a:prstGeom>
          <a:solidFill>
            <a:srgbClr val="E8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960120"/>
            <a:ext cx="7132320" cy="1508760"/>
          </a:xfrm>
          <a:prstGeom prst="rect">
            <a:avLst/>
          </a:prstGeom>
          <a:noFill/>
        </p:spPr>
        <p:txBody>
          <a:bodyPr wrap="square" lIns="0" rIns="0" tIns="18288" bIns="18288">
            <a:spAutoFit/>
          </a:bodyPr>
          <a:lstStyle/>
          <a:p>
            <a:pPr algn="l">
              <a:lnSpc>
                <a:spcPct val="105000"/>
              </a:lnSpc>
              <a:spcAft>
                <a:spcPts val="400"/>
              </a:spcAft>
            </a:pPr>
            <a:r>
              <a:rPr sz="11200" b="0">
                <a:solidFill>
                  <a:srgbClr val="EEF1E8"/>
                </a:solidFill>
                <a:latin typeface="Georgia"/>
              </a:rPr>
              <a:t>Arf</a:t>
            </a:r>
          </a:p>
        </p:txBody>
      </p:sp>
      <p:sp>
        <p:nvSpPr>
          <p:cNvPr id="7" name="TextBox 6"/>
          <p:cNvSpPr txBox="1"/>
          <p:nvPr/>
        </p:nvSpPr>
        <p:spPr>
          <a:xfrm>
            <a:off x="758952" y="2798064"/>
            <a:ext cx="6995160" cy="1490472"/>
          </a:xfrm>
          <a:prstGeom prst="rect">
            <a:avLst/>
          </a:prstGeom>
          <a:noFill/>
        </p:spPr>
        <p:txBody>
          <a:bodyPr wrap="square" lIns="0" rIns="0" tIns="18288" bIns="18288">
            <a:spAutoFit/>
          </a:bodyPr>
          <a:lstStyle/>
          <a:p>
            <a:pPr algn="l">
              <a:lnSpc>
                <a:spcPct val="105000"/>
              </a:lnSpc>
              <a:spcAft>
                <a:spcPts val="400"/>
              </a:spcAft>
            </a:pPr>
            <a:r>
              <a:rPr sz="3600" b="0">
                <a:solidFill>
                  <a:srgbClr val="EEF1E8"/>
                </a:solidFill>
                <a:latin typeface="Arial"/>
              </a:rPr>
              <a:t>İşlem öncesi icra</a:t>
            </a:r>
          </a:p>
          <a:p>
            <a:pPr algn="l">
              <a:lnSpc>
                <a:spcPct val="105000"/>
              </a:lnSpc>
              <a:spcAft>
                <a:spcPts val="400"/>
              </a:spcAft>
            </a:pPr>
            <a:r>
              <a:rPr sz="3600" b="0">
                <a:solidFill>
                  <a:srgbClr val="EEF1E8"/>
                </a:solidFill>
                <a:latin typeface="Arial"/>
              </a:rPr>
              <a:t>ve likidite kalkanı</a:t>
            </a:r>
          </a:p>
        </p:txBody>
      </p:sp>
      <p:sp>
        <p:nvSpPr>
          <p:cNvPr id="8" name="TextBox 7"/>
          <p:cNvSpPr txBox="1"/>
          <p:nvPr/>
        </p:nvSpPr>
        <p:spPr>
          <a:xfrm>
            <a:off x="777240" y="4901184"/>
            <a:ext cx="6766560" cy="640080"/>
          </a:xfrm>
          <a:prstGeom prst="rect">
            <a:avLst/>
          </a:prstGeom>
          <a:noFill/>
        </p:spPr>
        <p:txBody>
          <a:bodyPr wrap="square" lIns="0" rIns="0" tIns="18288" bIns="18288">
            <a:spAutoFit/>
          </a:bodyPr>
          <a:lstStyle/>
          <a:p>
            <a:pPr algn="l">
              <a:lnSpc>
                <a:spcPct val="105000"/>
              </a:lnSpc>
              <a:spcAft>
                <a:spcPts val="400"/>
              </a:spcAft>
            </a:pPr>
            <a:r>
              <a:rPr sz="2300" b="0">
                <a:solidFill>
                  <a:srgbClr val="ADC0BA"/>
                </a:solidFill>
                <a:latin typeface="Arial"/>
              </a:rPr>
              <a:t>AI trading agent’lar için</a:t>
            </a:r>
          </a:p>
        </p:txBody>
      </p:sp>
      <p:sp>
        <p:nvSpPr>
          <p:cNvPr id="9" name="TextBox 8"/>
          <p:cNvSpPr txBox="1"/>
          <p:nvPr/>
        </p:nvSpPr>
        <p:spPr>
          <a:xfrm>
            <a:off x="8714232" y="1645920"/>
            <a:ext cx="3108960" cy="640080"/>
          </a:xfrm>
          <a:prstGeom prst="rect">
            <a:avLst/>
          </a:prstGeom>
          <a:noFill/>
        </p:spPr>
        <p:txBody>
          <a:bodyPr wrap="square" lIns="0" rIns="0" tIns="18288" bIns="18288">
            <a:spAutoFit/>
          </a:bodyPr>
          <a:lstStyle/>
          <a:p>
            <a:pPr algn="ctr">
              <a:lnSpc>
                <a:spcPct val="105000"/>
              </a:lnSpc>
              <a:spcAft>
                <a:spcPts val="400"/>
              </a:spcAft>
            </a:pPr>
            <a:r>
              <a:rPr sz="2500" b="0">
                <a:solidFill>
                  <a:srgbClr val="16312E"/>
                </a:solidFill>
                <a:latin typeface="Courier New"/>
              </a:rPr>
              <a:t>emir tutarı</a:t>
            </a:r>
          </a:p>
        </p:txBody>
      </p:sp>
      <p:sp>
        <p:nvSpPr>
          <p:cNvPr id="10" name="TextBox 9"/>
          <p:cNvSpPr txBox="1"/>
          <p:nvPr/>
        </p:nvSpPr>
        <p:spPr>
          <a:xfrm>
            <a:off x="8714232" y="2432304"/>
            <a:ext cx="3108960" cy="1371600"/>
          </a:xfrm>
          <a:prstGeom prst="rect">
            <a:avLst/>
          </a:prstGeom>
          <a:noFill/>
        </p:spPr>
        <p:txBody>
          <a:bodyPr wrap="square" lIns="0" rIns="0" tIns="18288" bIns="18288">
            <a:spAutoFit/>
          </a:bodyPr>
          <a:lstStyle/>
          <a:p>
            <a:pPr algn="ctr">
              <a:lnSpc>
                <a:spcPct val="105000"/>
              </a:lnSpc>
              <a:spcAft>
                <a:spcPts val="400"/>
              </a:spcAft>
            </a:pPr>
            <a:r>
              <a:rPr sz="10000" b="0">
                <a:solidFill>
                  <a:srgbClr val="16312E"/>
                </a:solidFill>
                <a:latin typeface="Georgia"/>
              </a:rPr>
              <a:t>≤</a:t>
            </a:r>
          </a:p>
        </p:txBody>
      </p:sp>
      <p:sp>
        <p:nvSpPr>
          <p:cNvPr id="11" name="TextBox 10"/>
          <p:cNvSpPr txBox="1"/>
          <p:nvPr/>
        </p:nvSpPr>
        <p:spPr>
          <a:xfrm>
            <a:off x="8622792" y="3995928"/>
            <a:ext cx="3291840" cy="640080"/>
          </a:xfrm>
          <a:prstGeom prst="rect">
            <a:avLst/>
          </a:prstGeom>
          <a:noFill/>
        </p:spPr>
        <p:txBody>
          <a:bodyPr wrap="square" lIns="0" rIns="0" tIns="18288" bIns="18288">
            <a:spAutoFit/>
          </a:bodyPr>
          <a:lstStyle/>
          <a:p>
            <a:pPr algn="ctr">
              <a:lnSpc>
                <a:spcPct val="105000"/>
              </a:lnSpc>
              <a:spcAft>
                <a:spcPts val="400"/>
              </a:spcAft>
            </a:pPr>
            <a:r>
              <a:rPr sz="2500" b="0">
                <a:solidFill>
                  <a:srgbClr val="16312E"/>
                </a:solidFill>
                <a:latin typeface="Courier New"/>
              </a:rPr>
              <a:t>maxSafeSize</a:t>
            </a:r>
          </a:p>
        </p:txBody>
      </p:sp>
      <p:sp>
        <p:nvSpPr>
          <p:cNvPr id="12" name="TextBox 11"/>
          <p:cNvSpPr txBox="1"/>
          <p:nvPr/>
        </p:nvSpPr>
        <p:spPr>
          <a:xfrm>
            <a:off x="777240" y="5760720"/>
            <a:ext cx="6675120" cy="292608"/>
          </a:xfrm>
          <a:prstGeom prst="rect">
            <a:avLst/>
          </a:prstGeom>
          <a:noFill/>
        </p:spPr>
        <p:txBody>
          <a:bodyPr wrap="square" lIns="0" rIns="0" tIns="18288" bIns="18288">
            <a:spAutoFit/>
          </a:bodyPr>
          <a:lstStyle/>
          <a:p>
            <a:pPr algn="l">
              <a:lnSpc>
                <a:spcPct val="105000"/>
              </a:lnSpc>
              <a:spcAft>
                <a:spcPts val="400"/>
              </a:spcAft>
            </a:pPr>
            <a:r>
              <a:rPr sz="1600" b="0">
                <a:solidFill>
                  <a:srgbClr val="ADC0BA"/>
                </a:solidFill>
                <a:latin typeface="Arial"/>
              </a:rPr>
              <a:t>Cahit Arf’a ve değişmez fikrine gönderme.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BDF"/>
        </a:solidFill>
        <a:effectLst/>
      </p:bgPr>
    </p:bg>
    <p:spTree>
      <p:nvGrpSpPr>
        <p:cNvPr id="1" name=""/>
        <p:cNvGrpSpPr/>
        <p:nvPr/>
      </p:nvGrpSpPr>
      <p:grpSpPr/>
      <p:sp>
        <p:nvSpPr>
          <p:cNvPr id="2" name="TextBox 1"/>
          <p:cNvSpPr txBox="1"/>
          <p:nvPr/>
        </p:nvSpPr>
        <p:spPr>
          <a:xfrm>
            <a:off x="713232" y="612648"/>
            <a:ext cx="10789920" cy="1024128"/>
          </a:xfrm>
          <a:prstGeom prst="rect">
            <a:avLst/>
          </a:prstGeom>
          <a:noFill/>
        </p:spPr>
        <p:txBody>
          <a:bodyPr wrap="square" lIns="0" rIns="0" tIns="18288" bIns="18288">
            <a:spAutoFit/>
          </a:bodyPr>
          <a:lstStyle/>
          <a:p>
            <a:pPr algn="l">
              <a:lnSpc>
                <a:spcPct val="105000"/>
              </a:lnSpc>
              <a:spcAft>
                <a:spcPts val="400"/>
              </a:spcAft>
            </a:pPr>
            <a:r>
              <a:rPr sz="4000" b="0">
                <a:solidFill>
                  <a:srgbClr val="16312E"/>
                </a:solidFill>
                <a:latin typeface="Georgia"/>
              </a:rPr>
              <a:t>Aynı tahta. Çok farklı icra maliyeti.</a:t>
            </a:r>
          </a:p>
        </p:txBody>
      </p:sp>
      <p:cxnSp>
        <p:nvCxnSpPr>
          <p:cNvPr id="3" name="Connector 2"/>
          <p:cNvCxnSpPr/>
          <p:nvPr/>
        </p:nvCxnSpPr>
        <p:spPr>
          <a:xfrm>
            <a:off x="713232" y="6345936"/>
            <a:ext cx="10762488" cy="0"/>
          </a:xfrm>
          <a:prstGeom prst="line">
            <a:avLst/>
          </a:prstGeom>
          <a:ln w="8890">
            <a:solidFill>
              <a:srgbClr val="4D655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6473952"/>
            <a:ext cx="9966960" cy="228600"/>
          </a:xfrm>
          <a:prstGeom prst="rect">
            <a:avLst/>
          </a:prstGeom>
          <a:noFill/>
        </p:spPr>
        <p:txBody>
          <a:bodyPr wrap="square" lIns="0" rIns="0" tIns="18288" bIns="18288">
            <a:spAutoFit/>
          </a:bodyPr>
          <a:lstStyle/>
          <a:p>
            <a:pPr algn="l">
              <a:lnSpc>
                <a:spcPct val="105000"/>
              </a:lnSpc>
              <a:spcAft>
                <a:spcPts val="400"/>
              </a:spcAft>
            </a:pPr>
            <a:r>
              <a:rPr sz="1100" b="0">
                <a:solidFill>
                  <a:srgbClr val="4D655D"/>
                </a:solidFill>
                <a:latin typeface="Arial"/>
              </a:rPr>
              <a:t>Arf   /   OKX Agent Trade Kit × Avalanche   /   17 Ekim 2026</a:t>
            </a:r>
          </a:p>
        </p:txBody>
      </p:sp>
      <p:sp>
        <p:nvSpPr>
          <p:cNvPr id="5" name="TextBox 4"/>
          <p:cNvSpPr txBox="1"/>
          <p:nvPr/>
        </p:nvSpPr>
        <p:spPr>
          <a:xfrm>
            <a:off x="11009376" y="6446520"/>
            <a:ext cx="438912" cy="274320"/>
          </a:xfrm>
          <a:prstGeom prst="rect">
            <a:avLst/>
          </a:prstGeom>
          <a:noFill/>
        </p:spPr>
        <p:txBody>
          <a:bodyPr wrap="square" lIns="0" rIns="0" tIns="18288" bIns="18288">
            <a:spAutoFit/>
          </a:bodyPr>
          <a:lstStyle/>
          <a:p>
            <a:pPr algn="r">
              <a:lnSpc>
                <a:spcPct val="105000"/>
              </a:lnSpc>
              <a:spcAft>
                <a:spcPts val="400"/>
              </a:spcAft>
            </a:pPr>
            <a:r>
              <a:rPr sz="1200" b="0">
                <a:solidFill>
                  <a:srgbClr val="4D655D"/>
                </a:solidFill>
                <a:latin typeface="Courier New"/>
              </a:rPr>
              <a:t>02</a:t>
            </a:r>
          </a:p>
        </p:txBody>
      </p:sp>
      <p:sp>
        <p:nvSpPr>
          <p:cNvPr id="6" name="TextBox 5"/>
          <p:cNvSpPr txBox="1"/>
          <p:nvPr/>
        </p:nvSpPr>
        <p:spPr>
          <a:xfrm>
            <a:off x="777240" y="1901952"/>
            <a:ext cx="4983480" cy="502920"/>
          </a:xfrm>
          <a:prstGeom prst="rect">
            <a:avLst/>
          </a:prstGeom>
          <a:noFill/>
        </p:spPr>
        <p:txBody>
          <a:bodyPr wrap="square" lIns="0" rIns="0" tIns="18288" bIns="18288">
            <a:spAutoFit/>
          </a:bodyPr>
          <a:lstStyle/>
          <a:p>
            <a:pPr algn="l">
              <a:lnSpc>
                <a:spcPct val="105000"/>
              </a:lnSpc>
              <a:spcAft>
                <a:spcPts val="400"/>
              </a:spcAft>
            </a:pPr>
            <a:r>
              <a:rPr sz="2200" b="0">
                <a:solidFill>
                  <a:srgbClr val="4D655D"/>
                </a:solidFill>
                <a:latin typeface="Arial"/>
              </a:rPr>
              <a:t>BIGTIME-USDT</a:t>
            </a:r>
          </a:p>
        </p:txBody>
      </p:sp>
      <p:cxnSp>
        <p:nvCxnSpPr>
          <p:cNvPr id="7" name="Connector 6"/>
          <p:cNvCxnSpPr/>
          <p:nvPr/>
        </p:nvCxnSpPr>
        <p:spPr>
          <a:xfrm>
            <a:off x="5989320" y="1984248"/>
            <a:ext cx="0" cy="2935224"/>
          </a:xfrm>
          <a:prstGeom prst="line">
            <a:avLst/>
          </a:prstGeom>
          <a:ln w="12700">
            <a:solidFill>
              <a:srgbClr val="B7C5B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77240" y="2633472"/>
            <a:ext cx="4663440" cy="502920"/>
          </a:xfrm>
          <a:prstGeom prst="rect">
            <a:avLst/>
          </a:prstGeom>
          <a:noFill/>
        </p:spPr>
        <p:txBody>
          <a:bodyPr wrap="square" lIns="0" rIns="0" tIns="18288" bIns="18288">
            <a:spAutoFit/>
          </a:bodyPr>
          <a:lstStyle/>
          <a:p>
            <a:pPr algn="l">
              <a:lnSpc>
                <a:spcPct val="105000"/>
              </a:lnSpc>
              <a:spcAft>
                <a:spcPts val="400"/>
              </a:spcAft>
            </a:pPr>
            <a:r>
              <a:rPr sz="2400" b="0">
                <a:solidFill>
                  <a:srgbClr val="16312E"/>
                </a:solidFill>
                <a:latin typeface="Arial"/>
              </a:rPr>
              <a:t>1.000 USDT</a:t>
            </a:r>
          </a:p>
        </p:txBody>
      </p:sp>
      <p:sp>
        <p:nvSpPr>
          <p:cNvPr id="9" name="TextBox 8"/>
          <p:cNvSpPr txBox="1"/>
          <p:nvPr/>
        </p:nvSpPr>
        <p:spPr>
          <a:xfrm>
            <a:off x="731520" y="3246120"/>
            <a:ext cx="5029200" cy="1051560"/>
          </a:xfrm>
          <a:prstGeom prst="rect">
            <a:avLst/>
          </a:prstGeom>
          <a:noFill/>
        </p:spPr>
        <p:txBody>
          <a:bodyPr wrap="square" lIns="0" rIns="0" tIns="18288" bIns="18288">
            <a:spAutoFit/>
          </a:bodyPr>
          <a:lstStyle/>
          <a:p>
            <a:pPr algn="l">
              <a:lnSpc>
                <a:spcPct val="105000"/>
              </a:lnSpc>
              <a:spcAft>
                <a:spcPts val="400"/>
              </a:spcAft>
            </a:pPr>
            <a:r>
              <a:rPr sz="7600" b="0">
                <a:solidFill>
                  <a:srgbClr val="16312E"/>
                </a:solidFill>
                <a:latin typeface="Courier New"/>
              </a:rPr>
              <a:t>10,8</a:t>
            </a:r>
          </a:p>
        </p:txBody>
      </p:sp>
      <p:sp>
        <p:nvSpPr>
          <p:cNvPr id="10" name="TextBox 9"/>
          <p:cNvSpPr txBox="1"/>
          <p:nvPr/>
        </p:nvSpPr>
        <p:spPr>
          <a:xfrm>
            <a:off x="804672" y="4498848"/>
            <a:ext cx="4663440" cy="457200"/>
          </a:xfrm>
          <a:prstGeom prst="rect">
            <a:avLst/>
          </a:prstGeom>
          <a:noFill/>
        </p:spPr>
        <p:txBody>
          <a:bodyPr wrap="square" lIns="0" rIns="0" tIns="18288" bIns="18288">
            <a:spAutoFit/>
          </a:bodyPr>
          <a:lstStyle/>
          <a:p>
            <a:pPr algn="l">
              <a:lnSpc>
                <a:spcPct val="105000"/>
              </a:lnSpc>
              <a:spcAft>
                <a:spcPts val="400"/>
              </a:spcAft>
            </a:pPr>
            <a:r>
              <a:rPr sz="2300" b="0">
                <a:solidFill>
                  <a:srgbClr val="4D655D"/>
                </a:solidFill>
                <a:latin typeface="Arial"/>
              </a:rPr>
              <a:t>bps kayma</a:t>
            </a:r>
          </a:p>
        </p:txBody>
      </p:sp>
      <p:sp>
        <p:nvSpPr>
          <p:cNvPr id="11" name="TextBox 10"/>
          <p:cNvSpPr txBox="1"/>
          <p:nvPr/>
        </p:nvSpPr>
        <p:spPr>
          <a:xfrm>
            <a:off x="6537960" y="2633472"/>
            <a:ext cx="4663440" cy="502920"/>
          </a:xfrm>
          <a:prstGeom prst="rect">
            <a:avLst/>
          </a:prstGeom>
          <a:noFill/>
        </p:spPr>
        <p:txBody>
          <a:bodyPr wrap="square" lIns="0" rIns="0" tIns="18288" bIns="18288">
            <a:spAutoFit/>
          </a:bodyPr>
          <a:lstStyle/>
          <a:p>
            <a:pPr algn="l">
              <a:lnSpc>
                <a:spcPct val="105000"/>
              </a:lnSpc>
              <a:spcAft>
                <a:spcPts val="400"/>
              </a:spcAft>
            </a:pPr>
            <a:r>
              <a:rPr sz="2400" b="0">
                <a:solidFill>
                  <a:srgbClr val="16312E"/>
                </a:solidFill>
                <a:latin typeface="Arial"/>
              </a:rPr>
              <a:t>10.000 USDT</a:t>
            </a:r>
          </a:p>
        </p:txBody>
      </p:sp>
      <p:sp>
        <p:nvSpPr>
          <p:cNvPr id="12" name="TextBox 11"/>
          <p:cNvSpPr txBox="1"/>
          <p:nvPr/>
        </p:nvSpPr>
        <p:spPr>
          <a:xfrm>
            <a:off x="6492240" y="3246120"/>
            <a:ext cx="4754880" cy="1051560"/>
          </a:xfrm>
          <a:prstGeom prst="rect">
            <a:avLst/>
          </a:prstGeom>
          <a:noFill/>
        </p:spPr>
        <p:txBody>
          <a:bodyPr wrap="square" lIns="0" rIns="0" tIns="18288" bIns="18288">
            <a:spAutoFit/>
          </a:bodyPr>
          <a:lstStyle/>
          <a:p>
            <a:pPr algn="l">
              <a:lnSpc>
                <a:spcPct val="105000"/>
              </a:lnSpc>
              <a:spcAft>
                <a:spcPts val="400"/>
              </a:spcAft>
            </a:pPr>
            <a:r>
              <a:rPr sz="7600" b="0">
                <a:solidFill>
                  <a:srgbClr val="16312E"/>
                </a:solidFill>
                <a:latin typeface="Courier New"/>
              </a:rPr>
              <a:t>1284</a:t>
            </a:r>
          </a:p>
        </p:txBody>
      </p:sp>
      <p:sp>
        <p:nvSpPr>
          <p:cNvPr id="13" name="TextBox 12"/>
          <p:cNvSpPr txBox="1"/>
          <p:nvPr/>
        </p:nvSpPr>
        <p:spPr>
          <a:xfrm>
            <a:off x="6565392" y="4498848"/>
            <a:ext cx="4663440" cy="457200"/>
          </a:xfrm>
          <a:prstGeom prst="rect">
            <a:avLst/>
          </a:prstGeom>
          <a:noFill/>
        </p:spPr>
        <p:txBody>
          <a:bodyPr wrap="square" lIns="0" rIns="0" tIns="18288" bIns="18288">
            <a:spAutoFit/>
          </a:bodyPr>
          <a:lstStyle/>
          <a:p>
            <a:pPr algn="l">
              <a:lnSpc>
                <a:spcPct val="105000"/>
              </a:lnSpc>
              <a:spcAft>
                <a:spcPts val="400"/>
              </a:spcAft>
            </a:pPr>
            <a:r>
              <a:rPr sz="2300" b="0">
                <a:solidFill>
                  <a:srgbClr val="4D655D"/>
                </a:solidFill>
                <a:latin typeface="Arial"/>
              </a:rPr>
              <a:t>bps kayma</a:t>
            </a:r>
          </a:p>
        </p:txBody>
      </p:sp>
      <p:sp>
        <p:nvSpPr>
          <p:cNvPr id="14" name="TextBox 13"/>
          <p:cNvSpPr txBox="1"/>
          <p:nvPr/>
        </p:nvSpPr>
        <p:spPr>
          <a:xfrm>
            <a:off x="777240" y="5394960"/>
            <a:ext cx="10515600" cy="521207"/>
          </a:xfrm>
          <a:prstGeom prst="rect">
            <a:avLst/>
          </a:prstGeom>
          <a:noFill/>
        </p:spPr>
        <p:txBody>
          <a:bodyPr wrap="square" lIns="0" rIns="0" tIns="18288" bIns="18288">
            <a:spAutoFit/>
          </a:bodyPr>
          <a:lstStyle/>
          <a:p>
            <a:pPr algn="l">
              <a:lnSpc>
                <a:spcPct val="105000"/>
              </a:lnSpc>
              <a:spcAft>
                <a:spcPts val="400"/>
              </a:spcAft>
            </a:pPr>
            <a:r>
              <a:rPr sz="2800" b="0">
                <a:solidFill>
                  <a:srgbClr val="16312E"/>
                </a:solidFill>
                <a:latin typeface="Arial"/>
              </a:rPr>
              <a:t>10× tutar, 100× üzerinde kayma oranı</a:t>
            </a:r>
          </a:p>
        </p:txBody>
      </p:sp>
      <p:sp>
        <p:nvSpPr>
          <p:cNvPr id="15" name="TextBox 14"/>
          <p:cNvSpPr txBox="1"/>
          <p:nvPr/>
        </p:nvSpPr>
        <p:spPr>
          <a:xfrm>
            <a:off x="786384" y="6007608"/>
            <a:ext cx="10515600" cy="219456"/>
          </a:xfrm>
          <a:prstGeom prst="rect">
            <a:avLst/>
          </a:prstGeom>
          <a:noFill/>
        </p:spPr>
        <p:txBody>
          <a:bodyPr wrap="square" lIns="0" rIns="0" tIns="18288" bIns="18288">
            <a:spAutoFit/>
          </a:bodyPr>
          <a:lstStyle/>
          <a:p>
            <a:pPr algn="l">
              <a:lnSpc>
                <a:spcPct val="105000"/>
              </a:lnSpc>
              <a:spcAft>
                <a:spcPts val="400"/>
              </a:spcAft>
            </a:pPr>
            <a:r>
              <a:rPr sz="1400" b="0">
                <a:solidFill>
                  <a:srgbClr val="4D655D"/>
                </a:solidFill>
                <a:latin typeface="Arial"/>
              </a:rPr>
              <a:t>ÖLÇÜLEN: hackathon ölçüm notu. Canlı tahta değişir.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F23"/>
        </a:solidFill>
        <a:effectLst/>
      </p:bgPr>
    </p:bg>
    <p:spTree>
      <p:nvGrpSpPr>
        <p:cNvPr id="1" name=""/>
        <p:cNvGrpSpPr/>
        <p:nvPr/>
      </p:nvGrpSpPr>
      <p:grpSpPr/>
      <p:sp>
        <p:nvSpPr>
          <p:cNvPr id="2" name="TextBox 1"/>
          <p:cNvSpPr txBox="1"/>
          <p:nvPr/>
        </p:nvSpPr>
        <p:spPr>
          <a:xfrm>
            <a:off x="713232" y="612648"/>
            <a:ext cx="10789920" cy="1024128"/>
          </a:xfrm>
          <a:prstGeom prst="rect">
            <a:avLst/>
          </a:prstGeom>
          <a:noFill/>
        </p:spPr>
        <p:txBody>
          <a:bodyPr wrap="square" lIns="0" rIns="0" tIns="18288" bIns="18288">
            <a:spAutoFit/>
          </a:bodyPr>
          <a:lstStyle/>
          <a:p>
            <a:pPr algn="l">
              <a:lnSpc>
                <a:spcPct val="105000"/>
              </a:lnSpc>
              <a:spcAft>
                <a:spcPts val="400"/>
              </a:spcAft>
            </a:pPr>
            <a:r>
              <a:rPr sz="4000" b="0">
                <a:solidFill>
                  <a:srgbClr val="EEF1E8"/>
                </a:solidFill>
                <a:latin typeface="Georgia"/>
              </a:rPr>
              <a:t>Bir emir için tek değişmez.</a:t>
            </a:r>
          </a:p>
        </p:txBody>
      </p:sp>
      <p:cxnSp>
        <p:nvCxnSpPr>
          <p:cNvPr id="3" name="Connector 2"/>
          <p:cNvCxnSpPr/>
          <p:nvPr/>
        </p:nvCxnSpPr>
        <p:spPr>
          <a:xfrm>
            <a:off x="713232" y="6345936"/>
            <a:ext cx="10762488" cy="0"/>
          </a:xfrm>
          <a:prstGeom prst="line">
            <a:avLst/>
          </a:prstGeom>
          <a:ln w="8890">
            <a:solidFill>
              <a:srgbClr val="35524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6473952"/>
            <a:ext cx="9966960" cy="228600"/>
          </a:xfrm>
          <a:prstGeom prst="rect">
            <a:avLst/>
          </a:prstGeom>
          <a:noFill/>
        </p:spPr>
        <p:txBody>
          <a:bodyPr wrap="square" lIns="0" rIns="0" tIns="18288" bIns="18288">
            <a:spAutoFit/>
          </a:bodyPr>
          <a:lstStyle/>
          <a:p>
            <a:pPr algn="l">
              <a:lnSpc>
                <a:spcPct val="105000"/>
              </a:lnSpc>
              <a:spcAft>
                <a:spcPts val="400"/>
              </a:spcAft>
            </a:pPr>
            <a:r>
              <a:rPr sz="1100" b="0">
                <a:solidFill>
                  <a:srgbClr val="ADC0BA"/>
                </a:solidFill>
                <a:latin typeface="Arial"/>
              </a:rPr>
              <a:t>Arf   /   OKX Agent Trade Kit × Avalanche   /   17 Ekim 2026</a:t>
            </a:r>
          </a:p>
        </p:txBody>
      </p:sp>
      <p:sp>
        <p:nvSpPr>
          <p:cNvPr id="5" name="TextBox 4"/>
          <p:cNvSpPr txBox="1"/>
          <p:nvPr/>
        </p:nvSpPr>
        <p:spPr>
          <a:xfrm>
            <a:off x="11009376" y="6446520"/>
            <a:ext cx="438912" cy="274320"/>
          </a:xfrm>
          <a:prstGeom prst="rect">
            <a:avLst/>
          </a:prstGeom>
          <a:noFill/>
        </p:spPr>
        <p:txBody>
          <a:bodyPr wrap="square" lIns="0" rIns="0" tIns="18288" bIns="18288">
            <a:spAutoFit/>
          </a:bodyPr>
          <a:lstStyle/>
          <a:p>
            <a:pPr algn="r">
              <a:lnSpc>
                <a:spcPct val="105000"/>
              </a:lnSpc>
              <a:spcAft>
                <a:spcPts val="400"/>
              </a:spcAft>
            </a:pPr>
            <a:r>
              <a:rPr sz="1200" b="0">
                <a:solidFill>
                  <a:srgbClr val="ADC0BA"/>
                </a:solidFill>
                <a:latin typeface="Courier New"/>
              </a:rPr>
              <a:t>03</a:t>
            </a:r>
          </a:p>
        </p:txBody>
      </p:sp>
      <p:sp>
        <p:nvSpPr>
          <p:cNvPr id="6" name="TextBox 5"/>
          <p:cNvSpPr txBox="1"/>
          <p:nvPr/>
        </p:nvSpPr>
        <p:spPr>
          <a:xfrm>
            <a:off x="777240" y="1828800"/>
            <a:ext cx="10515600" cy="502920"/>
          </a:xfrm>
          <a:prstGeom prst="rect">
            <a:avLst/>
          </a:prstGeom>
          <a:noFill/>
        </p:spPr>
        <p:txBody>
          <a:bodyPr wrap="square" lIns="0" rIns="0" tIns="18288" bIns="18288">
            <a:spAutoFit/>
          </a:bodyPr>
          <a:lstStyle/>
          <a:p>
            <a:pPr algn="l">
              <a:lnSpc>
                <a:spcPct val="105000"/>
              </a:lnSpc>
              <a:spcAft>
                <a:spcPts val="400"/>
              </a:spcAft>
            </a:pPr>
            <a:r>
              <a:rPr sz="2700" b="0">
                <a:solidFill>
                  <a:srgbClr val="ADC0BA"/>
                </a:solidFill>
                <a:latin typeface="Arial"/>
              </a:rPr>
              <a:t>Her emirden önce: ölçüm, imza ve zincir kontrolü.</a:t>
            </a:r>
          </a:p>
        </p:txBody>
      </p:sp>
      <p:sp>
        <p:nvSpPr>
          <p:cNvPr id="7" name="Rectangle 6"/>
          <p:cNvSpPr/>
          <p:nvPr/>
        </p:nvSpPr>
        <p:spPr>
          <a:xfrm>
            <a:off x="731520" y="2788920"/>
            <a:ext cx="10744200" cy="1536192"/>
          </a:xfrm>
          <a:prstGeom prst="rect">
            <a:avLst/>
          </a:prstGeom>
          <a:solidFill>
            <a:srgbClr val="E8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182112"/>
            <a:ext cx="10195560" cy="777240"/>
          </a:xfrm>
          <a:prstGeom prst="rect">
            <a:avLst/>
          </a:prstGeom>
          <a:noFill/>
        </p:spPr>
        <p:txBody>
          <a:bodyPr wrap="square" lIns="0" rIns="0" tIns="18288" bIns="18288">
            <a:spAutoFit/>
          </a:bodyPr>
          <a:lstStyle/>
          <a:p>
            <a:pPr algn="ctr">
              <a:lnSpc>
                <a:spcPct val="105000"/>
              </a:lnSpc>
              <a:spcAft>
                <a:spcPts val="400"/>
              </a:spcAft>
            </a:pPr>
            <a:r>
              <a:rPr sz="4400" b="0">
                <a:solidFill>
                  <a:srgbClr val="16312E"/>
                </a:solidFill>
                <a:latin typeface="Courier New"/>
              </a:rPr>
              <a:t>emir tutarı ≤ maxSafeSize</a:t>
            </a:r>
          </a:p>
        </p:txBody>
      </p:sp>
      <p:sp>
        <p:nvSpPr>
          <p:cNvPr id="9" name="TextBox 8"/>
          <p:cNvSpPr txBox="1"/>
          <p:nvPr/>
        </p:nvSpPr>
        <p:spPr>
          <a:xfrm>
            <a:off x="786384" y="4983480"/>
            <a:ext cx="10561320" cy="640080"/>
          </a:xfrm>
          <a:prstGeom prst="rect">
            <a:avLst/>
          </a:prstGeom>
          <a:noFill/>
        </p:spPr>
        <p:txBody>
          <a:bodyPr wrap="square" lIns="0" rIns="0" tIns="18288" bIns="18288">
            <a:spAutoFit/>
          </a:bodyPr>
          <a:lstStyle/>
          <a:p>
            <a:pPr algn="l">
              <a:lnSpc>
                <a:spcPct val="105000"/>
              </a:lnSpc>
              <a:spcAft>
                <a:spcPts val="400"/>
              </a:spcAft>
            </a:pPr>
            <a:r>
              <a:rPr sz="3000" b="0">
                <a:solidFill>
                  <a:srgbClr val="EEF1E8"/>
                </a:solidFill>
                <a:latin typeface="Georgia"/>
              </a:rPr>
              <a:t>Tahtanın taşıyamadığı emir, sınırda durur.</a:t>
            </a:r>
          </a:p>
        </p:txBody>
      </p:sp>
      <p:sp>
        <p:nvSpPr>
          <p:cNvPr id="10" name="TextBox 9"/>
          <p:cNvSpPr txBox="1"/>
          <p:nvPr/>
        </p:nvSpPr>
        <p:spPr>
          <a:xfrm>
            <a:off x="795528" y="5769864"/>
            <a:ext cx="10515600" cy="320040"/>
          </a:xfrm>
          <a:prstGeom prst="rect">
            <a:avLst/>
          </a:prstGeom>
          <a:noFill/>
        </p:spPr>
        <p:txBody>
          <a:bodyPr wrap="square" lIns="0" rIns="0" tIns="18288" bIns="18288">
            <a:spAutoFit/>
          </a:bodyPr>
          <a:lstStyle/>
          <a:p>
            <a:pPr algn="l">
              <a:lnSpc>
                <a:spcPct val="105000"/>
              </a:lnSpc>
              <a:spcAft>
                <a:spcPts val="400"/>
              </a:spcAft>
            </a:pPr>
            <a:r>
              <a:rPr sz="2000" b="0">
                <a:solidFill>
                  <a:srgbClr val="B5D0BD"/>
                </a:solidFill>
                <a:latin typeface="Courier New"/>
              </a:rPr>
              <a:t>check_execution(symbol, side, size)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BDF"/>
        </a:solidFill>
        <a:effectLst/>
      </p:bgPr>
    </p:bg>
    <p:spTree>
      <p:nvGrpSpPr>
        <p:cNvPr id="1" name=""/>
        <p:cNvGrpSpPr/>
        <p:nvPr/>
      </p:nvGrpSpPr>
      <p:grpSpPr/>
      <p:sp>
        <p:nvSpPr>
          <p:cNvPr id="2" name="TextBox 1"/>
          <p:cNvSpPr txBox="1"/>
          <p:nvPr/>
        </p:nvSpPr>
        <p:spPr>
          <a:xfrm>
            <a:off x="713232" y="612648"/>
            <a:ext cx="10789920" cy="1024128"/>
          </a:xfrm>
          <a:prstGeom prst="rect">
            <a:avLst/>
          </a:prstGeom>
          <a:noFill/>
        </p:spPr>
        <p:txBody>
          <a:bodyPr wrap="square" lIns="0" rIns="0" tIns="18288" bIns="18288">
            <a:spAutoFit/>
          </a:bodyPr>
          <a:lstStyle/>
          <a:p>
            <a:pPr algn="l">
              <a:lnSpc>
                <a:spcPct val="105000"/>
              </a:lnSpc>
              <a:spcAft>
                <a:spcPts val="400"/>
              </a:spcAft>
            </a:pPr>
            <a:r>
              <a:rPr sz="4000" b="0">
                <a:solidFill>
                  <a:srgbClr val="16312E"/>
                </a:solidFill>
                <a:latin typeface="Georgia"/>
              </a:rPr>
              <a:t>ATK verisinden Fuji kontrolüne.</a:t>
            </a:r>
          </a:p>
        </p:txBody>
      </p:sp>
      <p:cxnSp>
        <p:nvCxnSpPr>
          <p:cNvPr id="3" name="Connector 2"/>
          <p:cNvCxnSpPr/>
          <p:nvPr/>
        </p:nvCxnSpPr>
        <p:spPr>
          <a:xfrm>
            <a:off x="713232" y="6345936"/>
            <a:ext cx="10762488" cy="0"/>
          </a:xfrm>
          <a:prstGeom prst="line">
            <a:avLst/>
          </a:prstGeom>
          <a:ln w="8890">
            <a:solidFill>
              <a:srgbClr val="4D655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6473952"/>
            <a:ext cx="9966960" cy="228600"/>
          </a:xfrm>
          <a:prstGeom prst="rect">
            <a:avLst/>
          </a:prstGeom>
          <a:noFill/>
        </p:spPr>
        <p:txBody>
          <a:bodyPr wrap="square" lIns="0" rIns="0" tIns="18288" bIns="18288">
            <a:spAutoFit/>
          </a:bodyPr>
          <a:lstStyle/>
          <a:p>
            <a:pPr algn="l">
              <a:lnSpc>
                <a:spcPct val="105000"/>
              </a:lnSpc>
              <a:spcAft>
                <a:spcPts val="400"/>
              </a:spcAft>
            </a:pPr>
            <a:r>
              <a:rPr sz="1100" b="0">
                <a:solidFill>
                  <a:srgbClr val="4D655D"/>
                </a:solidFill>
                <a:latin typeface="Arial"/>
              </a:rPr>
              <a:t>Arf   /   OKX Agent Trade Kit × Avalanche   /   17 Ekim 2026</a:t>
            </a:r>
          </a:p>
        </p:txBody>
      </p:sp>
      <p:sp>
        <p:nvSpPr>
          <p:cNvPr id="5" name="TextBox 4"/>
          <p:cNvSpPr txBox="1"/>
          <p:nvPr/>
        </p:nvSpPr>
        <p:spPr>
          <a:xfrm>
            <a:off x="11009376" y="6446520"/>
            <a:ext cx="438912" cy="274320"/>
          </a:xfrm>
          <a:prstGeom prst="rect">
            <a:avLst/>
          </a:prstGeom>
          <a:noFill/>
        </p:spPr>
        <p:txBody>
          <a:bodyPr wrap="square" lIns="0" rIns="0" tIns="18288" bIns="18288">
            <a:spAutoFit/>
          </a:bodyPr>
          <a:lstStyle/>
          <a:p>
            <a:pPr algn="r">
              <a:lnSpc>
                <a:spcPct val="105000"/>
              </a:lnSpc>
              <a:spcAft>
                <a:spcPts val="400"/>
              </a:spcAft>
            </a:pPr>
            <a:r>
              <a:rPr sz="1200" b="0">
                <a:solidFill>
                  <a:srgbClr val="4D655D"/>
                </a:solidFill>
                <a:latin typeface="Courier New"/>
              </a:rPr>
              <a:t>04</a:t>
            </a:r>
          </a:p>
        </p:txBody>
      </p:sp>
      <p:cxnSp>
        <p:nvCxnSpPr>
          <p:cNvPr id="6" name="Connector 5"/>
          <p:cNvCxnSpPr/>
          <p:nvPr/>
        </p:nvCxnSpPr>
        <p:spPr>
          <a:xfrm>
            <a:off x="777240" y="2304288"/>
            <a:ext cx="2286000" cy="0"/>
          </a:xfrm>
          <a:prstGeom prst="line">
            <a:avLst/>
          </a:prstGeom>
          <a:ln w="12700">
            <a:solidFill>
              <a:srgbClr val="4D655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77240" y="2596896"/>
            <a:ext cx="2340864" cy="640080"/>
          </a:xfrm>
          <a:prstGeom prst="rect">
            <a:avLst/>
          </a:prstGeom>
          <a:noFill/>
        </p:spPr>
        <p:txBody>
          <a:bodyPr wrap="square" lIns="0" rIns="0" tIns="18288" bIns="18288">
            <a:spAutoFit/>
          </a:bodyPr>
          <a:lstStyle/>
          <a:p>
            <a:pPr algn="l">
              <a:lnSpc>
                <a:spcPct val="105000"/>
              </a:lnSpc>
              <a:spcAft>
                <a:spcPts val="400"/>
              </a:spcAft>
            </a:pPr>
            <a:r>
              <a:rPr sz="2700" b="0">
                <a:solidFill>
                  <a:srgbClr val="16312E"/>
                </a:solidFill>
                <a:latin typeface="Georgia"/>
              </a:rPr>
              <a:t>ATK</a:t>
            </a:r>
          </a:p>
        </p:txBody>
      </p:sp>
      <p:sp>
        <p:nvSpPr>
          <p:cNvPr id="8" name="TextBox 7"/>
          <p:cNvSpPr txBox="1"/>
          <p:nvPr/>
        </p:nvSpPr>
        <p:spPr>
          <a:xfrm>
            <a:off x="777240" y="3438144"/>
            <a:ext cx="2331720" cy="777240"/>
          </a:xfrm>
          <a:prstGeom prst="rect">
            <a:avLst/>
          </a:prstGeom>
          <a:noFill/>
        </p:spPr>
        <p:txBody>
          <a:bodyPr wrap="square" lIns="0" rIns="0" tIns="18288" bIns="18288">
            <a:spAutoFit/>
          </a:bodyPr>
          <a:lstStyle/>
          <a:p>
            <a:pPr algn="l">
              <a:lnSpc>
                <a:spcPct val="105000"/>
              </a:lnSpc>
              <a:spcAft>
                <a:spcPts val="400"/>
              </a:spcAft>
            </a:pPr>
            <a:r>
              <a:rPr sz="2200" b="0">
                <a:solidFill>
                  <a:srgbClr val="4D655D"/>
                </a:solidFill>
                <a:latin typeface="Arial"/>
              </a:rPr>
              <a:t>Canlı tahta</a:t>
            </a:r>
          </a:p>
        </p:txBody>
      </p:sp>
      <p:cxnSp>
        <p:nvCxnSpPr>
          <p:cNvPr id="9" name="Connector 8"/>
          <p:cNvCxnSpPr/>
          <p:nvPr/>
        </p:nvCxnSpPr>
        <p:spPr>
          <a:xfrm>
            <a:off x="3108960" y="2962656"/>
            <a:ext cx="329184" cy="0"/>
          </a:xfrm>
          <a:prstGeom prst="line">
            <a:avLst/>
          </a:prstGeom>
          <a:ln w="19050">
            <a:solidFill>
              <a:srgbClr val="4D655D"/>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566160" y="2304288"/>
            <a:ext cx="2286000" cy="0"/>
          </a:xfrm>
          <a:prstGeom prst="line">
            <a:avLst/>
          </a:prstGeom>
          <a:ln w="12700">
            <a:solidFill>
              <a:srgbClr val="4D655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566160" y="2596896"/>
            <a:ext cx="2340864" cy="640080"/>
          </a:xfrm>
          <a:prstGeom prst="rect">
            <a:avLst/>
          </a:prstGeom>
          <a:noFill/>
        </p:spPr>
        <p:txBody>
          <a:bodyPr wrap="square" lIns="0" rIns="0" tIns="18288" bIns="18288">
            <a:spAutoFit/>
          </a:bodyPr>
          <a:lstStyle/>
          <a:p>
            <a:pPr algn="l">
              <a:lnSpc>
                <a:spcPct val="105000"/>
              </a:lnSpc>
              <a:spcAft>
                <a:spcPts val="400"/>
              </a:spcAft>
            </a:pPr>
            <a:r>
              <a:rPr sz="2700" b="0">
                <a:solidFill>
                  <a:srgbClr val="16312E"/>
                </a:solidFill>
                <a:latin typeface="Georgia"/>
              </a:rPr>
              <a:t>Metrikler</a:t>
            </a:r>
          </a:p>
        </p:txBody>
      </p:sp>
      <p:sp>
        <p:nvSpPr>
          <p:cNvPr id="12" name="TextBox 11"/>
          <p:cNvSpPr txBox="1"/>
          <p:nvPr/>
        </p:nvSpPr>
        <p:spPr>
          <a:xfrm>
            <a:off x="3566160" y="3438144"/>
            <a:ext cx="2331720" cy="777240"/>
          </a:xfrm>
          <a:prstGeom prst="rect">
            <a:avLst/>
          </a:prstGeom>
          <a:noFill/>
        </p:spPr>
        <p:txBody>
          <a:bodyPr wrap="square" lIns="0" rIns="0" tIns="18288" bIns="18288">
            <a:spAutoFit/>
          </a:bodyPr>
          <a:lstStyle/>
          <a:p>
            <a:pPr algn="l">
              <a:lnSpc>
                <a:spcPct val="105000"/>
              </a:lnSpc>
              <a:spcAft>
                <a:spcPts val="400"/>
              </a:spcAft>
            </a:pPr>
            <a:r>
              <a:rPr sz="2200" b="0">
                <a:solidFill>
                  <a:srgbClr val="4D655D"/>
                </a:solidFill>
                <a:latin typeface="Arial"/>
              </a:rPr>
              <a:t>İcra maliyeti</a:t>
            </a:r>
          </a:p>
        </p:txBody>
      </p:sp>
      <p:cxnSp>
        <p:nvCxnSpPr>
          <p:cNvPr id="13" name="Connector 12"/>
          <p:cNvCxnSpPr/>
          <p:nvPr/>
        </p:nvCxnSpPr>
        <p:spPr>
          <a:xfrm>
            <a:off x="5897879" y="2962656"/>
            <a:ext cx="329185" cy="0"/>
          </a:xfrm>
          <a:prstGeom prst="line">
            <a:avLst/>
          </a:prstGeom>
          <a:ln w="19050">
            <a:solidFill>
              <a:srgbClr val="4D655D"/>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355079" y="2304288"/>
            <a:ext cx="2286001" cy="0"/>
          </a:xfrm>
          <a:prstGeom prst="line">
            <a:avLst/>
          </a:prstGeom>
          <a:ln w="12700">
            <a:solidFill>
              <a:srgbClr val="4D655D"/>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55079" y="2596896"/>
            <a:ext cx="2340864" cy="640080"/>
          </a:xfrm>
          <a:prstGeom prst="rect">
            <a:avLst/>
          </a:prstGeom>
          <a:noFill/>
        </p:spPr>
        <p:txBody>
          <a:bodyPr wrap="square" lIns="0" rIns="0" tIns="18288" bIns="18288">
            <a:spAutoFit/>
          </a:bodyPr>
          <a:lstStyle/>
          <a:p>
            <a:pPr algn="l">
              <a:lnSpc>
                <a:spcPct val="105000"/>
              </a:lnSpc>
              <a:spcAft>
                <a:spcPts val="400"/>
              </a:spcAft>
            </a:pPr>
            <a:r>
              <a:rPr sz="2700" b="0">
                <a:solidFill>
                  <a:srgbClr val="16312E"/>
                </a:solidFill>
                <a:latin typeface="Georgia"/>
              </a:rPr>
              <a:t>Planlayıcı</a:t>
            </a:r>
          </a:p>
        </p:txBody>
      </p:sp>
      <p:sp>
        <p:nvSpPr>
          <p:cNvPr id="16" name="TextBox 15"/>
          <p:cNvSpPr txBox="1"/>
          <p:nvPr/>
        </p:nvSpPr>
        <p:spPr>
          <a:xfrm>
            <a:off x="6355079" y="3438144"/>
            <a:ext cx="2331720" cy="777240"/>
          </a:xfrm>
          <a:prstGeom prst="rect">
            <a:avLst/>
          </a:prstGeom>
          <a:noFill/>
        </p:spPr>
        <p:txBody>
          <a:bodyPr wrap="square" lIns="0" rIns="0" tIns="18288" bIns="18288">
            <a:spAutoFit/>
          </a:bodyPr>
          <a:lstStyle/>
          <a:p>
            <a:pPr algn="l">
              <a:lnSpc>
                <a:spcPct val="105000"/>
              </a:lnSpc>
              <a:spcAft>
                <a:spcPts val="400"/>
              </a:spcAft>
            </a:pPr>
            <a:r>
              <a:rPr sz="2200" b="0">
                <a:solidFill>
                  <a:srgbClr val="4D655D"/>
                </a:solidFill>
                <a:latin typeface="Arial"/>
              </a:rPr>
              <a:t>LLM araç seçimi</a:t>
            </a:r>
          </a:p>
        </p:txBody>
      </p:sp>
      <p:cxnSp>
        <p:nvCxnSpPr>
          <p:cNvPr id="17" name="Connector 16"/>
          <p:cNvCxnSpPr/>
          <p:nvPr/>
        </p:nvCxnSpPr>
        <p:spPr>
          <a:xfrm>
            <a:off x="8686800" y="2962656"/>
            <a:ext cx="329184" cy="0"/>
          </a:xfrm>
          <a:prstGeom prst="line">
            <a:avLst/>
          </a:prstGeom>
          <a:ln w="19050">
            <a:solidFill>
              <a:srgbClr val="4D655D"/>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143999" y="2304288"/>
            <a:ext cx="2286000" cy="0"/>
          </a:xfrm>
          <a:prstGeom prst="line">
            <a:avLst/>
          </a:prstGeom>
          <a:ln w="12700">
            <a:solidFill>
              <a:srgbClr val="4D655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3999" y="2596896"/>
            <a:ext cx="2340864" cy="640080"/>
          </a:xfrm>
          <a:prstGeom prst="rect">
            <a:avLst/>
          </a:prstGeom>
          <a:noFill/>
        </p:spPr>
        <p:txBody>
          <a:bodyPr wrap="square" lIns="0" rIns="0" tIns="18288" bIns="18288">
            <a:spAutoFit/>
          </a:bodyPr>
          <a:lstStyle/>
          <a:p>
            <a:pPr algn="l">
              <a:lnSpc>
                <a:spcPct val="105000"/>
              </a:lnSpc>
              <a:spcAft>
                <a:spcPts val="400"/>
              </a:spcAft>
            </a:pPr>
            <a:r>
              <a:rPr sz="2700" b="0">
                <a:solidFill>
                  <a:srgbClr val="16312E"/>
                </a:solidFill>
                <a:latin typeface="Georgia"/>
              </a:rPr>
              <a:t>İmza + Fuji</a:t>
            </a:r>
          </a:p>
        </p:txBody>
      </p:sp>
      <p:sp>
        <p:nvSpPr>
          <p:cNvPr id="20" name="TextBox 19"/>
          <p:cNvSpPr txBox="1"/>
          <p:nvPr/>
        </p:nvSpPr>
        <p:spPr>
          <a:xfrm>
            <a:off x="9143999" y="3438144"/>
            <a:ext cx="2331720" cy="777240"/>
          </a:xfrm>
          <a:prstGeom prst="rect">
            <a:avLst/>
          </a:prstGeom>
          <a:noFill/>
        </p:spPr>
        <p:txBody>
          <a:bodyPr wrap="square" lIns="0" rIns="0" tIns="18288" bIns="18288">
            <a:spAutoFit/>
          </a:bodyPr>
          <a:lstStyle/>
          <a:p>
            <a:pPr algn="l">
              <a:lnSpc>
                <a:spcPct val="105000"/>
              </a:lnSpc>
              <a:spcAft>
                <a:spcPts val="400"/>
              </a:spcAft>
            </a:pPr>
            <a:r>
              <a:rPr sz="2200" b="0">
                <a:solidFill>
                  <a:srgbClr val="4D655D"/>
                </a:solidFill>
                <a:latin typeface="Arial"/>
              </a:rPr>
              <a:t>Devre kesici</a:t>
            </a:r>
          </a:p>
        </p:txBody>
      </p:sp>
      <p:sp>
        <p:nvSpPr>
          <p:cNvPr id="21" name="TextBox 20"/>
          <p:cNvSpPr txBox="1"/>
          <p:nvPr/>
        </p:nvSpPr>
        <p:spPr>
          <a:xfrm>
            <a:off x="777240" y="4736592"/>
            <a:ext cx="4846320" cy="685800"/>
          </a:xfrm>
          <a:prstGeom prst="rect">
            <a:avLst/>
          </a:prstGeom>
          <a:noFill/>
        </p:spPr>
        <p:txBody>
          <a:bodyPr wrap="square" lIns="0" rIns="0" tIns="18288" bIns="18288">
            <a:spAutoFit/>
          </a:bodyPr>
          <a:lstStyle/>
          <a:p>
            <a:pPr algn="l">
              <a:lnSpc>
                <a:spcPct val="105000"/>
              </a:lnSpc>
              <a:spcAft>
                <a:spcPts val="400"/>
              </a:spcAft>
            </a:pPr>
            <a:r>
              <a:rPr sz="3600" b="0">
                <a:solidFill>
                  <a:srgbClr val="16312E"/>
                </a:solidFill>
                <a:latin typeface="Courier New"/>
              </a:rPr>
              <a:t>20 parite</a:t>
            </a:r>
          </a:p>
        </p:txBody>
      </p:sp>
      <p:sp>
        <p:nvSpPr>
          <p:cNvPr id="22" name="TextBox 21"/>
          <p:cNvSpPr txBox="1"/>
          <p:nvPr/>
        </p:nvSpPr>
        <p:spPr>
          <a:xfrm>
            <a:off x="804672" y="5513832"/>
            <a:ext cx="4846320" cy="457200"/>
          </a:xfrm>
          <a:prstGeom prst="rect">
            <a:avLst/>
          </a:prstGeom>
          <a:noFill/>
        </p:spPr>
        <p:txBody>
          <a:bodyPr wrap="square" lIns="0" rIns="0" tIns="18288" bIns="18288">
            <a:spAutoFit/>
          </a:bodyPr>
          <a:lstStyle/>
          <a:p>
            <a:pPr algn="l">
              <a:lnSpc>
                <a:spcPct val="105000"/>
              </a:lnSpc>
              <a:spcAft>
                <a:spcPts val="400"/>
              </a:spcAft>
            </a:pPr>
            <a:r>
              <a:rPr sz="2200" b="0">
                <a:solidFill>
                  <a:srgbClr val="4D655D"/>
                </a:solidFill>
                <a:latin typeface="Arial"/>
              </a:rPr>
              <a:t>epizodik hafıza</a:t>
            </a:r>
          </a:p>
        </p:txBody>
      </p:sp>
      <p:sp>
        <p:nvSpPr>
          <p:cNvPr id="23" name="TextBox 22"/>
          <p:cNvSpPr txBox="1"/>
          <p:nvPr/>
        </p:nvSpPr>
        <p:spPr>
          <a:xfrm>
            <a:off x="6455664" y="4736592"/>
            <a:ext cx="4846320" cy="685800"/>
          </a:xfrm>
          <a:prstGeom prst="rect">
            <a:avLst/>
          </a:prstGeom>
          <a:noFill/>
        </p:spPr>
        <p:txBody>
          <a:bodyPr wrap="square" lIns="0" rIns="0" tIns="18288" bIns="18288">
            <a:spAutoFit/>
          </a:bodyPr>
          <a:lstStyle/>
          <a:p>
            <a:pPr algn="l">
              <a:lnSpc>
                <a:spcPct val="105000"/>
              </a:lnSpc>
              <a:spcAft>
                <a:spcPts val="400"/>
              </a:spcAft>
            </a:pPr>
            <a:r>
              <a:rPr sz="3600" b="0">
                <a:solidFill>
                  <a:srgbClr val="16312E"/>
                </a:solidFill>
                <a:latin typeface="Courier New"/>
              </a:rPr>
              <a:t>60 sn</a:t>
            </a:r>
          </a:p>
        </p:txBody>
      </p:sp>
      <p:sp>
        <p:nvSpPr>
          <p:cNvPr id="24" name="TextBox 23"/>
          <p:cNvSpPr txBox="1"/>
          <p:nvPr/>
        </p:nvSpPr>
        <p:spPr>
          <a:xfrm>
            <a:off x="6483096" y="5513832"/>
            <a:ext cx="4846320" cy="457200"/>
          </a:xfrm>
          <a:prstGeom prst="rect">
            <a:avLst/>
          </a:prstGeom>
          <a:noFill/>
        </p:spPr>
        <p:txBody>
          <a:bodyPr wrap="square" lIns="0" rIns="0" tIns="18288" bIns="18288">
            <a:spAutoFit/>
          </a:bodyPr>
          <a:lstStyle/>
          <a:p>
            <a:pPr algn="l">
              <a:lnSpc>
                <a:spcPct val="105000"/>
              </a:lnSpc>
              <a:spcAft>
                <a:spcPts val="400"/>
              </a:spcAft>
            </a:pPr>
            <a:r>
              <a:rPr sz="2200" b="0">
                <a:solidFill>
                  <a:srgbClr val="4D655D"/>
                </a:solidFill>
                <a:latin typeface="Arial"/>
              </a:rPr>
              <a:t>kayıt aralığı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1F23"/>
        </a:solidFill>
        <a:effectLst/>
      </p:bgPr>
    </p:bg>
    <p:spTree>
      <p:nvGrpSpPr>
        <p:cNvPr id="1" name=""/>
        <p:cNvGrpSpPr/>
        <p:nvPr/>
      </p:nvGrpSpPr>
      <p:grpSpPr/>
      <p:sp>
        <p:nvSpPr>
          <p:cNvPr id="2" name="TextBox 1"/>
          <p:cNvSpPr txBox="1"/>
          <p:nvPr/>
        </p:nvSpPr>
        <p:spPr>
          <a:xfrm>
            <a:off x="713232" y="612648"/>
            <a:ext cx="10789920" cy="1024128"/>
          </a:xfrm>
          <a:prstGeom prst="rect">
            <a:avLst/>
          </a:prstGeom>
          <a:noFill/>
        </p:spPr>
        <p:txBody>
          <a:bodyPr wrap="square" lIns="0" rIns="0" tIns="18288" bIns="18288">
            <a:spAutoFit/>
          </a:bodyPr>
          <a:lstStyle/>
          <a:p>
            <a:pPr algn="l">
              <a:lnSpc>
                <a:spcPct val="105000"/>
              </a:lnSpc>
              <a:spcAft>
                <a:spcPts val="400"/>
              </a:spcAft>
            </a:pPr>
            <a:r>
              <a:rPr sz="4000" b="0">
                <a:solidFill>
                  <a:srgbClr val="EEF1E8"/>
                </a:solidFill>
                <a:latin typeface="Georgia"/>
              </a:rPr>
              <a:t>LLM planlar. Sayılar deterministik.</a:t>
            </a:r>
          </a:p>
        </p:txBody>
      </p:sp>
      <p:cxnSp>
        <p:nvCxnSpPr>
          <p:cNvPr id="3" name="Connector 2"/>
          <p:cNvCxnSpPr/>
          <p:nvPr/>
        </p:nvCxnSpPr>
        <p:spPr>
          <a:xfrm>
            <a:off x="713232" y="6345936"/>
            <a:ext cx="10762488" cy="0"/>
          </a:xfrm>
          <a:prstGeom prst="line">
            <a:avLst/>
          </a:prstGeom>
          <a:ln w="8890">
            <a:solidFill>
              <a:srgbClr val="35524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6473952"/>
            <a:ext cx="9966960" cy="228600"/>
          </a:xfrm>
          <a:prstGeom prst="rect">
            <a:avLst/>
          </a:prstGeom>
          <a:noFill/>
        </p:spPr>
        <p:txBody>
          <a:bodyPr wrap="square" lIns="0" rIns="0" tIns="18288" bIns="18288">
            <a:spAutoFit/>
          </a:bodyPr>
          <a:lstStyle/>
          <a:p>
            <a:pPr algn="l">
              <a:lnSpc>
                <a:spcPct val="105000"/>
              </a:lnSpc>
              <a:spcAft>
                <a:spcPts val="400"/>
              </a:spcAft>
            </a:pPr>
            <a:r>
              <a:rPr sz="1100" b="0">
                <a:solidFill>
                  <a:srgbClr val="ADC0BA"/>
                </a:solidFill>
                <a:latin typeface="Arial"/>
              </a:rPr>
              <a:t>Arf   /   OKX Agent Trade Kit × Avalanche   /   17 Ekim 2026</a:t>
            </a:r>
          </a:p>
        </p:txBody>
      </p:sp>
      <p:sp>
        <p:nvSpPr>
          <p:cNvPr id="5" name="TextBox 4"/>
          <p:cNvSpPr txBox="1"/>
          <p:nvPr/>
        </p:nvSpPr>
        <p:spPr>
          <a:xfrm>
            <a:off x="11009376" y="6446520"/>
            <a:ext cx="438912" cy="274320"/>
          </a:xfrm>
          <a:prstGeom prst="rect">
            <a:avLst/>
          </a:prstGeom>
          <a:noFill/>
        </p:spPr>
        <p:txBody>
          <a:bodyPr wrap="square" lIns="0" rIns="0" tIns="18288" bIns="18288">
            <a:spAutoFit/>
          </a:bodyPr>
          <a:lstStyle/>
          <a:p>
            <a:pPr algn="r">
              <a:lnSpc>
                <a:spcPct val="105000"/>
              </a:lnSpc>
              <a:spcAft>
                <a:spcPts val="400"/>
              </a:spcAft>
            </a:pPr>
            <a:r>
              <a:rPr sz="1200" b="0">
                <a:solidFill>
                  <a:srgbClr val="ADC0BA"/>
                </a:solidFill>
                <a:latin typeface="Courier New"/>
              </a:rPr>
              <a:t>05</a:t>
            </a:r>
          </a:p>
        </p:txBody>
      </p:sp>
      <p:cxnSp>
        <p:nvCxnSpPr>
          <p:cNvPr id="6" name="Connector 5"/>
          <p:cNvCxnSpPr/>
          <p:nvPr/>
        </p:nvCxnSpPr>
        <p:spPr>
          <a:xfrm>
            <a:off x="786384" y="2103120"/>
            <a:ext cx="3017520" cy="0"/>
          </a:xfrm>
          <a:prstGeom prst="line">
            <a:avLst/>
          </a:prstGeom>
          <a:ln w="12700">
            <a:solidFill>
              <a:srgbClr val="35524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86384" y="2487168"/>
            <a:ext cx="3063240" cy="685800"/>
          </a:xfrm>
          <a:prstGeom prst="rect">
            <a:avLst/>
          </a:prstGeom>
          <a:noFill/>
        </p:spPr>
        <p:txBody>
          <a:bodyPr wrap="square" lIns="0" rIns="0" tIns="18288" bIns="18288">
            <a:spAutoFit/>
          </a:bodyPr>
          <a:lstStyle/>
          <a:p>
            <a:pPr algn="l">
              <a:lnSpc>
                <a:spcPct val="105000"/>
              </a:lnSpc>
              <a:spcAft>
                <a:spcPts val="400"/>
              </a:spcAft>
            </a:pPr>
            <a:r>
              <a:rPr sz="3600" b="0">
                <a:solidFill>
                  <a:srgbClr val="B5D0BD"/>
                </a:solidFill>
                <a:latin typeface="Georgia"/>
              </a:rPr>
              <a:t>LLM</a:t>
            </a:r>
          </a:p>
        </p:txBody>
      </p:sp>
      <p:sp>
        <p:nvSpPr>
          <p:cNvPr id="8" name="TextBox 7"/>
          <p:cNvSpPr txBox="1"/>
          <p:nvPr/>
        </p:nvSpPr>
        <p:spPr>
          <a:xfrm>
            <a:off x="786384" y="3383280"/>
            <a:ext cx="3017520" cy="1188720"/>
          </a:xfrm>
          <a:prstGeom prst="rect">
            <a:avLst/>
          </a:prstGeom>
          <a:noFill/>
        </p:spPr>
        <p:txBody>
          <a:bodyPr wrap="square" lIns="0" rIns="0" tIns="18288" bIns="18288">
            <a:spAutoFit/>
          </a:bodyPr>
          <a:lstStyle/>
          <a:p>
            <a:pPr algn="l">
              <a:lnSpc>
                <a:spcPct val="105000"/>
              </a:lnSpc>
              <a:spcAft>
                <a:spcPts val="400"/>
              </a:spcAft>
            </a:pPr>
            <a:r>
              <a:rPr sz="2500" b="0">
                <a:solidFill>
                  <a:srgbClr val="EEF1E8"/>
                </a:solidFill>
                <a:latin typeface="Arial"/>
              </a:rPr>
              <a:t>Aracı seçer.</a:t>
            </a:r>
          </a:p>
          <a:p>
            <a:pPr algn="l">
              <a:lnSpc>
                <a:spcPct val="105000"/>
              </a:lnSpc>
              <a:spcAft>
                <a:spcPts val="400"/>
              </a:spcAft>
            </a:pPr>
            <a:r>
              <a:rPr sz="2500" b="0">
                <a:solidFill>
                  <a:srgbClr val="EEF1E8"/>
                </a:solidFill>
                <a:latin typeface="Arial"/>
              </a:rPr>
              <a:t>Kanıtı yorumlar.</a:t>
            </a:r>
          </a:p>
        </p:txBody>
      </p:sp>
      <p:cxnSp>
        <p:nvCxnSpPr>
          <p:cNvPr id="9" name="Connector 8"/>
          <p:cNvCxnSpPr/>
          <p:nvPr/>
        </p:nvCxnSpPr>
        <p:spPr>
          <a:xfrm>
            <a:off x="4617720" y="2103120"/>
            <a:ext cx="3017520" cy="0"/>
          </a:xfrm>
          <a:prstGeom prst="line">
            <a:avLst/>
          </a:prstGeom>
          <a:ln w="12700">
            <a:solidFill>
              <a:srgbClr val="35524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617720" y="2487168"/>
            <a:ext cx="3063240" cy="685800"/>
          </a:xfrm>
          <a:prstGeom prst="rect">
            <a:avLst/>
          </a:prstGeom>
          <a:noFill/>
        </p:spPr>
        <p:txBody>
          <a:bodyPr wrap="square" lIns="0" rIns="0" tIns="18288" bIns="18288">
            <a:spAutoFit/>
          </a:bodyPr>
          <a:lstStyle/>
          <a:p>
            <a:pPr algn="l">
              <a:lnSpc>
                <a:spcPct val="105000"/>
              </a:lnSpc>
              <a:spcAft>
                <a:spcPts val="400"/>
              </a:spcAft>
            </a:pPr>
            <a:r>
              <a:rPr sz="3600" b="0">
                <a:solidFill>
                  <a:srgbClr val="B5D0BD"/>
                </a:solidFill>
                <a:latin typeface="Georgia"/>
              </a:rPr>
              <a:t>Metrikler</a:t>
            </a:r>
          </a:p>
        </p:txBody>
      </p:sp>
      <p:sp>
        <p:nvSpPr>
          <p:cNvPr id="11" name="TextBox 10"/>
          <p:cNvSpPr txBox="1"/>
          <p:nvPr/>
        </p:nvSpPr>
        <p:spPr>
          <a:xfrm>
            <a:off x="4617720" y="3383280"/>
            <a:ext cx="3017520" cy="1188720"/>
          </a:xfrm>
          <a:prstGeom prst="rect">
            <a:avLst/>
          </a:prstGeom>
          <a:noFill/>
        </p:spPr>
        <p:txBody>
          <a:bodyPr wrap="square" lIns="0" rIns="0" tIns="18288" bIns="18288">
            <a:spAutoFit/>
          </a:bodyPr>
          <a:lstStyle/>
          <a:p>
            <a:pPr algn="l">
              <a:lnSpc>
                <a:spcPct val="105000"/>
              </a:lnSpc>
              <a:spcAft>
                <a:spcPts val="400"/>
              </a:spcAft>
            </a:pPr>
            <a:r>
              <a:rPr sz="2500" b="0">
                <a:solidFill>
                  <a:srgbClr val="EEF1E8"/>
                </a:solidFill>
                <a:latin typeface="Arial"/>
              </a:rPr>
              <a:t>Skoru hesaplar.</a:t>
            </a:r>
          </a:p>
          <a:p>
            <a:pPr algn="l">
              <a:lnSpc>
                <a:spcPct val="105000"/>
              </a:lnSpc>
              <a:spcAft>
                <a:spcPts val="400"/>
              </a:spcAft>
            </a:pPr>
            <a:r>
              <a:rPr sz="2500" b="0">
                <a:solidFill>
                  <a:srgbClr val="EEF1E8"/>
                </a:solidFill>
                <a:latin typeface="Arial"/>
              </a:rPr>
              <a:t>Güvenli tutarı bulur.</a:t>
            </a:r>
          </a:p>
        </p:txBody>
      </p:sp>
      <p:cxnSp>
        <p:nvCxnSpPr>
          <p:cNvPr id="12" name="Connector 11"/>
          <p:cNvCxnSpPr/>
          <p:nvPr/>
        </p:nvCxnSpPr>
        <p:spPr>
          <a:xfrm>
            <a:off x="8339327" y="2103120"/>
            <a:ext cx="3017520" cy="0"/>
          </a:xfrm>
          <a:prstGeom prst="line">
            <a:avLst/>
          </a:prstGeom>
          <a:ln w="12700">
            <a:solidFill>
              <a:srgbClr val="35524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39327" y="2487168"/>
            <a:ext cx="3063240" cy="685800"/>
          </a:xfrm>
          <a:prstGeom prst="rect">
            <a:avLst/>
          </a:prstGeom>
          <a:noFill/>
        </p:spPr>
        <p:txBody>
          <a:bodyPr wrap="square" lIns="0" rIns="0" tIns="18288" bIns="18288">
            <a:spAutoFit/>
          </a:bodyPr>
          <a:lstStyle/>
          <a:p>
            <a:pPr algn="l">
              <a:lnSpc>
                <a:spcPct val="105000"/>
              </a:lnSpc>
              <a:spcAft>
                <a:spcPts val="400"/>
              </a:spcAft>
            </a:pPr>
            <a:r>
              <a:rPr sz="3600" b="0">
                <a:solidFill>
                  <a:srgbClr val="B5D0BD"/>
                </a:solidFill>
                <a:latin typeface="Georgia"/>
              </a:rPr>
              <a:t>Kontrat</a:t>
            </a:r>
          </a:p>
        </p:txBody>
      </p:sp>
      <p:sp>
        <p:nvSpPr>
          <p:cNvPr id="14" name="TextBox 13"/>
          <p:cNvSpPr txBox="1"/>
          <p:nvPr/>
        </p:nvSpPr>
        <p:spPr>
          <a:xfrm>
            <a:off x="8339327" y="3383280"/>
            <a:ext cx="3017520" cy="1188720"/>
          </a:xfrm>
          <a:prstGeom prst="rect">
            <a:avLst/>
          </a:prstGeom>
          <a:noFill/>
        </p:spPr>
        <p:txBody>
          <a:bodyPr wrap="square" lIns="0" rIns="0" tIns="18288" bIns="18288">
            <a:spAutoFit/>
          </a:bodyPr>
          <a:lstStyle/>
          <a:p>
            <a:pPr algn="l">
              <a:lnSpc>
                <a:spcPct val="105000"/>
              </a:lnSpc>
              <a:spcAft>
                <a:spcPts val="400"/>
              </a:spcAft>
            </a:pPr>
            <a:r>
              <a:rPr sz="2500" b="0">
                <a:solidFill>
                  <a:srgbClr val="EEF1E8"/>
                </a:solidFill>
                <a:latin typeface="Arial"/>
              </a:rPr>
              <a:t>İmzayı doğrular.</a:t>
            </a:r>
          </a:p>
          <a:p>
            <a:pPr algn="l">
              <a:lnSpc>
                <a:spcPct val="105000"/>
              </a:lnSpc>
              <a:spcAft>
                <a:spcPts val="400"/>
              </a:spcAft>
            </a:pPr>
            <a:r>
              <a:rPr sz="2500" b="0">
                <a:solidFill>
                  <a:srgbClr val="EEF1E8"/>
                </a:solidFill>
                <a:latin typeface="Arial"/>
              </a:rPr>
              <a:t>Sınırı uygular.</a:t>
            </a:r>
          </a:p>
        </p:txBody>
      </p:sp>
      <p:sp>
        <p:nvSpPr>
          <p:cNvPr id="15" name="TextBox 14"/>
          <p:cNvSpPr txBox="1"/>
          <p:nvPr/>
        </p:nvSpPr>
        <p:spPr>
          <a:xfrm>
            <a:off x="822960" y="5138928"/>
            <a:ext cx="10698480" cy="457200"/>
          </a:xfrm>
          <a:prstGeom prst="rect">
            <a:avLst/>
          </a:prstGeom>
          <a:noFill/>
        </p:spPr>
        <p:txBody>
          <a:bodyPr wrap="square" lIns="0" rIns="0" tIns="18288" bIns="18288">
            <a:spAutoFit/>
          </a:bodyPr>
          <a:lstStyle/>
          <a:p>
            <a:pPr algn="l">
              <a:lnSpc>
                <a:spcPct val="105000"/>
              </a:lnSpc>
              <a:spcAft>
                <a:spcPts val="400"/>
              </a:spcAft>
            </a:pPr>
            <a:r>
              <a:rPr sz="2300" b="0">
                <a:solidFill>
                  <a:srgbClr val="B5D0BD"/>
                </a:solidFill>
                <a:latin typeface="Arial"/>
              </a:rPr>
              <a:t>Anthropic   /   Gemini   /   deterministik yedek</a:t>
            </a:r>
          </a:p>
        </p:txBody>
      </p:sp>
      <p:sp>
        <p:nvSpPr>
          <p:cNvPr id="16" name="TextBox 15"/>
          <p:cNvSpPr txBox="1"/>
          <p:nvPr/>
        </p:nvSpPr>
        <p:spPr>
          <a:xfrm>
            <a:off x="822960" y="5824728"/>
            <a:ext cx="10515600" cy="320040"/>
          </a:xfrm>
          <a:prstGeom prst="rect">
            <a:avLst/>
          </a:prstGeom>
          <a:noFill/>
        </p:spPr>
        <p:txBody>
          <a:bodyPr wrap="square" lIns="0" rIns="0" tIns="18288" bIns="18288">
            <a:spAutoFit/>
          </a:bodyPr>
          <a:lstStyle/>
          <a:p>
            <a:pPr algn="l">
              <a:lnSpc>
                <a:spcPct val="105000"/>
              </a:lnSpc>
              <a:spcAft>
                <a:spcPts val="400"/>
              </a:spcAft>
            </a:pPr>
            <a:r>
              <a:rPr sz="1700" b="0">
                <a:solidFill>
                  <a:srgbClr val="ADC0BA"/>
                </a:solidFill>
                <a:latin typeface="Arial"/>
              </a:rPr>
              <a:t>Sınır: LLM karar etiketi zincirde imzalanmıyor.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BDF"/>
        </a:solidFill>
        <a:effectLst/>
      </p:bgPr>
    </p:bg>
    <p:spTree>
      <p:nvGrpSpPr>
        <p:cNvPr id="1" name=""/>
        <p:cNvGrpSpPr/>
        <p:nvPr/>
      </p:nvGrpSpPr>
      <p:grpSpPr/>
      <p:sp>
        <p:nvSpPr>
          <p:cNvPr id="2" name="TextBox 1"/>
          <p:cNvSpPr txBox="1"/>
          <p:nvPr/>
        </p:nvSpPr>
        <p:spPr>
          <a:xfrm>
            <a:off x="713232" y="612648"/>
            <a:ext cx="10789920" cy="1024128"/>
          </a:xfrm>
          <a:prstGeom prst="rect">
            <a:avLst/>
          </a:prstGeom>
          <a:noFill/>
        </p:spPr>
        <p:txBody>
          <a:bodyPr wrap="square" lIns="0" rIns="0" tIns="18288" bIns="18288">
            <a:spAutoFit/>
          </a:bodyPr>
          <a:lstStyle/>
          <a:p>
            <a:pPr algn="l">
              <a:lnSpc>
                <a:spcPct val="105000"/>
              </a:lnSpc>
              <a:spcAft>
                <a:spcPts val="400"/>
              </a:spcAft>
            </a:pPr>
            <a:r>
              <a:rPr sz="4000" b="0">
                <a:solidFill>
                  <a:srgbClr val="16312E"/>
                </a:solidFill>
                <a:latin typeface="Georgia"/>
              </a:rPr>
              <a:t>Üç sahnede çalışan sistem.</a:t>
            </a:r>
          </a:p>
        </p:txBody>
      </p:sp>
      <p:cxnSp>
        <p:nvCxnSpPr>
          <p:cNvPr id="3" name="Connector 2"/>
          <p:cNvCxnSpPr/>
          <p:nvPr/>
        </p:nvCxnSpPr>
        <p:spPr>
          <a:xfrm>
            <a:off x="713232" y="6345936"/>
            <a:ext cx="10762488" cy="0"/>
          </a:xfrm>
          <a:prstGeom prst="line">
            <a:avLst/>
          </a:prstGeom>
          <a:ln w="8890">
            <a:solidFill>
              <a:srgbClr val="4D655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6473952"/>
            <a:ext cx="9966960" cy="228600"/>
          </a:xfrm>
          <a:prstGeom prst="rect">
            <a:avLst/>
          </a:prstGeom>
          <a:noFill/>
        </p:spPr>
        <p:txBody>
          <a:bodyPr wrap="square" lIns="0" rIns="0" tIns="18288" bIns="18288">
            <a:spAutoFit/>
          </a:bodyPr>
          <a:lstStyle/>
          <a:p>
            <a:pPr algn="l">
              <a:lnSpc>
                <a:spcPct val="105000"/>
              </a:lnSpc>
              <a:spcAft>
                <a:spcPts val="400"/>
              </a:spcAft>
            </a:pPr>
            <a:r>
              <a:rPr sz="1100" b="0">
                <a:solidFill>
                  <a:srgbClr val="4D655D"/>
                </a:solidFill>
                <a:latin typeface="Arial"/>
              </a:rPr>
              <a:t>Arf   /   OKX Agent Trade Kit × Avalanche   /   17 Ekim 2026</a:t>
            </a:r>
          </a:p>
        </p:txBody>
      </p:sp>
      <p:sp>
        <p:nvSpPr>
          <p:cNvPr id="5" name="TextBox 4"/>
          <p:cNvSpPr txBox="1"/>
          <p:nvPr/>
        </p:nvSpPr>
        <p:spPr>
          <a:xfrm>
            <a:off x="11009376" y="6446520"/>
            <a:ext cx="438912" cy="274320"/>
          </a:xfrm>
          <a:prstGeom prst="rect">
            <a:avLst/>
          </a:prstGeom>
          <a:noFill/>
        </p:spPr>
        <p:txBody>
          <a:bodyPr wrap="square" lIns="0" rIns="0" tIns="18288" bIns="18288">
            <a:spAutoFit/>
          </a:bodyPr>
          <a:lstStyle/>
          <a:p>
            <a:pPr algn="r">
              <a:lnSpc>
                <a:spcPct val="105000"/>
              </a:lnSpc>
              <a:spcAft>
                <a:spcPts val="400"/>
              </a:spcAft>
            </a:pPr>
            <a:r>
              <a:rPr sz="1200" b="0">
                <a:solidFill>
                  <a:srgbClr val="4D655D"/>
                </a:solidFill>
                <a:latin typeface="Courier New"/>
              </a:rPr>
              <a:t>06</a:t>
            </a:r>
          </a:p>
        </p:txBody>
      </p:sp>
      <p:sp>
        <p:nvSpPr>
          <p:cNvPr id="6" name="TextBox 5"/>
          <p:cNvSpPr txBox="1"/>
          <p:nvPr/>
        </p:nvSpPr>
        <p:spPr>
          <a:xfrm>
            <a:off x="795528" y="1874519"/>
            <a:ext cx="3017520" cy="365760"/>
          </a:xfrm>
          <a:prstGeom prst="rect">
            <a:avLst/>
          </a:prstGeom>
          <a:noFill/>
        </p:spPr>
        <p:txBody>
          <a:bodyPr wrap="square" lIns="0" rIns="0" tIns="18288" bIns="18288">
            <a:spAutoFit/>
          </a:bodyPr>
          <a:lstStyle/>
          <a:p>
            <a:pPr algn="l">
              <a:lnSpc>
                <a:spcPct val="105000"/>
              </a:lnSpc>
              <a:spcAft>
                <a:spcPts val="400"/>
              </a:spcAft>
            </a:pPr>
            <a:r>
              <a:rPr sz="1800" b="0">
                <a:solidFill>
                  <a:srgbClr val="4D655D"/>
                </a:solidFill>
                <a:latin typeface="Courier New"/>
              </a:rPr>
              <a:t>01</a:t>
            </a:r>
          </a:p>
        </p:txBody>
      </p:sp>
      <p:cxnSp>
        <p:nvCxnSpPr>
          <p:cNvPr id="7" name="Connector 6"/>
          <p:cNvCxnSpPr/>
          <p:nvPr/>
        </p:nvCxnSpPr>
        <p:spPr>
          <a:xfrm>
            <a:off x="795528" y="2414016"/>
            <a:ext cx="2971800" cy="0"/>
          </a:xfrm>
          <a:prstGeom prst="line">
            <a:avLst/>
          </a:prstGeom>
          <a:ln w="12700">
            <a:solidFill>
              <a:srgbClr val="B7C5B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95528" y="2697480"/>
            <a:ext cx="3108960" cy="685800"/>
          </a:xfrm>
          <a:prstGeom prst="rect">
            <a:avLst/>
          </a:prstGeom>
          <a:noFill/>
        </p:spPr>
        <p:txBody>
          <a:bodyPr wrap="square" lIns="0" rIns="0" tIns="18288" bIns="18288">
            <a:spAutoFit/>
          </a:bodyPr>
          <a:lstStyle/>
          <a:p>
            <a:pPr algn="l">
              <a:lnSpc>
                <a:spcPct val="105000"/>
              </a:lnSpc>
              <a:spcAft>
                <a:spcPts val="400"/>
              </a:spcAft>
            </a:pPr>
            <a:r>
              <a:rPr sz="2900" b="0">
                <a:solidFill>
                  <a:srgbClr val="16312E"/>
                </a:solidFill>
                <a:latin typeface="Arial"/>
              </a:rPr>
              <a:t>1.000 USDT</a:t>
            </a:r>
          </a:p>
        </p:txBody>
      </p:sp>
      <p:sp>
        <p:nvSpPr>
          <p:cNvPr id="9" name="TextBox 8"/>
          <p:cNvSpPr txBox="1"/>
          <p:nvPr/>
        </p:nvSpPr>
        <p:spPr>
          <a:xfrm>
            <a:off x="795528" y="3675887"/>
            <a:ext cx="3108960" cy="603504"/>
          </a:xfrm>
          <a:prstGeom prst="rect">
            <a:avLst/>
          </a:prstGeom>
          <a:noFill/>
        </p:spPr>
        <p:txBody>
          <a:bodyPr wrap="square" lIns="0" rIns="0" tIns="18288" bIns="18288">
            <a:spAutoFit/>
          </a:bodyPr>
          <a:lstStyle/>
          <a:p>
            <a:pPr algn="l">
              <a:lnSpc>
                <a:spcPct val="105000"/>
              </a:lnSpc>
              <a:spcAft>
                <a:spcPts val="400"/>
              </a:spcAft>
            </a:pPr>
            <a:r>
              <a:rPr sz="2700" b="1">
                <a:solidFill>
                  <a:srgbClr val="2BB673"/>
                </a:solidFill>
                <a:latin typeface="Arial"/>
              </a:rPr>
              <a:t>ONAY</a:t>
            </a:r>
          </a:p>
        </p:txBody>
      </p:sp>
      <p:sp>
        <p:nvSpPr>
          <p:cNvPr id="10" name="TextBox 9"/>
          <p:cNvSpPr txBox="1"/>
          <p:nvPr/>
        </p:nvSpPr>
        <p:spPr>
          <a:xfrm>
            <a:off x="795528" y="4553712"/>
            <a:ext cx="3108960" cy="960120"/>
          </a:xfrm>
          <a:prstGeom prst="rect">
            <a:avLst/>
          </a:prstGeom>
          <a:noFill/>
        </p:spPr>
        <p:txBody>
          <a:bodyPr wrap="square" lIns="0" rIns="0" tIns="18288" bIns="18288">
            <a:spAutoFit/>
          </a:bodyPr>
          <a:lstStyle/>
          <a:p>
            <a:pPr algn="l">
              <a:lnSpc>
                <a:spcPct val="105000"/>
              </a:lnSpc>
              <a:spcAft>
                <a:spcPts val="400"/>
              </a:spcAft>
            </a:pPr>
            <a:r>
              <a:rPr sz="2200" b="0">
                <a:solidFill>
                  <a:srgbClr val="16312E"/>
                </a:solidFill>
                <a:latin typeface="Arial"/>
              </a:rPr>
              <a:t>Tahta uygunsa</a:t>
            </a:r>
          </a:p>
          <a:p>
            <a:pPr algn="l">
              <a:lnSpc>
                <a:spcPct val="105000"/>
              </a:lnSpc>
              <a:spcAft>
                <a:spcPts val="400"/>
              </a:spcAft>
            </a:pPr>
            <a:r>
              <a:rPr sz="2200" b="0">
                <a:solidFill>
                  <a:srgbClr val="16312E"/>
                </a:solidFill>
                <a:latin typeface="Arial"/>
              </a:rPr>
              <a:t>imzalı kontrol</a:t>
            </a:r>
          </a:p>
        </p:txBody>
      </p:sp>
      <p:sp>
        <p:nvSpPr>
          <p:cNvPr id="11" name="TextBox 10"/>
          <p:cNvSpPr txBox="1"/>
          <p:nvPr/>
        </p:nvSpPr>
        <p:spPr>
          <a:xfrm>
            <a:off x="4626864" y="1874519"/>
            <a:ext cx="3017520" cy="365760"/>
          </a:xfrm>
          <a:prstGeom prst="rect">
            <a:avLst/>
          </a:prstGeom>
          <a:noFill/>
        </p:spPr>
        <p:txBody>
          <a:bodyPr wrap="square" lIns="0" rIns="0" tIns="18288" bIns="18288">
            <a:spAutoFit/>
          </a:bodyPr>
          <a:lstStyle/>
          <a:p>
            <a:pPr algn="l">
              <a:lnSpc>
                <a:spcPct val="105000"/>
              </a:lnSpc>
              <a:spcAft>
                <a:spcPts val="400"/>
              </a:spcAft>
            </a:pPr>
            <a:r>
              <a:rPr sz="1800" b="0">
                <a:solidFill>
                  <a:srgbClr val="4D655D"/>
                </a:solidFill>
                <a:latin typeface="Courier New"/>
              </a:rPr>
              <a:t>02</a:t>
            </a:r>
          </a:p>
        </p:txBody>
      </p:sp>
      <p:cxnSp>
        <p:nvCxnSpPr>
          <p:cNvPr id="12" name="Connector 11"/>
          <p:cNvCxnSpPr/>
          <p:nvPr/>
        </p:nvCxnSpPr>
        <p:spPr>
          <a:xfrm>
            <a:off x="4626864" y="2414016"/>
            <a:ext cx="2971799" cy="0"/>
          </a:xfrm>
          <a:prstGeom prst="line">
            <a:avLst/>
          </a:prstGeom>
          <a:ln w="12700">
            <a:solidFill>
              <a:srgbClr val="B7C5B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26864" y="2697480"/>
            <a:ext cx="3108960" cy="685800"/>
          </a:xfrm>
          <a:prstGeom prst="rect">
            <a:avLst/>
          </a:prstGeom>
          <a:noFill/>
        </p:spPr>
        <p:txBody>
          <a:bodyPr wrap="square" lIns="0" rIns="0" tIns="18288" bIns="18288">
            <a:spAutoFit/>
          </a:bodyPr>
          <a:lstStyle/>
          <a:p>
            <a:pPr algn="l">
              <a:lnSpc>
                <a:spcPct val="105000"/>
              </a:lnSpc>
              <a:spcAft>
                <a:spcPts val="400"/>
              </a:spcAft>
            </a:pPr>
            <a:r>
              <a:rPr sz="2900" b="0">
                <a:solidFill>
                  <a:srgbClr val="16312E"/>
                </a:solidFill>
                <a:latin typeface="Arial"/>
              </a:rPr>
              <a:t>10.000 USDT</a:t>
            </a:r>
          </a:p>
        </p:txBody>
      </p:sp>
      <p:sp>
        <p:nvSpPr>
          <p:cNvPr id="14" name="TextBox 13"/>
          <p:cNvSpPr txBox="1"/>
          <p:nvPr/>
        </p:nvSpPr>
        <p:spPr>
          <a:xfrm>
            <a:off x="4626864" y="3675887"/>
            <a:ext cx="3108960" cy="603504"/>
          </a:xfrm>
          <a:prstGeom prst="rect">
            <a:avLst/>
          </a:prstGeom>
          <a:noFill/>
        </p:spPr>
        <p:txBody>
          <a:bodyPr wrap="square" lIns="0" rIns="0" tIns="18288" bIns="18288">
            <a:spAutoFit/>
          </a:bodyPr>
          <a:lstStyle/>
          <a:p>
            <a:pPr algn="l">
              <a:lnSpc>
                <a:spcPct val="105000"/>
              </a:lnSpc>
              <a:spcAft>
                <a:spcPts val="400"/>
              </a:spcAft>
            </a:pPr>
            <a:r>
              <a:rPr sz="2700" b="1">
                <a:solidFill>
                  <a:srgbClr val="B17C17"/>
                </a:solidFill>
                <a:latin typeface="Arial"/>
              </a:rPr>
              <a:t>BÖL</a:t>
            </a:r>
          </a:p>
        </p:txBody>
      </p:sp>
      <p:sp>
        <p:nvSpPr>
          <p:cNvPr id="15" name="TextBox 14"/>
          <p:cNvSpPr txBox="1"/>
          <p:nvPr/>
        </p:nvSpPr>
        <p:spPr>
          <a:xfrm>
            <a:off x="4626864" y="4553712"/>
            <a:ext cx="3108960" cy="960120"/>
          </a:xfrm>
          <a:prstGeom prst="rect">
            <a:avLst/>
          </a:prstGeom>
          <a:noFill/>
        </p:spPr>
        <p:txBody>
          <a:bodyPr wrap="square" lIns="0" rIns="0" tIns="18288" bIns="18288">
            <a:spAutoFit/>
          </a:bodyPr>
          <a:lstStyle/>
          <a:p>
            <a:pPr algn="l">
              <a:lnSpc>
                <a:spcPct val="105000"/>
              </a:lnSpc>
              <a:spcAft>
                <a:spcPts val="400"/>
              </a:spcAft>
            </a:pPr>
            <a:r>
              <a:rPr sz="2200" b="0">
                <a:solidFill>
                  <a:srgbClr val="16312E"/>
                </a:solidFill>
                <a:latin typeface="Arial"/>
              </a:rPr>
              <a:t>ExceedsSafeSize</a:t>
            </a:r>
          </a:p>
          <a:p>
            <a:pPr algn="l">
              <a:lnSpc>
                <a:spcPct val="105000"/>
              </a:lnSpc>
              <a:spcAft>
                <a:spcPts val="400"/>
              </a:spcAft>
            </a:pPr>
            <a:r>
              <a:rPr sz="2200" b="0">
                <a:solidFill>
                  <a:srgbClr val="16312E"/>
                </a:solidFill>
                <a:latin typeface="Arial"/>
              </a:rPr>
              <a:t>N parçaya böl</a:t>
            </a:r>
          </a:p>
        </p:txBody>
      </p:sp>
      <p:sp>
        <p:nvSpPr>
          <p:cNvPr id="16" name="TextBox 15"/>
          <p:cNvSpPr txBox="1"/>
          <p:nvPr/>
        </p:nvSpPr>
        <p:spPr>
          <a:xfrm>
            <a:off x="8293608" y="1874519"/>
            <a:ext cx="3017520" cy="365760"/>
          </a:xfrm>
          <a:prstGeom prst="rect">
            <a:avLst/>
          </a:prstGeom>
          <a:noFill/>
        </p:spPr>
        <p:txBody>
          <a:bodyPr wrap="square" lIns="0" rIns="0" tIns="18288" bIns="18288">
            <a:spAutoFit/>
          </a:bodyPr>
          <a:lstStyle/>
          <a:p>
            <a:pPr algn="l">
              <a:lnSpc>
                <a:spcPct val="105000"/>
              </a:lnSpc>
              <a:spcAft>
                <a:spcPts val="400"/>
              </a:spcAft>
            </a:pPr>
            <a:r>
              <a:rPr sz="1800" b="0">
                <a:solidFill>
                  <a:srgbClr val="4D655D"/>
                </a:solidFill>
                <a:latin typeface="Courier New"/>
              </a:rPr>
              <a:t>03</a:t>
            </a:r>
          </a:p>
        </p:txBody>
      </p:sp>
      <p:cxnSp>
        <p:nvCxnSpPr>
          <p:cNvPr id="17" name="Connector 16"/>
          <p:cNvCxnSpPr/>
          <p:nvPr/>
        </p:nvCxnSpPr>
        <p:spPr>
          <a:xfrm>
            <a:off x="8293608" y="2414016"/>
            <a:ext cx="2971800" cy="0"/>
          </a:xfrm>
          <a:prstGeom prst="line">
            <a:avLst/>
          </a:prstGeom>
          <a:ln w="12700">
            <a:solidFill>
              <a:srgbClr val="B7C5B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93608" y="2697480"/>
            <a:ext cx="3108960" cy="685800"/>
          </a:xfrm>
          <a:prstGeom prst="rect">
            <a:avLst/>
          </a:prstGeom>
          <a:noFill/>
        </p:spPr>
        <p:txBody>
          <a:bodyPr wrap="square" lIns="0" rIns="0" tIns="18288" bIns="18288">
            <a:spAutoFit/>
          </a:bodyPr>
          <a:lstStyle/>
          <a:p>
            <a:pPr algn="l">
              <a:lnSpc>
                <a:spcPct val="105000"/>
              </a:lnSpc>
              <a:spcAft>
                <a:spcPts val="400"/>
              </a:spcAft>
            </a:pPr>
            <a:r>
              <a:rPr sz="2900" b="0">
                <a:solidFill>
                  <a:srgbClr val="16312E"/>
                </a:solidFill>
                <a:latin typeface="Arial"/>
              </a:rPr>
              <a:t>Veri yok</a:t>
            </a:r>
          </a:p>
        </p:txBody>
      </p:sp>
      <p:sp>
        <p:nvSpPr>
          <p:cNvPr id="19" name="TextBox 18"/>
          <p:cNvSpPr txBox="1"/>
          <p:nvPr/>
        </p:nvSpPr>
        <p:spPr>
          <a:xfrm>
            <a:off x="8293608" y="3675887"/>
            <a:ext cx="3108960" cy="603504"/>
          </a:xfrm>
          <a:prstGeom prst="rect">
            <a:avLst/>
          </a:prstGeom>
          <a:noFill/>
        </p:spPr>
        <p:txBody>
          <a:bodyPr wrap="square" lIns="0" rIns="0" tIns="18288" bIns="18288">
            <a:spAutoFit/>
          </a:bodyPr>
          <a:lstStyle/>
          <a:p>
            <a:pPr algn="l">
              <a:lnSpc>
                <a:spcPct val="105000"/>
              </a:lnSpc>
              <a:spcAft>
                <a:spcPts val="400"/>
              </a:spcAft>
            </a:pPr>
            <a:r>
              <a:rPr sz="2700" b="1">
                <a:solidFill>
                  <a:srgbClr val="BF4746"/>
                </a:solidFill>
                <a:latin typeface="Arial"/>
              </a:rPr>
              <a:t>İMZA YOK</a:t>
            </a:r>
          </a:p>
        </p:txBody>
      </p:sp>
      <p:sp>
        <p:nvSpPr>
          <p:cNvPr id="20" name="TextBox 19"/>
          <p:cNvSpPr txBox="1"/>
          <p:nvPr/>
        </p:nvSpPr>
        <p:spPr>
          <a:xfrm>
            <a:off x="8293608" y="4553712"/>
            <a:ext cx="3108960" cy="960120"/>
          </a:xfrm>
          <a:prstGeom prst="rect">
            <a:avLst/>
          </a:prstGeom>
          <a:noFill/>
        </p:spPr>
        <p:txBody>
          <a:bodyPr wrap="square" lIns="0" rIns="0" tIns="18288" bIns="18288">
            <a:spAutoFit/>
          </a:bodyPr>
          <a:lstStyle/>
          <a:p>
            <a:pPr algn="l">
              <a:lnSpc>
                <a:spcPct val="105000"/>
              </a:lnSpc>
              <a:spcAft>
                <a:spcPts val="400"/>
              </a:spcAft>
            </a:pPr>
            <a:r>
              <a:rPr sz="2200" b="0">
                <a:solidFill>
                  <a:srgbClr val="16312E"/>
                </a:solidFill>
                <a:latin typeface="Arial"/>
              </a:rPr>
              <a:t>SİMÜLASYON</a:t>
            </a:r>
          </a:p>
          <a:p>
            <a:pPr algn="l">
              <a:lnSpc>
                <a:spcPct val="105000"/>
              </a:lnSpc>
              <a:spcAft>
                <a:spcPts val="400"/>
              </a:spcAft>
            </a:pPr>
            <a:r>
              <a:rPr sz="2200" b="0">
                <a:solidFill>
                  <a:srgbClr val="16312E"/>
                </a:solidFill>
                <a:latin typeface="Arial"/>
              </a:rPr>
              <a:t>BadSigner</a:t>
            </a:r>
          </a:p>
        </p:txBody>
      </p:sp>
      <p:sp>
        <p:nvSpPr>
          <p:cNvPr id="21" name="TextBox 20"/>
          <p:cNvSpPr txBox="1"/>
          <p:nvPr/>
        </p:nvSpPr>
        <p:spPr>
          <a:xfrm>
            <a:off x="822960" y="5879592"/>
            <a:ext cx="10607040" cy="347472"/>
          </a:xfrm>
          <a:prstGeom prst="rect">
            <a:avLst/>
          </a:prstGeom>
          <a:noFill/>
        </p:spPr>
        <p:txBody>
          <a:bodyPr wrap="square" lIns="0" rIns="0" tIns="18288" bIns="18288">
            <a:spAutoFit/>
          </a:bodyPr>
          <a:lstStyle/>
          <a:p>
            <a:pPr algn="l">
              <a:lnSpc>
                <a:spcPct val="105000"/>
              </a:lnSpc>
              <a:spcAft>
                <a:spcPts val="400"/>
              </a:spcAft>
            </a:pPr>
            <a:r>
              <a:rPr sz="2000" b="0">
                <a:solidFill>
                  <a:srgbClr val="4D655D"/>
                </a:solidFill>
                <a:latin typeface="Arial"/>
                <a:hlinkClick r:id="rId3"/>
              </a:rPr>
              <a:t>Yerelde canlı demo. İnternette kayıtlı simülasyon.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F23"/>
        </a:solidFill>
        <a:effectLst/>
      </p:bgPr>
    </p:bg>
    <p:spTree>
      <p:nvGrpSpPr>
        <p:cNvPr id="1" name=""/>
        <p:cNvGrpSpPr/>
        <p:nvPr/>
      </p:nvGrpSpPr>
      <p:grpSpPr/>
      <p:sp>
        <p:nvSpPr>
          <p:cNvPr id="2" name="TextBox 1"/>
          <p:cNvSpPr txBox="1"/>
          <p:nvPr/>
        </p:nvSpPr>
        <p:spPr>
          <a:xfrm>
            <a:off x="713232" y="612648"/>
            <a:ext cx="10789920" cy="1024128"/>
          </a:xfrm>
          <a:prstGeom prst="rect">
            <a:avLst/>
          </a:prstGeom>
          <a:noFill/>
        </p:spPr>
        <p:txBody>
          <a:bodyPr wrap="square" lIns="0" rIns="0" tIns="18288" bIns="18288">
            <a:spAutoFit/>
          </a:bodyPr>
          <a:lstStyle/>
          <a:p>
            <a:pPr algn="l">
              <a:lnSpc>
                <a:spcPct val="105000"/>
              </a:lnSpc>
              <a:spcAft>
                <a:spcPts val="400"/>
              </a:spcAft>
            </a:pPr>
            <a:r>
              <a:rPr sz="4000" b="0">
                <a:solidFill>
                  <a:srgbClr val="EEF1E8"/>
                </a:solidFill>
                <a:latin typeface="Georgia"/>
              </a:rPr>
              <a:t>Veri bozulursa imza yok.</a:t>
            </a:r>
          </a:p>
        </p:txBody>
      </p:sp>
      <p:cxnSp>
        <p:nvCxnSpPr>
          <p:cNvPr id="3" name="Connector 2"/>
          <p:cNvCxnSpPr/>
          <p:nvPr/>
        </p:nvCxnSpPr>
        <p:spPr>
          <a:xfrm>
            <a:off x="713232" y="6345936"/>
            <a:ext cx="10762488" cy="0"/>
          </a:xfrm>
          <a:prstGeom prst="line">
            <a:avLst/>
          </a:prstGeom>
          <a:ln w="8890">
            <a:solidFill>
              <a:srgbClr val="35524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6473952"/>
            <a:ext cx="9966960" cy="228600"/>
          </a:xfrm>
          <a:prstGeom prst="rect">
            <a:avLst/>
          </a:prstGeom>
          <a:noFill/>
        </p:spPr>
        <p:txBody>
          <a:bodyPr wrap="square" lIns="0" rIns="0" tIns="18288" bIns="18288">
            <a:spAutoFit/>
          </a:bodyPr>
          <a:lstStyle/>
          <a:p>
            <a:pPr algn="l">
              <a:lnSpc>
                <a:spcPct val="105000"/>
              </a:lnSpc>
              <a:spcAft>
                <a:spcPts val="400"/>
              </a:spcAft>
            </a:pPr>
            <a:r>
              <a:rPr sz="1100" b="0">
                <a:solidFill>
                  <a:srgbClr val="ADC0BA"/>
                </a:solidFill>
                <a:latin typeface="Arial"/>
              </a:rPr>
              <a:t>Arf   /   OKX Agent Trade Kit × Avalanche   /   17 Ekim 2026</a:t>
            </a:r>
          </a:p>
        </p:txBody>
      </p:sp>
      <p:sp>
        <p:nvSpPr>
          <p:cNvPr id="5" name="TextBox 4"/>
          <p:cNvSpPr txBox="1"/>
          <p:nvPr/>
        </p:nvSpPr>
        <p:spPr>
          <a:xfrm>
            <a:off x="11009376" y="6446520"/>
            <a:ext cx="438912" cy="274320"/>
          </a:xfrm>
          <a:prstGeom prst="rect">
            <a:avLst/>
          </a:prstGeom>
          <a:noFill/>
        </p:spPr>
        <p:txBody>
          <a:bodyPr wrap="square" lIns="0" rIns="0" tIns="18288" bIns="18288">
            <a:spAutoFit/>
          </a:bodyPr>
          <a:lstStyle/>
          <a:p>
            <a:pPr algn="r">
              <a:lnSpc>
                <a:spcPct val="105000"/>
              </a:lnSpc>
              <a:spcAft>
                <a:spcPts val="400"/>
              </a:spcAft>
            </a:pPr>
            <a:r>
              <a:rPr sz="1200" b="0">
                <a:solidFill>
                  <a:srgbClr val="ADC0BA"/>
                </a:solidFill>
                <a:latin typeface="Courier New"/>
              </a:rPr>
              <a:t>07</a:t>
            </a:r>
          </a:p>
        </p:txBody>
      </p:sp>
      <p:cxnSp>
        <p:nvCxnSpPr>
          <p:cNvPr id="6" name="Connector 5"/>
          <p:cNvCxnSpPr/>
          <p:nvPr/>
        </p:nvCxnSpPr>
        <p:spPr>
          <a:xfrm>
            <a:off x="795528" y="2404872"/>
            <a:ext cx="10570464" cy="0"/>
          </a:xfrm>
          <a:prstGeom prst="line">
            <a:avLst/>
          </a:prstGeom>
          <a:ln w="8890">
            <a:solidFill>
              <a:srgbClr val="35524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1847088"/>
            <a:ext cx="4023360" cy="484632"/>
          </a:xfrm>
          <a:prstGeom prst="rect">
            <a:avLst/>
          </a:prstGeom>
          <a:noFill/>
        </p:spPr>
        <p:txBody>
          <a:bodyPr wrap="square" lIns="0" rIns="0" tIns="18288" bIns="18288">
            <a:spAutoFit/>
          </a:bodyPr>
          <a:lstStyle/>
          <a:p>
            <a:pPr algn="l">
              <a:lnSpc>
                <a:spcPct val="105000"/>
              </a:lnSpc>
              <a:spcAft>
                <a:spcPts val="400"/>
              </a:spcAft>
            </a:pPr>
            <a:r>
              <a:rPr sz="2400" b="0">
                <a:solidFill>
                  <a:srgbClr val="ADC0BA"/>
                </a:solidFill>
                <a:latin typeface="Arial"/>
              </a:rPr>
              <a:t>Veri kesintisi</a:t>
            </a:r>
          </a:p>
        </p:txBody>
      </p:sp>
      <p:sp>
        <p:nvSpPr>
          <p:cNvPr id="8" name="TextBox 7"/>
          <p:cNvSpPr txBox="1"/>
          <p:nvPr/>
        </p:nvSpPr>
        <p:spPr>
          <a:xfrm>
            <a:off x="4956048" y="1847088"/>
            <a:ext cx="6400800" cy="512064"/>
          </a:xfrm>
          <a:prstGeom prst="rect">
            <a:avLst/>
          </a:prstGeom>
          <a:noFill/>
        </p:spPr>
        <p:txBody>
          <a:bodyPr wrap="square" lIns="0" rIns="0" tIns="18288" bIns="18288">
            <a:spAutoFit/>
          </a:bodyPr>
          <a:lstStyle/>
          <a:p>
            <a:pPr algn="l">
              <a:lnSpc>
                <a:spcPct val="105000"/>
              </a:lnSpc>
              <a:spcAft>
                <a:spcPts val="400"/>
              </a:spcAft>
            </a:pPr>
            <a:r>
              <a:rPr sz="2300" b="0">
                <a:solidFill>
                  <a:srgbClr val="EEF1E8"/>
                </a:solidFill>
                <a:latin typeface="Arial"/>
              </a:rPr>
              <a:t>İmza üretilmez</a:t>
            </a:r>
          </a:p>
        </p:txBody>
      </p:sp>
      <p:cxnSp>
        <p:nvCxnSpPr>
          <p:cNvPr id="9" name="Connector 8"/>
          <p:cNvCxnSpPr/>
          <p:nvPr/>
        </p:nvCxnSpPr>
        <p:spPr>
          <a:xfrm>
            <a:off x="795528" y="3127248"/>
            <a:ext cx="10570464" cy="0"/>
          </a:xfrm>
          <a:prstGeom prst="line">
            <a:avLst/>
          </a:prstGeom>
          <a:ln w="8890">
            <a:solidFill>
              <a:srgbClr val="35524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569464"/>
            <a:ext cx="4023360" cy="484632"/>
          </a:xfrm>
          <a:prstGeom prst="rect">
            <a:avLst/>
          </a:prstGeom>
          <a:noFill/>
        </p:spPr>
        <p:txBody>
          <a:bodyPr wrap="square" lIns="0" rIns="0" tIns="18288" bIns="18288">
            <a:spAutoFit/>
          </a:bodyPr>
          <a:lstStyle/>
          <a:p>
            <a:pPr algn="l">
              <a:lnSpc>
                <a:spcPct val="105000"/>
              </a:lnSpc>
              <a:spcAft>
                <a:spcPts val="400"/>
              </a:spcAft>
            </a:pPr>
            <a:r>
              <a:rPr sz="2400" b="0">
                <a:solidFill>
                  <a:srgbClr val="ADC0BA"/>
                </a:solidFill>
                <a:latin typeface="Arial"/>
              </a:rPr>
              <a:t>Yetkisiz imza</a:t>
            </a:r>
          </a:p>
        </p:txBody>
      </p:sp>
      <p:sp>
        <p:nvSpPr>
          <p:cNvPr id="11" name="TextBox 10"/>
          <p:cNvSpPr txBox="1"/>
          <p:nvPr/>
        </p:nvSpPr>
        <p:spPr>
          <a:xfrm>
            <a:off x="4956048" y="2569464"/>
            <a:ext cx="6400800" cy="512064"/>
          </a:xfrm>
          <a:prstGeom prst="rect">
            <a:avLst/>
          </a:prstGeom>
          <a:noFill/>
        </p:spPr>
        <p:txBody>
          <a:bodyPr wrap="square" lIns="0" rIns="0" tIns="18288" bIns="18288">
            <a:spAutoFit/>
          </a:bodyPr>
          <a:lstStyle/>
          <a:p>
            <a:pPr algn="l">
              <a:lnSpc>
                <a:spcPct val="105000"/>
              </a:lnSpc>
              <a:spcAft>
                <a:spcPts val="400"/>
              </a:spcAft>
            </a:pPr>
            <a:r>
              <a:rPr sz="2300" b="0">
                <a:solidFill>
                  <a:srgbClr val="EEF1E8"/>
                </a:solidFill>
                <a:latin typeface="Courier New"/>
              </a:rPr>
              <a:t>BadSigner</a:t>
            </a:r>
          </a:p>
        </p:txBody>
      </p:sp>
      <p:cxnSp>
        <p:nvCxnSpPr>
          <p:cNvPr id="12" name="Connector 11"/>
          <p:cNvCxnSpPr/>
          <p:nvPr/>
        </p:nvCxnSpPr>
        <p:spPr>
          <a:xfrm>
            <a:off x="795528" y="3849624"/>
            <a:ext cx="10570464" cy="0"/>
          </a:xfrm>
          <a:prstGeom prst="line">
            <a:avLst/>
          </a:prstGeom>
          <a:ln w="8890">
            <a:solidFill>
              <a:srgbClr val="35524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291840"/>
            <a:ext cx="4023360" cy="484632"/>
          </a:xfrm>
          <a:prstGeom prst="rect">
            <a:avLst/>
          </a:prstGeom>
          <a:noFill/>
        </p:spPr>
        <p:txBody>
          <a:bodyPr wrap="square" lIns="0" rIns="0" tIns="18288" bIns="18288">
            <a:spAutoFit/>
          </a:bodyPr>
          <a:lstStyle/>
          <a:p>
            <a:pPr algn="l">
              <a:lnSpc>
                <a:spcPct val="105000"/>
              </a:lnSpc>
              <a:spcAft>
                <a:spcPts val="400"/>
              </a:spcAft>
            </a:pPr>
            <a:r>
              <a:rPr sz="2400" b="0">
                <a:solidFill>
                  <a:srgbClr val="ADC0BA"/>
                </a:solidFill>
                <a:latin typeface="Arial"/>
              </a:rPr>
              <a:t>Eski onay / tekrar</a:t>
            </a:r>
          </a:p>
        </p:txBody>
      </p:sp>
      <p:sp>
        <p:nvSpPr>
          <p:cNvPr id="14" name="TextBox 13"/>
          <p:cNvSpPr txBox="1"/>
          <p:nvPr/>
        </p:nvSpPr>
        <p:spPr>
          <a:xfrm>
            <a:off x="4956048" y="3291840"/>
            <a:ext cx="6400800" cy="512064"/>
          </a:xfrm>
          <a:prstGeom prst="rect">
            <a:avLst/>
          </a:prstGeom>
          <a:noFill/>
        </p:spPr>
        <p:txBody>
          <a:bodyPr wrap="square" lIns="0" rIns="0" tIns="18288" bIns="18288">
            <a:spAutoFit/>
          </a:bodyPr>
          <a:lstStyle/>
          <a:p>
            <a:pPr algn="l">
              <a:lnSpc>
                <a:spcPct val="105000"/>
              </a:lnSpc>
              <a:spcAft>
                <a:spcPts val="400"/>
              </a:spcAft>
            </a:pPr>
            <a:r>
              <a:rPr sz="2300" b="0">
                <a:solidFill>
                  <a:srgbClr val="EEF1E8"/>
                </a:solidFill>
                <a:latin typeface="Courier New"/>
              </a:rPr>
              <a:t>StaleScore / AlreadyUsed</a:t>
            </a:r>
          </a:p>
        </p:txBody>
      </p:sp>
      <p:cxnSp>
        <p:nvCxnSpPr>
          <p:cNvPr id="15" name="Connector 14"/>
          <p:cNvCxnSpPr/>
          <p:nvPr/>
        </p:nvCxnSpPr>
        <p:spPr>
          <a:xfrm>
            <a:off x="795528" y="4572000"/>
            <a:ext cx="10570464" cy="0"/>
          </a:xfrm>
          <a:prstGeom prst="line">
            <a:avLst/>
          </a:prstGeom>
          <a:ln w="8890">
            <a:solidFill>
              <a:srgbClr val="35524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4014216"/>
            <a:ext cx="4023360" cy="484632"/>
          </a:xfrm>
          <a:prstGeom prst="rect">
            <a:avLst/>
          </a:prstGeom>
          <a:noFill/>
        </p:spPr>
        <p:txBody>
          <a:bodyPr wrap="square" lIns="0" rIns="0" tIns="18288" bIns="18288">
            <a:spAutoFit/>
          </a:bodyPr>
          <a:lstStyle/>
          <a:p>
            <a:pPr algn="l">
              <a:lnSpc>
                <a:spcPct val="105000"/>
              </a:lnSpc>
              <a:spcAft>
                <a:spcPts val="400"/>
              </a:spcAft>
            </a:pPr>
            <a:r>
              <a:rPr sz="2400" b="0">
                <a:solidFill>
                  <a:srgbClr val="ADC0BA"/>
                </a:solidFill>
                <a:latin typeface="Arial"/>
              </a:rPr>
              <a:t>Oracle anahtarı</a:t>
            </a:r>
          </a:p>
        </p:txBody>
      </p:sp>
      <p:sp>
        <p:nvSpPr>
          <p:cNvPr id="17" name="TextBox 16"/>
          <p:cNvSpPr txBox="1"/>
          <p:nvPr/>
        </p:nvSpPr>
        <p:spPr>
          <a:xfrm>
            <a:off x="4956048" y="4014216"/>
            <a:ext cx="6400800" cy="512064"/>
          </a:xfrm>
          <a:prstGeom prst="rect">
            <a:avLst/>
          </a:prstGeom>
          <a:noFill/>
        </p:spPr>
        <p:txBody>
          <a:bodyPr wrap="square" lIns="0" rIns="0" tIns="18288" bIns="18288">
            <a:spAutoFit/>
          </a:bodyPr>
          <a:lstStyle/>
          <a:p>
            <a:pPr algn="l">
              <a:lnSpc>
                <a:spcPct val="105000"/>
              </a:lnSpc>
              <a:spcAft>
                <a:spcPts val="400"/>
              </a:spcAft>
            </a:pPr>
            <a:r>
              <a:rPr sz="2300" b="0">
                <a:solidFill>
                  <a:srgbClr val="EEF1E8"/>
                </a:solidFill>
                <a:latin typeface="Courier New"/>
              </a:rPr>
              <a:t>pause + setOracle</a:t>
            </a:r>
          </a:p>
        </p:txBody>
      </p:sp>
      <p:cxnSp>
        <p:nvCxnSpPr>
          <p:cNvPr id="18" name="Connector 17"/>
          <p:cNvCxnSpPr/>
          <p:nvPr/>
        </p:nvCxnSpPr>
        <p:spPr>
          <a:xfrm>
            <a:off x="795528" y="5294376"/>
            <a:ext cx="10570464" cy="0"/>
          </a:xfrm>
          <a:prstGeom prst="line">
            <a:avLst/>
          </a:prstGeom>
          <a:ln w="8890">
            <a:solidFill>
              <a:srgbClr val="35524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736592"/>
            <a:ext cx="4023360" cy="484632"/>
          </a:xfrm>
          <a:prstGeom prst="rect">
            <a:avLst/>
          </a:prstGeom>
          <a:noFill/>
        </p:spPr>
        <p:txBody>
          <a:bodyPr wrap="square" lIns="0" rIns="0" tIns="18288" bIns="18288">
            <a:spAutoFit/>
          </a:bodyPr>
          <a:lstStyle/>
          <a:p>
            <a:pPr algn="l">
              <a:lnSpc>
                <a:spcPct val="105000"/>
              </a:lnSpc>
              <a:spcAft>
                <a:spcPts val="400"/>
              </a:spcAft>
            </a:pPr>
            <a:r>
              <a:rPr sz="2400" b="0">
                <a:solidFill>
                  <a:srgbClr val="ADC0BA"/>
                </a:solidFill>
                <a:latin typeface="Arial"/>
              </a:rPr>
              <a:t>LLM / yanlış alarm</a:t>
            </a:r>
          </a:p>
        </p:txBody>
      </p:sp>
      <p:sp>
        <p:nvSpPr>
          <p:cNvPr id="20" name="TextBox 19"/>
          <p:cNvSpPr txBox="1"/>
          <p:nvPr/>
        </p:nvSpPr>
        <p:spPr>
          <a:xfrm>
            <a:off x="4956048" y="4736592"/>
            <a:ext cx="6400800" cy="512064"/>
          </a:xfrm>
          <a:prstGeom prst="rect">
            <a:avLst/>
          </a:prstGeom>
          <a:noFill/>
        </p:spPr>
        <p:txBody>
          <a:bodyPr wrap="square" lIns="0" rIns="0" tIns="18288" bIns="18288">
            <a:spAutoFit/>
          </a:bodyPr>
          <a:lstStyle/>
          <a:p>
            <a:pPr algn="l">
              <a:lnSpc>
                <a:spcPct val="105000"/>
              </a:lnSpc>
              <a:spcAft>
                <a:spcPts val="400"/>
              </a:spcAft>
            </a:pPr>
            <a:r>
              <a:rPr sz="2300" b="0">
                <a:solidFill>
                  <a:srgbClr val="EEF1E8"/>
                </a:solidFill>
                <a:latin typeface="Arial"/>
              </a:rPr>
              <a:t>Deterministik skor + parametrik eşik</a:t>
            </a:r>
          </a:p>
        </p:txBody>
      </p:sp>
      <p:sp>
        <p:nvSpPr>
          <p:cNvPr id="21" name="TextBox 20"/>
          <p:cNvSpPr txBox="1"/>
          <p:nvPr/>
        </p:nvSpPr>
        <p:spPr>
          <a:xfrm>
            <a:off x="822960" y="5879592"/>
            <a:ext cx="10607040" cy="320040"/>
          </a:xfrm>
          <a:prstGeom prst="rect">
            <a:avLst/>
          </a:prstGeom>
          <a:noFill/>
        </p:spPr>
        <p:txBody>
          <a:bodyPr wrap="square" lIns="0" rIns="0" tIns="18288" bIns="18288">
            <a:spAutoFit/>
          </a:bodyPr>
          <a:lstStyle/>
          <a:p>
            <a:pPr algn="l">
              <a:lnSpc>
                <a:spcPct val="105000"/>
              </a:lnSpc>
              <a:spcAft>
                <a:spcPts val="400"/>
              </a:spcAft>
            </a:pPr>
            <a:r>
              <a:rPr sz="1900" b="0">
                <a:solidFill>
                  <a:srgbClr val="B5D0BD"/>
                </a:solidFill>
                <a:latin typeface="Arial"/>
              </a:rPr>
              <a:t>Tazelik kontrolü replay kontrolünden önce gelir.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BDF"/>
        </a:solidFill>
        <a:effectLst/>
      </p:bgPr>
    </p:bg>
    <p:spTree>
      <p:nvGrpSpPr>
        <p:cNvPr id="1" name=""/>
        <p:cNvGrpSpPr/>
        <p:nvPr/>
      </p:nvGrpSpPr>
      <p:grpSpPr/>
      <p:sp>
        <p:nvSpPr>
          <p:cNvPr id="2" name="TextBox 1"/>
          <p:cNvSpPr txBox="1"/>
          <p:nvPr/>
        </p:nvSpPr>
        <p:spPr>
          <a:xfrm>
            <a:off x="713232" y="612648"/>
            <a:ext cx="10789920" cy="1024128"/>
          </a:xfrm>
          <a:prstGeom prst="rect">
            <a:avLst/>
          </a:prstGeom>
          <a:noFill/>
        </p:spPr>
        <p:txBody>
          <a:bodyPr wrap="square" lIns="0" rIns="0" tIns="18288" bIns="18288">
            <a:spAutoFit/>
          </a:bodyPr>
          <a:lstStyle/>
          <a:p>
            <a:pPr algn="l">
              <a:lnSpc>
                <a:spcPct val="105000"/>
              </a:lnSpc>
              <a:spcAft>
                <a:spcPts val="400"/>
              </a:spcAft>
            </a:pPr>
            <a:r>
              <a:rPr sz="4000" b="0">
                <a:solidFill>
                  <a:srgbClr val="16312E"/>
                </a:solidFill>
                <a:latin typeface="Georgia"/>
              </a:rPr>
              <a:t>Zincirde doğrulandı.</a:t>
            </a:r>
          </a:p>
        </p:txBody>
      </p:sp>
      <p:cxnSp>
        <p:nvCxnSpPr>
          <p:cNvPr id="3" name="Connector 2"/>
          <p:cNvCxnSpPr/>
          <p:nvPr/>
        </p:nvCxnSpPr>
        <p:spPr>
          <a:xfrm>
            <a:off x="713232" y="6345936"/>
            <a:ext cx="10762488" cy="0"/>
          </a:xfrm>
          <a:prstGeom prst="line">
            <a:avLst/>
          </a:prstGeom>
          <a:ln w="8890">
            <a:solidFill>
              <a:srgbClr val="4D655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6473952"/>
            <a:ext cx="9966960" cy="228600"/>
          </a:xfrm>
          <a:prstGeom prst="rect">
            <a:avLst/>
          </a:prstGeom>
          <a:noFill/>
        </p:spPr>
        <p:txBody>
          <a:bodyPr wrap="square" lIns="0" rIns="0" tIns="18288" bIns="18288">
            <a:spAutoFit/>
          </a:bodyPr>
          <a:lstStyle/>
          <a:p>
            <a:pPr algn="l">
              <a:lnSpc>
                <a:spcPct val="105000"/>
              </a:lnSpc>
              <a:spcAft>
                <a:spcPts val="400"/>
              </a:spcAft>
            </a:pPr>
            <a:r>
              <a:rPr sz="1100" b="0">
                <a:solidFill>
                  <a:srgbClr val="4D655D"/>
                </a:solidFill>
                <a:latin typeface="Arial"/>
              </a:rPr>
              <a:t>Arf   /   OKX Agent Trade Kit × Avalanche   /   17 Ekim 2026</a:t>
            </a:r>
          </a:p>
        </p:txBody>
      </p:sp>
      <p:sp>
        <p:nvSpPr>
          <p:cNvPr id="5" name="TextBox 4"/>
          <p:cNvSpPr txBox="1"/>
          <p:nvPr/>
        </p:nvSpPr>
        <p:spPr>
          <a:xfrm>
            <a:off x="11009376" y="6446520"/>
            <a:ext cx="438912" cy="274320"/>
          </a:xfrm>
          <a:prstGeom prst="rect">
            <a:avLst/>
          </a:prstGeom>
          <a:noFill/>
        </p:spPr>
        <p:txBody>
          <a:bodyPr wrap="square" lIns="0" rIns="0" tIns="18288" bIns="18288">
            <a:spAutoFit/>
          </a:bodyPr>
          <a:lstStyle/>
          <a:p>
            <a:pPr algn="r">
              <a:lnSpc>
                <a:spcPct val="105000"/>
              </a:lnSpc>
              <a:spcAft>
                <a:spcPts val="400"/>
              </a:spcAft>
            </a:pPr>
            <a:r>
              <a:rPr sz="1200" b="0">
                <a:solidFill>
                  <a:srgbClr val="4D655D"/>
                </a:solidFill>
                <a:latin typeface="Courier New"/>
              </a:rPr>
              <a:t>08</a:t>
            </a:r>
          </a:p>
        </p:txBody>
      </p:sp>
      <p:sp>
        <p:nvSpPr>
          <p:cNvPr id="6" name="TextBox 5"/>
          <p:cNvSpPr txBox="1"/>
          <p:nvPr/>
        </p:nvSpPr>
        <p:spPr>
          <a:xfrm>
            <a:off x="786384" y="1700784"/>
            <a:ext cx="7040880" cy="502920"/>
          </a:xfrm>
          <a:prstGeom prst="rect">
            <a:avLst/>
          </a:prstGeom>
          <a:noFill/>
        </p:spPr>
        <p:txBody>
          <a:bodyPr wrap="square" lIns="0" rIns="0" tIns="18288" bIns="18288">
            <a:spAutoFit/>
          </a:bodyPr>
          <a:lstStyle/>
          <a:p>
            <a:pPr algn="l">
              <a:lnSpc>
                <a:spcPct val="105000"/>
              </a:lnSpc>
              <a:spcAft>
                <a:spcPts val="400"/>
              </a:spcAft>
            </a:pPr>
            <a:r>
              <a:rPr sz="2300" b="0">
                <a:solidFill>
                  <a:srgbClr val="4D655D"/>
                </a:solidFill>
                <a:latin typeface="Arial"/>
              </a:rPr>
              <a:t>7 gerçek tx / ana kanıt listesi</a:t>
            </a:r>
          </a:p>
        </p:txBody>
      </p:sp>
      <p:sp>
        <p:nvSpPr>
          <p:cNvPr id="7" name="TextBox 6"/>
          <p:cNvSpPr txBox="1"/>
          <p:nvPr/>
        </p:nvSpPr>
        <p:spPr>
          <a:xfrm>
            <a:off x="804672" y="2359152"/>
            <a:ext cx="3776472" cy="356616"/>
          </a:xfrm>
          <a:prstGeom prst="rect">
            <a:avLst/>
          </a:prstGeom>
          <a:noFill/>
        </p:spPr>
        <p:txBody>
          <a:bodyPr wrap="square" lIns="0" rIns="0" tIns="18288" bIns="18288">
            <a:spAutoFit/>
          </a:bodyPr>
          <a:lstStyle/>
          <a:p>
            <a:pPr algn="l">
              <a:lnSpc>
                <a:spcPct val="105000"/>
              </a:lnSpc>
              <a:spcAft>
                <a:spcPts val="400"/>
              </a:spcAft>
            </a:pPr>
            <a:r>
              <a:rPr sz="2000" b="0">
                <a:solidFill>
                  <a:srgbClr val="16312E"/>
                </a:solidFill>
                <a:latin typeface="Arial"/>
              </a:rPr>
              <a:t>IntentApproved / ilk</a:t>
            </a:r>
          </a:p>
        </p:txBody>
      </p:sp>
      <p:sp>
        <p:nvSpPr>
          <p:cNvPr id="8" name="TextBox 7"/>
          <p:cNvSpPr txBox="1"/>
          <p:nvPr/>
        </p:nvSpPr>
        <p:spPr>
          <a:xfrm>
            <a:off x="4645152" y="2359152"/>
            <a:ext cx="2907792" cy="356616"/>
          </a:xfrm>
          <a:prstGeom prst="rect">
            <a:avLst/>
          </a:prstGeom>
          <a:noFill/>
        </p:spPr>
        <p:txBody>
          <a:bodyPr wrap="square" lIns="0" rIns="0" tIns="18288" bIns="18288">
            <a:spAutoFit/>
          </a:bodyPr>
          <a:lstStyle/>
          <a:p>
            <a:pPr algn="l">
              <a:lnSpc>
                <a:spcPct val="105000"/>
              </a:lnSpc>
              <a:spcAft>
                <a:spcPts val="400"/>
              </a:spcAft>
            </a:pPr>
            <a:r>
              <a:rPr sz="2000" b="0">
                <a:solidFill>
                  <a:srgbClr val="4D655D"/>
                </a:solidFill>
                <a:latin typeface="Courier New"/>
                <a:hlinkClick r:id="rId3"/>
              </a:rPr>
              <a:t>0x7bef94f2…ba5173</a:t>
            </a:r>
          </a:p>
        </p:txBody>
      </p:sp>
      <p:cxnSp>
        <p:nvCxnSpPr>
          <p:cNvPr id="9" name="Connector 8"/>
          <p:cNvCxnSpPr/>
          <p:nvPr/>
        </p:nvCxnSpPr>
        <p:spPr>
          <a:xfrm>
            <a:off x="804672" y="2752344"/>
            <a:ext cx="6693407" cy="0"/>
          </a:xfrm>
          <a:prstGeom prst="line">
            <a:avLst/>
          </a:prstGeom>
          <a:ln w="6350">
            <a:solidFill>
              <a:srgbClr val="B7C5B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04672" y="2798064"/>
            <a:ext cx="3776472" cy="356616"/>
          </a:xfrm>
          <a:prstGeom prst="rect">
            <a:avLst/>
          </a:prstGeom>
          <a:noFill/>
        </p:spPr>
        <p:txBody>
          <a:bodyPr wrap="square" lIns="0" rIns="0" tIns="18288" bIns="18288">
            <a:spAutoFit/>
          </a:bodyPr>
          <a:lstStyle/>
          <a:p>
            <a:pPr algn="l">
              <a:lnSpc>
                <a:spcPct val="105000"/>
              </a:lnSpc>
              <a:spcAft>
                <a:spcPts val="400"/>
              </a:spcAft>
            </a:pPr>
            <a:r>
              <a:rPr sz="2000" b="0">
                <a:solidFill>
                  <a:srgbClr val="16312E"/>
                </a:solidFill>
                <a:latin typeface="Arial"/>
              </a:rPr>
              <a:t>IntentApproved / agent</a:t>
            </a:r>
          </a:p>
        </p:txBody>
      </p:sp>
      <p:sp>
        <p:nvSpPr>
          <p:cNvPr id="11" name="TextBox 10"/>
          <p:cNvSpPr txBox="1"/>
          <p:nvPr/>
        </p:nvSpPr>
        <p:spPr>
          <a:xfrm>
            <a:off x="4645152" y="2798064"/>
            <a:ext cx="2907792" cy="356616"/>
          </a:xfrm>
          <a:prstGeom prst="rect">
            <a:avLst/>
          </a:prstGeom>
          <a:noFill/>
        </p:spPr>
        <p:txBody>
          <a:bodyPr wrap="square" lIns="0" rIns="0" tIns="18288" bIns="18288">
            <a:spAutoFit/>
          </a:bodyPr>
          <a:lstStyle/>
          <a:p>
            <a:pPr algn="l">
              <a:lnSpc>
                <a:spcPct val="105000"/>
              </a:lnSpc>
              <a:spcAft>
                <a:spcPts val="400"/>
              </a:spcAft>
            </a:pPr>
            <a:r>
              <a:rPr sz="2000" b="0">
                <a:solidFill>
                  <a:srgbClr val="4D655D"/>
                </a:solidFill>
                <a:latin typeface="Courier New"/>
                <a:hlinkClick r:id="rId4"/>
              </a:rPr>
              <a:t>0xa5798d59…aacbbe</a:t>
            </a:r>
          </a:p>
        </p:txBody>
      </p:sp>
      <p:cxnSp>
        <p:nvCxnSpPr>
          <p:cNvPr id="12" name="Connector 11"/>
          <p:cNvCxnSpPr/>
          <p:nvPr/>
        </p:nvCxnSpPr>
        <p:spPr>
          <a:xfrm>
            <a:off x="804672" y="3191256"/>
            <a:ext cx="6693407" cy="0"/>
          </a:xfrm>
          <a:prstGeom prst="line">
            <a:avLst/>
          </a:prstGeom>
          <a:ln w="6350">
            <a:solidFill>
              <a:srgbClr val="B7C5B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04672" y="3236976"/>
            <a:ext cx="3776472" cy="356616"/>
          </a:xfrm>
          <a:prstGeom prst="rect">
            <a:avLst/>
          </a:prstGeom>
          <a:noFill/>
        </p:spPr>
        <p:txBody>
          <a:bodyPr wrap="square" lIns="0" rIns="0" tIns="18288" bIns="18288">
            <a:spAutoFit/>
          </a:bodyPr>
          <a:lstStyle/>
          <a:p>
            <a:pPr algn="l">
              <a:lnSpc>
                <a:spcPct val="105000"/>
              </a:lnSpc>
              <a:spcAft>
                <a:spcPts val="400"/>
              </a:spcAft>
            </a:pPr>
            <a:r>
              <a:rPr sz="2000" b="0">
                <a:solidFill>
                  <a:srgbClr val="16312E"/>
                </a:solidFill>
                <a:latin typeface="Arial"/>
              </a:rPr>
              <a:t>ExceedsSafeSize / ilk</a:t>
            </a:r>
          </a:p>
        </p:txBody>
      </p:sp>
      <p:sp>
        <p:nvSpPr>
          <p:cNvPr id="14" name="TextBox 13"/>
          <p:cNvSpPr txBox="1"/>
          <p:nvPr/>
        </p:nvSpPr>
        <p:spPr>
          <a:xfrm>
            <a:off x="4645152" y="3236976"/>
            <a:ext cx="2907792" cy="356616"/>
          </a:xfrm>
          <a:prstGeom prst="rect">
            <a:avLst/>
          </a:prstGeom>
          <a:noFill/>
        </p:spPr>
        <p:txBody>
          <a:bodyPr wrap="square" lIns="0" rIns="0" tIns="18288" bIns="18288">
            <a:spAutoFit/>
          </a:bodyPr>
          <a:lstStyle/>
          <a:p>
            <a:pPr algn="l">
              <a:lnSpc>
                <a:spcPct val="105000"/>
              </a:lnSpc>
              <a:spcAft>
                <a:spcPts val="400"/>
              </a:spcAft>
            </a:pPr>
            <a:r>
              <a:rPr sz="2000" b="0">
                <a:solidFill>
                  <a:srgbClr val="4D655D"/>
                </a:solidFill>
                <a:latin typeface="Courier New"/>
                <a:hlinkClick r:id="rId5"/>
              </a:rPr>
              <a:t>0x175eaee2…4bf0e5</a:t>
            </a:r>
          </a:p>
        </p:txBody>
      </p:sp>
      <p:cxnSp>
        <p:nvCxnSpPr>
          <p:cNvPr id="15" name="Connector 14"/>
          <p:cNvCxnSpPr/>
          <p:nvPr/>
        </p:nvCxnSpPr>
        <p:spPr>
          <a:xfrm>
            <a:off x="804672" y="3630168"/>
            <a:ext cx="6693407" cy="0"/>
          </a:xfrm>
          <a:prstGeom prst="line">
            <a:avLst/>
          </a:prstGeom>
          <a:ln w="6350">
            <a:solidFill>
              <a:srgbClr val="B7C5B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4672" y="3675887"/>
            <a:ext cx="3776472" cy="356616"/>
          </a:xfrm>
          <a:prstGeom prst="rect">
            <a:avLst/>
          </a:prstGeom>
          <a:noFill/>
        </p:spPr>
        <p:txBody>
          <a:bodyPr wrap="square" lIns="0" rIns="0" tIns="18288" bIns="18288">
            <a:spAutoFit/>
          </a:bodyPr>
          <a:lstStyle/>
          <a:p>
            <a:pPr algn="l">
              <a:lnSpc>
                <a:spcPct val="105000"/>
              </a:lnSpc>
              <a:spcAft>
                <a:spcPts val="400"/>
              </a:spcAft>
            </a:pPr>
            <a:r>
              <a:rPr sz="2000" b="0">
                <a:solidFill>
                  <a:srgbClr val="16312E"/>
                </a:solidFill>
                <a:latin typeface="Arial"/>
              </a:rPr>
              <a:t>ExceedsSafeSize / agent</a:t>
            </a:r>
          </a:p>
        </p:txBody>
      </p:sp>
      <p:sp>
        <p:nvSpPr>
          <p:cNvPr id="17" name="TextBox 16"/>
          <p:cNvSpPr txBox="1"/>
          <p:nvPr/>
        </p:nvSpPr>
        <p:spPr>
          <a:xfrm>
            <a:off x="4645152" y="3675887"/>
            <a:ext cx="2907792" cy="356616"/>
          </a:xfrm>
          <a:prstGeom prst="rect">
            <a:avLst/>
          </a:prstGeom>
          <a:noFill/>
        </p:spPr>
        <p:txBody>
          <a:bodyPr wrap="square" lIns="0" rIns="0" tIns="18288" bIns="18288">
            <a:spAutoFit/>
          </a:bodyPr>
          <a:lstStyle/>
          <a:p>
            <a:pPr algn="l">
              <a:lnSpc>
                <a:spcPct val="105000"/>
              </a:lnSpc>
              <a:spcAft>
                <a:spcPts val="400"/>
              </a:spcAft>
            </a:pPr>
            <a:r>
              <a:rPr sz="2000" b="0">
                <a:solidFill>
                  <a:srgbClr val="4D655D"/>
                </a:solidFill>
                <a:latin typeface="Courier New"/>
                <a:hlinkClick r:id="rId6"/>
              </a:rPr>
              <a:t>0x80aeb849…2667a6</a:t>
            </a:r>
          </a:p>
        </p:txBody>
      </p:sp>
      <p:cxnSp>
        <p:nvCxnSpPr>
          <p:cNvPr id="18" name="Connector 17"/>
          <p:cNvCxnSpPr/>
          <p:nvPr/>
        </p:nvCxnSpPr>
        <p:spPr>
          <a:xfrm>
            <a:off x="804672" y="4069079"/>
            <a:ext cx="6693407" cy="0"/>
          </a:xfrm>
          <a:prstGeom prst="line">
            <a:avLst/>
          </a:prstGeom>
          <a:ln w="6350">
            <a:solidFill>
              <a:srgbClr val="B7C5B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04672" y="4114800"/>
            <a:ext cx="3776472" cy="356616"/>
          </a:xfrm>
          <a:prstGeom prst="rect">
            <a:avLst/>
          </a:prstGeom>
          <a:noFill/>
        </p:spPr>
        <p:txBody>
          <a:bodyPr wrap="square" lIns="0" rIns="0" tIns="18288" bIns="18288">
            <a:spAutoFit/>
          </a:bodyPr>
          <a:lstStyle/>
          <a:p>
            <a:pPr algn="l">
              <a:lnSpc>
                <a:spcPct val="105000"/>
              </a:lnSpc>
              <a:spcAft>
                <a:spcPts val="400"/>
              </a:spcAft>
            </a:pPr>
            <a:r>
              <a:rPr sz="2000" b="0">
                <a:solidFill>
                  <a:srgbClr val="16312E"/>
                </a:solidFill>
                <a:latin typeface="Arial"/>
              </a:rPr>
              <a:t>BadSigner</a:t>
            </a:r>
          </a:p>
        </p:txBody>
      </p:sp>
      <p:sp>
        <p:nvSpPr>
          <p:cNvPr id="20" name="TextBox 19"/>
          <p:cNvSpPr txBox="1"/>
          <p:nvPr/>
        </p:nvSpPr>
        <p:spPr>
          <a:xfrm>
            <a:off x="4645152" y="4114800"/>
            <a:ext cx="2907792" cy="356616"/>
          </a:xfrm>
          <a:prstGeom prst="rect">
            <a:avLst/>
          </a:prstGeom>
          <a:noFill/>
        </p:spPr>
        <p:txBody>
          <a:bodyPr wrap="square" lIns="0" rIns="0" tIns="18288" bIns="18288">
            <a:spAutoFit/>
          </a:bodyPr>
          <a:lstStyle/>
          <a:p>
            <a:pPr algn="l">
              <a:lnSpc>
                <a:spcPct val="105000"/>
              </a:lnSpc>
              <a:spcAft>
                <a:spcPts val="400"/>
              </a:spcAft>
            </a:pPr>
            <a:r>
              <a:rPr sz="2000" b="0">
                <a:solidFill>
                  <a:srgbClr val="4D655D"/>
                </a:solidFill>
                <a:latin typeface="Courier New"/>
                <a:hlinkClick r:id="rId7"/>
              </a:rPr>
              <a:t>0x0b05e13f…ede98e</a:t>
            </a:r>
          </a:p>
        </p:txBody>
      </p:sp>
      <p:cxnSp>
        <p:nvCxnSpPr>
          <p:cNvPr id="21" name="Connector 20"/>
          <p:cNvCxnSpPr/>
          <p:nvPr/>
        </p:nvCxnSpPr>
        <p:spPr>
          <a:xfrm>
            <a:off x="804672" y="4507992"/>
            <a:ext cx="6693407" cy="0"/>
          </a:xfrm>
          <a:prstGeom prst="line">
            <a:avLst/>
          </a:prstGeom>
          <a:ln w="6350">
            <a:solidFill>
              <a:srgbClr val="B7C5B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04672" y="4553712"/>
            <a:ext cx="3776472" cy="356616"/>
          </a:xfrm>
          <a:prstGeom prst="rect">
            <a:avLst/>
          </a:prstGeom>
          <a:noFill/>
        </p:spPr>
        <p:txBody>
          <a:bodyPr wrap="square" lIns="0" rIns="0" tIns="18288" bIns="18288">
            <a:spAutoFit/>
          </a:bodyPr>
          <a:lstStyle/>
          <a:p>
            <a:pPr algn="l">
              <a:lnSpc>
                <a:spcPct val="105000"/>
              </a:lnSpc>
              <a:spcAft>
                <a:spcPts val="400"/>
              </a:spcAft>
            </a:pPr>
            <a:r>
              <a:rPr sz="2000" b="0">
                <a:solidFill>
                  <a:srgbClr val="16312E"/>
                </a:solidFill>
                <a:latin typeface="Arial"/>
              </a:rPr>
              <a:t>AlreadyUsed</a:t>
            </a:r>
          </a:p>
        </p:txBody>
      </p:sp>
      <p:sp>
        <p:nvSpPr>
          <p:cNvPr id="23" name="TextBox 22"/>
          <p:cNvSpPr txBox="1"/>
          <p:nvPr/>
        </p:nvSpPr>
        <p:spPr>
          <a:xfrm>
            <a:off x="4645152" y="4553712"/>
            <a:ext cx="2907792" cy="356616"/>
          </a:xfrm>
          <a:prstGeom prst="rect">
            <a:avLst/>
          </a:prstGeom>
          <a:noFill/>
        </p:spPr>
        <p:txBody>
          <a:bodyPr wrap="square" lIns="0" rIns="0" tIns="18288" bIns="18288">
            <a:spAutoFit/>
          </a:bodyPr>
          <a:lstStyle/>
          <a:p>
            <a:pPr algn="l">
              <a:lnSpc>
                <a:spcPct val="105000"/>
              </a:lnSpc>
              <a:spcAft>
                <a:spcPts val="400"/>
              </a:spcAft>
            </a:pPr>
            <a:r>
              <a:rPr sz="2000" b="0">
                <a:solidFill>
                  <a:srgbClr val="4D655D"/>
                </a:solidFill>
                <a:latin typeface="Courier New"/>
                <a:hlinkClick r:id="rId8"/>
              </a:rPr>
              <a:t>0xa1ad9514…f99a80</a:t>
            </a:r>
          </a:p>
        </p:txBody>
      </p:sp>
      <p:cxnSp>
        <p:nvCxnSpPr>
          <p:cNvPr id="24" name="Connector 23"/>
          <p:cNvCxnSpPr/>
          <p:nvPr/>
        </p:nvCxnSpPr>
        <p:spPr>
          <a:xfrm>
            <a:off x="804672" y="4946904"/>
            <a:ext cx="6693407" cy="0"/>
          </a:xfrm>
          <a:prstGeom prst="line">
            <a:avLst/>
          </a:prstGeom>
          <a:ln w="6350">
            <a:solidFill>
              <a:srgbClr val="B7C5B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4672" y="4992624"/>
            <a:ext cx="3776472" cy="356616"/>
          </a:xfrm>
          <a:prstGeom prst="rect">
            <a:avLst/>
          </a:prstGeom>
          <a:noFill/>
        </p:spPr>
        <p:txBody>
          <a:bodyPr wrap="square" lIns="0" rIns="0" tIns="18288" bIns="18288">
            <a:spAutoFit/>
          </a:bodyPr>
          <a:lstStyle/>
          <a:p>
            <a:pPr algn="l">
              <a:lnSpc>
                <a:spcPct val="105000"/>
              </a:lnSpc>
              <a:spcAft>
                <a:spcPts val="400"/>
              </a:spcAft>
            </a:pPr>
            <a:r>
              <a:rPr sz="2000" b="0">
                <a:solidFill>
                  <a:srgbClr val="16312E"/>
                </a:solidFill>
                <a:latin typeface="Arial"/>
              </a:rPr>
              <a:t>StaleScore</a:t>
            </a:r>
          </a:p>
        </p:txBody>
      </p:sp>
      <p:sp>
        <p:nvSpPr>
          <p:cNvPr id="26" name="TextBox 25"/>
          <p:cNvSpPr txBox="1"/>
          <p:nvPr/>
        </p:nvSpPr>
        <p:spPr>
          <a:xfrm>
            <a:off x="4645152" y="4992624"/>
            <a:ext cx="2907792" cy="356616"/>
          </a:xfrm>
          <a:prstGeom prst="rect">
            <a:avLst/>
          </a:prstGeom>
          <a:noFill/>
        </p:spPr>
        <p:txBody>
          <a:bodyPr wrap="square" lIns="0" rIns="0" tIns="18288" bIns="18288">
            <a:spAutoFit/>
          </a:bodyPr>
          <a:lstStyle/>
          <a:p>
            <a:pPr algn="l">
              <a:lnSpc>
                <a:spcPct val="105000"/>
              </a:lnSpc>
              <a:spcAft>
                <a:spcPts val="400"/>
              </a:spcAft>
            </a:pPr>
            <a:r>
              <a:rPr sz="2000" b="0">
                <a:solidFill>
                  <a:srgbClr val="4D655D"/>
                </a:solidFill>
                <a:latin typeface="Courier New"/>
                <a:hlinkClick r:id="rId9"/>
              </a:rPr>
              <a:t>0x0b290257…1233a3</a:t>
            </a:r>
          </a:p>
        </p:txBody>
      </p:sp>
      <p:cxnSp>
        <p:nvCxnSpPr>
          <p:cNvPr id="27" name="Connector 26"/>
          <p:cNvCxnSpPr/>
          <p:nvPr/>
        </p:nvCxnSpPr>
        <p:spPr>
          <a:xfrm>
            <a:off x="804672" y="5385816"/>
            <a:ext cx="6693407" cy="0"/>
          </a:xfrm>
          <a:prstGeom prst="line">
            <a:avLst/>
          </a:prstGeom>
          <a:ln w="6350">
            <a:solidFill>
              <a:srgbClr val="B7C5B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936992" y="1828800"/>
            <a:ext cx="0" cy="3931920"/>
          </a:xfrm>
          <a:prstGeom prst="line">
            <a:avLst/>
          </a:prstGeom>
          <a:ln w="12700">
            <a:solidFill>
              <a:srgbClr val="B7C5BA"/>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412480" y="1965960"/>
            <a:ext cx="2788920" cy="777240"/>
          </a:xfrm>
          <a:prstGeom prst="rect">
            <a:avLst/>
          </a:prstGeom>
          <a:noFill/>
        </p:spPr>
        <p:txBody>
          <a:bodyPr wrap="square" lIns="0" rIns="0" tIns="18288" bIns="18288">
            <a:spAutoFit/>
          </a:bodyPr>
          <a:lstStyle/>
          <a:p>
            <a:pPr algn="l">
              <a:lnSpc>
                <a:spcPct val="105000"/>
              </a:lnSpc>
              <a:spcAft>
                <a:spcPts val="400"/>
              </a:spcAft>
            </a:pPr>
            <a:r>
              <a:rPr sz="4300" b="0">
                <a:solidFill>
                  <a:srgbClr val="16312E"/>
                </a:solidFill>
                <a:latin typeface="Courier New"/>
              </a:rPr>
              <a:t>87/87</a:t>
            </a:r>
          </a:p>
        </p:txBody>
      </p:sp>
      <p:sp>
        <p:nvSpPr>
          <p:cNvPr id="30" name="TextBox 29"/>
          <p:cNvSpPr txBox="1"/>
          <p:nvPr/>
        </p:nvSpPr>
        <p:spPr>
          <a:xfrm>
            <a:off x="8458200" y="2834640"/>
            <a:ext cx="2770632" cy="411480"/>
          </a:xfrm>
          <a:prstGeom prst="rect">
            <a:avLst/>
          </a:prstGeom>
          <a:noFill/>
        </p:spPr>
        <p:txBody>
          <a:bodyPr wrap="square" lIns="0" rIns="0" tIns="18288" bIns="18288">
            <a:spAutoFit/>
          </a:bodyPr>
          <a:lstStyle/>
          <a:p>
            <a:pPr algn="l">
              <a:lnSpc>
                <a:spcPct val="105000"/>
              </a:lnSpc>
              <a:spcAft>
                <a:spcPts val="400"/>
              </a:spcAft>
            </a:pPr>
            <a:r>
              <a:rPr sz="2200" b="0">
                <a:solidFill>
                  <a:srgbClr val="4D655D"/>
                </a:solidFill>
                <a:latin typeface="Arial"/>
              </a:rPr>
              <a:t>Python testi</a:t>
            </a:r>
          </a:p>
        </p:txBody>
      </p:sp>
      <p:sp>
        <p:nvSpPr>
          <p:cNvPr id="31" name="TextBox 30"/>
          <p:cNvSpPr txBox="1"/>
          <p:nvPr/>
        </p:nvSpPr>
        <p:spPr>
          <a:xfrm>
            <a:off x="8412480" y="3703320"/>
            <a:ext cx="2743200" cy="777240"/>
          </a:xfrm>
          <a:prstGeom prst="rect">
            <a:avLst/>
          </a:prstGeom>
          <a:noFill/>
        </p:spPr>
        <p:txBody>
          <a:bodyPr wrap="square" lIns="0" rIns="0" tIns="18288" bIns="18288">
            <a:spAutoFit/>
          </a:bodyPr>
          <a:lstStyle/>
          <a:p>
            <a:pPr algn="l">
              <a:lnSpc>
                <a:spcPct val="105000"/>
              </a:lnSpc>
              <a:spcAft>
                <a:spcPts val="400"/>
              </a:spcAft>
            </a:pPr>
            <a:r>
              <a:rPr sz="4300" b="0">
                <a:solidFill>
                  <a:srgbClr val="16312E"/>
                </a:solidFill>
                <a:latin typeface="Courier New"/>
              </a:rPr>
              <a:t>~2 sn</a:t>
            </a:r>
          </a:p>
        </p:txBody>
      </p:sp>
      <p:sp>
        <p:nvSpPr>
          <p:cNvPr id="32" name="TextBox 31"/>
          <p:cNvSpPr txBox="1"/>
          <p:nvPr/>
        </p:nvSpPr>
        <p:spPr>
          <a:xfrm>
            <a:off x="8458200" y="4572000"/>
            <a:ext cx="2761488" cy="594360"/>
          </a:xfrm>
          <a:prstGeom prst="rect">
            <a:avLst/>
          </a:prstGeom>
          <a:noFill/>
        </p:spPr>
        <p:txBody>
          <a:bodyPr wrap="square" lIns="0" rIns="0" tIns="18288" bIns="18288">
            <a:spAutoFit/>
          </a:bodyPr>
          <a:lstStyle/>
          <a:p>
            <a:pPr algn="l">
              <a:lnSpc>
                <a:spcPct val="105000"/>
              </a:lnSpc>
              <a:spcAft>
                <a:spcPts val="400"/>
              </a:spcAft>
            </a:pPr>
            <a:r>
              <a:rPr sz="2200" b="0">
                <a:solidFill>
                  <a:srgbClr val="4D655D"/>
                </a:solidFill>
                <a:latin typeface="Arial"/>
              </a:rPr>
              <a:t>zincir onayı</a:t>
            </a:r>
          </a:p>
        </p:txBody>
      </p:sp>
      <p:sp>
        <p:nvSpPr>
          <p:cNvPr id="33" name="TextBox 32"/>
          <p:cNvSpPr txBox="1"/>
          <p:nvPr/>
        </p:nvSpPr>
        <p:spPr>
          <a:xfrm>
            <a:off x="8458200" y="5532120"/>
            <a:ext cx="2743200" cy="365760"/>
          </a:xfrm>
          <a:prstGeom prst="rect">
            <a:avLst/>
          </a:prstGeom>
          <a:noFill/>
        </p:spPr>
        <p:txBody>
          <a:bodyPr wrap="square" lIns="0" rIns="0" tIns="18288" bIns="18288">
            <a:spAutoFit/>
          </a:bodyPr>
          <a:lstStyle/>
          <a:p>
            <a:pPr algn="l">
              <a:lnSpc>
                <a:spcPct val="105000"/>
              </a:lnSpc>
              <a:spcAft>
                <a:spcPts val="400"/>
              </a:spcAft>
            </a:pPr>
            <a:r>
              <a:rPr sz="2000" b="0">
                <a:solidFill>
                  <a:srgbClr val="4D655D"/>
                </a:solidFill>
                <a:latin typeface="Arial"/>
              </a:rPr>
              <a:t>LLM ~0,001 USD/koşu</a:t>
            </a:r>
          </a:p>
        </p:txBody>
      </p:sp>
      <p:sp>
        <p:nvSpPr>
          <p:cNvPr id="34" name="TextBox 33"/>
          <p:cNvSpPr txBox="1"/>
          <p:nvPr/>
        </p:nvSpPr>
        <p:spPr>
          <a:xfrm>
            <a:off x="822960" y="5678424"/>
            <a:ext cx="6949440" cy="329184"/>
          </a:xfrm>
          <a:prstGeom prst="rect">
            <a:avLst/>
          </a:prstGeom>
          <a:noFill/>
        </p:spPr>
        <p:txBody>
          <a:bodyPr wrap="square" lIns="0" rIns="0" tIns="18288" bIns="18288">
            <a:spAutoFit/>
          </a:bodyPr>
          <a:lstStyle/>
          <a:p>
            <a:pPr algn="l">
              <a:lnSpc>
                <a:spcPct val="105000"/>
              </a:lnSpc>
              <a:spcAft>
                <a:spcPts val="400"/>
              </a:spcAft>
            </a:pPr>
            <a:r>
              <a:rPr sz="1800" b="0">
                <a:solidFill>
                  <a:srgbClr val="4D655D"/>
                </a:solidFill>
                <a:latin typeface="Arial"/>
              </a:rPr>
              <a:t>14/14 Solidity testi (STATUS kaydı)</a:t>
            </a:r>
          </a:p>
        </p:txBody>
      </p:sp>
      <p:sp>
        <p:nvSpPr>
          <p:cNvPr id="35" name="TextBox 34"/>
          <p:cNvSpPr txBox="1"/>
          <p:nvPr/>
        </p:nvSpPr>
        <p:spPr>
          <a:xfrm>
            <a:off x="822960" y="6071616"/>
            <a:ext cx="10607040" cy="210312"/>
          </a:xfrm>
          <a:prstGeom prst="rect">
            <a:avLst/>
          </a:prstGeom>
          <a:noFill/>
        </p:spPr>
        <p:txBody>
          <a:bodyPr wrap="square" lIns="0" rIns="0" tIns="18288" bIns="18288">
            <a:spAutoFit/>
          </a:bodyPr>
          <a:lstStyle/>
          <a:p>
            <a:pPr algn="l">
              <a:lnSpc>
                <a:spcPct val="105000"/>
              </a:lnSpc>
              <a:spcAft>
                <a:spcPts val="400"/>
              </a:spcAft>
            </a:pPr>
            <a:r>
              <a:rPr sz="1300" b="0">
                <a:solidFill>
                  <a:srgbClr val="4D655D"/>
                </a:solidFill>
                <a:latin typeface="Courier New"/>
                <a:hlinkClick r:id="rId10"/>
              </a:rPr>
              <a:t>Fuji kontratı: 0xddE4C78F831f082E8AFDF716266bd1338B591159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1F23"/>
        </a:solidFill>
        <a:effectLst/>
      </p:bgPr>
    </p:bg>
    <p:spTree>
      <p:nvGrpSpPr>
        <p:cNvPr id="1" name=""/>
        <p:cNvGrpSpPr/>
        <p:nvPr/>
      </p:nvGrpSpPr>
      <p:grpSpPr/>
      <p:sp>
        <p:nvSpPr>
          <p:cNvPr id="2" name="TextBox 1"/>
          <p:cNvSpPr txBox="1"/>
          <p:nvPr/>
        </p:nvSpPr>
        <p:spPr>
          <a:xfrm>
            <a:off x="713232" y="612648"/>
            <a:ext cx="10789920" cy="1024128"/>
          </a:xfrm>
          <a:prstGeom prst="rect">
            <a:avLst/>
          </a:prstGeom>
          <a:noFill/>
        </p:spPr>
        <p:txBody>
          <a:bodyPr wrap="square" lIns="0" rIns="0" tIns="18288" bIns="18288">
            <a:spAutoFit/>
          </a:bodyPr>
          <a:lstStyle/>
          <a:p>
            <a:pPr algn="l">
              <a:lnSpc>
                <a:spcPct val="105000"/>
              </a:lnSpc>
              <a:spcAft>
                <a:spcPts val="400"/>
              </a:spcAft>
            </a:pPr>
            <a:r>
              <a:rPr sz="4000" b="0">
                <a:solidFill>
                  <a:srgbClr val="EEF1E8"/>
                </a:solidFill>
                <a:latin typeface="Georgia"/>
              </a:rPr>
              <a:t>Bugün çalışan. Sonra geliştirilecek.</a:t>
            </a:r>
          </a:p>
        </p:txBody>
      </p:sp>
      <p:cxnSp>
        <p:nvCxnSpPr>
          <p:cNvPr id="3" name="Connector 2"/>
          <p:cNvCxnSpPr/>
          <p:nvPr/>
        </p:nvCxnSpPr>
        <p:spPr>
          <a:xfrm>
            <a:off x="713232" y="6345936"/>
            <a:ext cx="10762488" cy="0"/>
          </a:xfrm>
          <a:prstGeom prst="line">
            <a:avLst/>
          </a:prstGeom>
          <a:ln w="8890">
            <a:solidFill>
              <a:srgbClr val="35524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6473952"/>
            <a:ext cx="9966960" cy="228600"/>
          </a:xfrm>
          <a:prstGeom prst="rect">
            <a:avLst/>
          </a:prstGeom>
          <a:noFill/>
        </p:spPr>
        <p:txBody>
          <a:bodyPr wrap="square" lIns="0" rIns="0" tIns="18288" bIns="18288">
            <a:spAutoFit/>
          </a:bodyPr>
          <a:lstStyle/>
          <a:p>
            <a:pPr algn="l">
              <a:lnSpc>
                <a:spcPct val="105000"/>
              </a:lnSpc>
              <a:spcAft>
                <a:spcPts val="400"/>
              </a:spcAft>
            </a:pPr>
            <a:r>
              <a:rPr sz="1100" b="0">
                <a:solidFill>
                  <a:srgbClr val="ADC0BA"/>
                </a:solidFill>
                <a:latin typeface="Arial"/>
              </a:rPr>
              <a:t>Arf   /   OKX Agent Trade Kit × Avalanche   /   17 Ekim 2026</a:t>
            </a:r>
          </a:p>
        </p:txBody>
      </p:sp>
      <p:sp>
        <p:nvSpPr>
          <p:cNvPr id="5" name="TextBox 4"/>
          <p:cNvSpPr txBox="1"/>
          <p:nvPr/>
        </p:nvSpPr>
        <p:spPr>
          <a:xfrm>
            <a:off x="11009376" y="6446520"/>
            <a:ext cx="438912" cy="274320"/>
          </a:xfrm>
          <a:prstGeom prst="rect">
            <a:avLst/>
          </a:prstGeom>
          <a:noFill/>
        </p:spPr>
        <p:txBody>
          <a:bodyPr wrap="square" lIns="0" rIns="0" tIns="18288" bIns="18288">
            <a:spAutoFit/>
          </a:bodyPr>
          <a:lstStyle/>
          <a:p>
            <a:pPr algn="r">
              <a:lnSpc>
                <a:spcPct val="105000"/>
              </a:lnSpc>
              <a:spcAft>
                <a:spcPts val="400"/>
              </a:spcAft>
            </a:pPr>
            <a:r>
              <a:rPr sz="1200" b="0">
                <a:solidFill>
                  <a:srgbClr val="ADC0BA"/>
                </a:solidFill>
                <a:latin typeface="Courier New"/>
              </a:rPr>
              <a:t>09</a:t>
            </a:r>
          </a:p>
        </p:txBody>
      </p:sp>
      <p:sp>
        <p:nvSpPr>
          <p:cNvPr id="6" name="TextBox 5"/>
          <p:cNvSpPr txBox="1"/>
          <p:nvPr/>
        </p:nvSpPr>
        <p:spPr>
          <a:xfrm>
            <a:off x="795528" y="1828800"/>
            <a:ext cx="5029200" cy="502920"/>
          </a:xfrm>
          <a:prstGeom prst="rect">
            <a:avLst/>
          </a:prstGeom>
          <a:noFill/>
        </p:spPr>
        <p:txBody>
          <a:bodyPr wrap="square" lIns="0" rIns="0" tIns="18288" bIns="18288">
            <a:spAutoFit/>
          </a:bodyPr>
          <a:lstStyle/>
          <a:p>
            <a:pPr algn="l">
              <a:lnSpc>
                <a:spcPct val="105000"/>
              </a:lnSpc>
              <a:spcAft>
                <a:spcPts val="400"/>
              </a:spcAft>
            </a:pPr>
            <a:r>
              <a:rPr sz="3000" b="0">
                <a:solidFill>
                  <a:srgbClr val="B5D0BD"/>
                </a:solidFill>
                <a:latin typeface="Georgia"/>
              </a:rPr>
              <a:t>Bugün</a:t>
            </a:r>
          </a:p>
        </p:txBody>
      </p:sp>
      <p:sp>
        <p:nvSpPr>
          <p:cNvPr id="7" name="TextBox 6"/>
          <p:cNvSpPr txBox="1"/>
          <p:nvPr/>
        </p:nvSpPr>
        <p:spPr>
          <a:xfrm>
            <a:off x="795528" y="2724912"/>
            <a:ext cx="5074920" cy="1645920"/>
          </a:xfrm>
          <a:prstGeom prst="rect">
            <a:avLst/>
          </a:prstGeom>
          <a:noFill/>
        </p:spPr>
        <p:txBody>
          <a:bodyPr wrap="square" lIns="0" rIns="0" tIns="18288" bIns="18288">
            <a:spAutoFit/>
          </a:bodyPr>
          <a:lstStyle/>
          <a:p>
            <a:pPr algn="l">
              <a:lnSpc>
                <a:spcPct val="105000"/>
              </a:lnSpc>
              <a:spcAft>
                <a:spcPts val="400"/>
              </a:spcAft>
            </a:pPr>
            <a:r>
              <a:rPr sz="2600" b="0">
                <a:solidFill>
                  <a:srgbClr val="EEF1E8"/>
                </a:solidFill>
                <a:latin typeface="Arial"/>
              </a:rPr>
              <a:t>Yerelde canlı demo</a:t>
            </a:r>
          </a:p>
          <a:p>
            <a:pPr algn="l">
              <a:lnSpc>
                <a:spcPct val="105000"/>
              </a:lnSpc>
              <a:spcAft>
                <a:spcPts val="400"/>
              </a:spcAft>
            </a:pPr>
            <a:r>
              <a:rPr sz="2600" b="0">
                <a:solidFill>
                  <a:srgbClr val="EEF1E8"/>
                </a:solidFill>
                <a:latin typeface="Arial"/>
              </a:rPr>
              <a:t>Fuji’de devre kesici</a:t>
            </a:r>
          </a:p>
          <a:p>
            <a:pPr algn="l">
              <a:lnSpc>
                <a:spcPct val="105000"/>
              </a:lnSpc>
              <a:spcAft>
                <a:spcPts val="400"/>
              </a:spcAft>
            </a:pPr>
            <a:r>
              <a:rPr sz="2600" b="0">
                <a:solidFill>
                  <a:srgbClr val="EEF1E8"/>
                </a:solidFill>
                <a:latin typeface="Arial"/>
              </a:rPr>
              <a:t>İnternette simülasyon</a:t>
            </a:r>
          </a:p>
        </p:txBody>
      </p:sp>
      <p:cxnSp>
        <p:nvCxnSpPr>
          <p:cNvPr id="8" name="Connector 7"/>
          <p:cNvCxnSpPr/>
          <p:nvPr/>
        </p:nvCxnSpPr>
        <p:spPr>
          <a:xfrm>
            <a:off x="5989320" y="1874519"/>
            <a:ext cx="0" cy="2697481"/>
          </a:xfrm>
          <a:prstGeom prst="line">
            <a:avLst/>
          </a:prstGeom>
          <a:ln w="12700">
            <a:solidFill>
              <a:srgbClr val="35524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10528" y="1828800"/>
            <a:ext cx="4846320" cy="502920"/>
          </a:xfrm>
          <a:prstGeom prst="rect">
            <a:avLst/>
          </a:prstGeom>
          <a:noFill/>
        </p:spPr>
        <p:txBody>
          <a:bodyPr wrap="square" lIns="0" rIns="0" tIns="18288" bIns="18288">
            <a:spAutoFit/>
          </a:bodyPr>
          <a:lstStyle/>
          <a:p>
            <a:pPr algn="l">
              <a:lnSpc>
                <a:spcPct val="105000"/>
              </a:lnSpc>
              <a:spcAft>
                <a:spcPts val="400"/>
              </a:spcAft>
            </a:pPr>
            <a:r>
              <a:rPr sz="3000" b="0">
                <a:solidFill>
                  <a:srgbClr val="B5D0BD"/>
                </a:solidFill>
                <a:latin typeface="Georgia"/>
              </a:rPr>
              <a:t>Sonraki adım</a:t>
            </a:r>
          </a:p>
        </p:txBody>
      </p:sp>
      <p:sp>
        <p:nvSpPr>
          <p:cNvPr id="10" name="TextBox 9"/>
          <p:cNvSpPr txBox="1"/>
          <p:nvPr/>
        </p:nvSpPr>
        <p:spPr>
          <a:xfrm>
            <a:off x="6510528" y="2724912"/>
            <a:ext cx="4846320" cy="1645920"/>
          </a:xfrm>
          <a:prstGeom prst="rect">
            <a:avLst/>
          </a:prstGeom>
          <a:noFill/>
        </p:spPr>
        <p:txBody>
          <a:bodyPr wrap="square" lIns="0" rIns="0" tIns="18288" bIns="18288">
            <a:spAutoFit/>
          </a:bodyPr>
          <a:lstStyle/>
          <a:p>
            <a:pPr algn="l">
              <a:lnSpc>
                <a:spcPct val="105000"/>
              </a:lnSpc>
              <a:spcAft>
                <a:spcPts val="400"/>
              </a:spcAft>
            </a:pPr>
            <a:r>
              <a:rPr sz="2600" b="0">
                <a:solidFill>
                  <a:srgbClr val="EEF1E8"/>
                </a:solidFill>
                <a:latin typeface="Arial"/>
              </a:rPr>
              <a:t>Çoklu oracle + EIP-712</a:t>
            </a:r>
          </a:p>
          <a:p>
            <a:pPr algn="l">
              <a:lnSpc>
                <a:spcPct val="105000"/>
              </a:lnSpc>
              <a:spcAft>
                <a:spcPts val="400"/>
              </a:spcAft>
            </a:pPr>
            <a:r>
              <a:rPr sz="2600" b="0">
                <a:solidFill>
                  <a:srgbClr val="EEF1E8"/>
                </a:solidFill>
                <a:latin typeface="Arial"/>
              </a:rPr>
              <a:t>İcra planı</a:t>
            </a:r>
          </a:p>
          <a:p>
            <a:pPr algn="l">
              <a:lnSpc>
                <a:spcPct val="105000"/>
              </a:lnSpc>
              <a:spcAft>
                <a:spcPts val="400"/>
              </a:spcAft>
            </a:pPr>
            <a:r>
              <a:rPr sz="2600" b="0">
                <a:solidFill>
                  <a:srgbClr val="EEF1E8"/>
                </a:solidFill>
                <a:latin typeface="Arial"/>
              </a:rPr>
              <a:t>OKX.ai servis yayını</a:t>
            </a:r>
          </a:p>
        </p:txBody>
      </p:sp>
      <p:sp>
        <p:nvSpPr>
          <p:cNvPr id="11" name="TextBox 10"/>
          <p:cNvSpPr txBox="1"/>
          <p:nvPr/>
        </p:nvSpPr>
        <p:spPr>
          <a:xfrm>
            <a:off x="6528816" y="4617720"/>
            <a:ext cx="4754880" cy="320040"/>
          </a:xfrm>
          <a:prstGeom prst="rect">
            <a:avLst/>
          </a:prstGeom>
          <a:noFill/>
        </p:spPr>
        <p:txBody>
          <a:bodyPr wrap="square" lIns="0" rIns="0" tIns="18288" bIns="18288">
            <a:spAutoFit/>
          </a:bodyPr>
          <a:lstStyle/>
          <a:p>
            <a:pPr algn="l">
              <a:lnSpc>
                <a:spcPct val="105000"/>
              </a:lnSpc>
              <a:spcAft>
                <a:spcPts val="400"/>
              </a:spcAft>
            </a:pPr>
            <a:r>
              <a:rPr sz="1800" b="0">
                <a:solidFill>
                  <a:srgbClr val="ADC0BA"/>
                </a:solidFill>
                <a:latin typeface="Arial"/>
              </a:rPr>
              <a:t>Henüz kodlanmadı.</a:t>
            </a:r>
          </a:p>
        </p:txBody>
      </p:sp>
      <p:cxnSp>
        <p:nvCxnSpPr>
          <p:cNvPr id="12" name="Connector 11"/>
          <p:cNvCxnSpPr/>
          <p:nvPr/>
        </p:nvCxnSpPr>
        <p:spPr>
          <a:xfrm>
            <a:off x="795528" y="5257800"/>
            <a:ext cx="10570464" cy="0"/>
          </a:xfrm>
          <a:prstGeom prst="line">
            <a:avLst/>
          </a:prstGeom>
          <a:ln w="12700">
            <a:solidFill>
              <a:srgbClr val="35524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5513832"/>
            <a:ext cx="10607040" cy="548640"/>
          </a:xfrm>
          <a:prstGeom prst="rect">
            <a:avLst/>
          </a:prstGeom>
          <a:noFill/>
        </p:spPr>
        <p:txBody>
          <a:bodyPr wrap="square" lIns="0" rIns="0" tIns="18288" bIns="18288">
            <a:spAutoFit/>
          </a:bodyPr>
          <a:lstStyle/>
          <a:p>
            <a:pPr algn="l">
              <a:lnSpc>
                <a:spcPct val="105000"/>
              </a:lnSpc>
              <a:spcAft>
                <a:spcPts val="400"/>
              </a:spcAft>
            </a:pPr>
            <a:r>
              <a:rPr sz="2200" b="0">
                <a:solidFill>
                  <a:srgbClr val="ADC0BA"/>
                </a:solidFill>
                <a:latin typeface="Arial"/>
              </a:rPr>
              <a:t>İş modeli tasarımı: temel ücretsiz, gerçek zamanlı API ücretli.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BDF"/>
        </a:solidFill>
        <a:effectLst/>
      </p:bgPr>
    </p:bg>
    <p:spTree>
      <p:nvGrpSpPr>
        <p:cNvPr id="1" name=""/>
        <p:cNvGrpSpPr/>
        <p:nvPr/>
      </p:nvGrpSpPr>
      <p:grpSpPr/>
      <p:cxnSp>
        <p:nvCxnSpPr>
          <p:cNvPr id="2" name="Connector 1"/>
          <p:cNvCxnSpPr/>
          <p:nvPr/>
        </p:nvCxnSpPr>
        <p:spPr>
          <a:xfrm>
            <a:off x="713232" y="6345936"/>
            <a:ext cx="10762488" cy="0"/>
          </a:xfrm>
          <a:prstGeom prst="line">
            <a:avLst/>
          </a:prstGeom>
          <a:ln w="8890">
            <a:solidFill>
              <a:srgbClr val="4D655D"/>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31520" y="6473952"/>
            <a:ext cx="9966960" cy="228600"/>
          </a:xfrm>
          <a:prstGeom prst="rect">
            <a:avLst/>
          </a:prstGeom>
          <a:noFill/>
        </p:spPr>
        <p:txBody>
          <a:bodyPr wrap="square" lIns="0" rIns="0" tIns="18288" bIns="18288">
            <a:spAutoFit/>
          </a:bodyPr>
          <a:lstStyle/>
          <a:p>
            <a:pPr algn="l">
              <a:lnSpc>
                <a:spcPct val="105000"/>
              </a:lnSpc>
              <a:spcAft>
                <a:spcPts val="400"/>
              </a:spcAft>
            </a:pPr>
            <a:r>
              <a:rPr sz="1100" b="0">
                <a:solidFill>
                  <a:srgbClr val="4D655D"/>
                </a:solidFill>
                <a:latin typeface="Arial"/>
              </a:rPr>
              <a:t>Arf   /   OKX Agent Trade Kit × Avalanche   /   17 Ekim 2026</a:t>
            </a:r>
          </a:p>
        </p:txBody>
      </p:sp>
      <p:sp>
        <p:nvSpPr>
          <p:cNvPr id="4" name="TextBox 3"/>
          <p:cNvSpPr txBox="1"/>
          <p:nvPr/>
        </p:nvSpPr>
        <p:spPr>
          <a:xfrm>
            <a:off x="11009376" y="6446520"/>
            <a:ext cx="438912" cy="274320"/>
          </a:xfrm>
          <a:prstGeom prst="rect">
            <a:avLst/>
          </a:prstGeom>
          <a:noFill/>
        </p:spPr>
        <p:txBody>
          <a:bodyPr wrap="square" lIns="0" rIns="0" tIns="18288" bIns="18288">
            <a:spAutoFit/>
          </a:bodyPr>
          <a:lstStyle/>
          <a:p>
            <a:pPr algn="r">
              <a:lnSpc>
                <a:spcPct val="105000"/>
              </a:lnSpc>
              <a:spcAft>
                <a:spcPts val="400"/>
              </a:spcAft>
            </a:pPr>
            <a:r>
              <a:rPr sz="1200" b="0">
                <a:solidFill>
                  <a:srgbClr val="4D655D"/>
                </a:solidFill>
                <a:latin typeface="Courier New"/>
              </a:rPr>
              <a:t>10</a:t>
            </a:r>
          </a:p>
        </p:txBody>
      </p:sp>
      <p:sp>
        <p:nvSpPr>
          <p:cNvPr id="5" name="TextBox 4"/>
          <p:cNvSpPr txBox="1"/>
          <p:nvPr/>
        </p:nvSpPr>
        <p:spPr>
          <a:xfrm>
            <a:off x="731520" y="1051560"/>
            <a:ext cx="10607040" cy="1234440"/>
          </a:xfrm>
          <a:prstGeom prst="rect">
            <a:avLst/>
          </a:prstGeom>
          <a:noFill/>
        </p:spPr>
        <p:txBody>
          <a:bodyPr wrap="square" lIns="0" rIns="0" tIns="18288" bIns="18288">
            <a:spAutoFit/>
          </a:bodyPr>
          <a:lstStyle/>
          <a:p>
            <a:pPr algn="l">
              <a:lnSpc>
                <a:spcPct val="105000"/>
              </a:lnSpc>
              <a:spcAft>
                <a:spcPts val="400"/>
              </a:spcAft>
            </a:pPr>
            <a:r>
              <a:rPr sz="7400" b="0">
                <a:solidFill>
                  <a:srgbClr val="16312E"/>
                </a:solidFill>
                <a:latin typeface="Georgia"/>
              </a:rPr>
              <a:t>Teşekkürler.</a:t>
            </a:r>
          </a:p>
        </p:txBody>
      </p:sp>
      <p:sp>
        <p:nvSpPr>
          <p:cNvPr id="6" name="TextBox 5"/>
          <p:cNvSpPr txBox="1"/>
          <p:nvPr/>
        </p:nvSpPr>
        <p:spPr>
          <a:xfrm>
            <a:off x="813816" y="2679192"/>
            <a:ext cx="10515600" cy="777240"/>
          </a:xfrm>
          <a:prstGeom prst="rect">
            <a:avLst/>
          </a:prstGeom>
          <a:noFill/>
        </p:spPr>
        <p:txBody>
          <a:bodyPr wrap="square" lIns="0" rIns="0" tIns="18288" bIns="18288">
            <a:spAutoFit/>
          </a:bodyPr>
          <a:lstStyle/>
          <a:p>
            <a:pPr algn="l">
              <a:lnSpc>
                <a:spcPct val="105000"/>
              </a:lnSpc>
              <a:spcAft>
                <a:spcPts val="400"/>
              </a:spcAft>
            </a:pPr>
            <a:r>
              <a:rPr sz="4000" b="0">
                <a:solidFill>
                  <a:srgbClr val="16312E"/>
                </a:solidFill>
                <a:latin typeface="Georgia"/>
              </a:rPr>
              <a:t>Arf</a:t>
            </a:r>
          </a:p>
        </p:txBody>
      </p:sp>
      <p:sp>
        <p:nvSpPr>
          <p:cNvPr id="7" name="TextBox 6"/>
          <p:cNvSpPr txBox="1"/>
          <p:nvPr/>
        </p:nvSpPr>
        <p:spPr>
          <a:xfrm>
            <a:off x="822960" y="3474720"/>
            <a:ext cx="10424160" cy="612648"/>
          </a:xfrm>
          <a:prstGeom prst="rect">
            <a:avLst/>
          </a:prstGeom>
          <a:noFill/>
        </p:spPr>
        <p:txBody>
          <a:bodyPr wrap="square" lIns="0" rIns="0" tIns="18288" bIns="18288">
            <a:spAutoFit/>
          </a:bodyPr>
          <a:lstStyle/>
          <a:p>
            <a:pPr algn="l">
              <a:lnSpc>
                <a:spcPct val="105000"/>
              </a:lnSpc>
              <a:spcAft>
                <a:spcPts val="400"/>
              </a:spcAft>
            </a:pPr>
            <a:r>
              <a:rPr sz="2800" b="0">
                <a:solidFill>
                  <a:srgbClr val="4D655D"/>
                </a:solidFill>
                <a:latin typeface="Arial"/>
              </a:rPr>
              <a:t>İşlem öncesi icra ve likidite kalkanı.</a:t>
            </a:r>
          </a:p>
        </p:txBody>
      </p:sp>
      <p:cxnSp>
        <p:nvCxnSpPr>
          <p:cNvPr id="8" name="Connector 7"/>
          <p:cNvCxnSpPr/>
          <p:nvPr/>
        </p:nvCxnSpPr>
        <p:spPr>
          <a:xfrm>
            <a:off x="822960" y="4434840"/>
            <a:ext cx="10515600" cy="0"/>
          </a:xfrm>
          <a:prstGeom prst="line">
            <a:avLst/>
          </a:prstGeom>
          <a:ln w="12700">
            <a:solidFill>
              <a:srgbClr val="B7C5B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4782312"/>
            <a:ext cx="9875520" cy="548640"/>
          </a:xfrm>
          <a:prstGeom prst="rect">
            <a:avLst/>
          </a:prstGeom>
          <a:noFill/>
        </p:spPr>
        <p:txBody>
          <a:bodyPr wrap="square" lIns="0" rIns="0" tIns="18288" bIns="18288">
            <a:spAutoFit/>
          </a:bodyPr>
          <a:lstStyle/>
          <a:p>
            <a:pPr algn="l">
              <a:lnSpc>
                <a:spcPct val="105000"/>
              </a:lnSpc>
              <a:spcAft>
                <a:spcPts val="400"/>
              </a:spcAft>
            </a:pPr>
            <a:r>
              <a:rPr sz="2900" b="0">
                <a:solidFill>
                  <a:srgbClr val="16312E"/>
                </a:solidFill>
                <a:latin typeface="Arial"/>
                <a:hlinkClick r:id="rId3"/>
              </a:rPr>
              <a:t>github.com/akifaybek/arf</a:t>
            </a:r>
          </a:p>
        </p:txBody>
      </p:sp>
      <p:sp>
        <p:nvSpPr>
          <p:cNvPr id="10" name="TextBox 9"/>
          <p:cNvSpPr txBox="1"/>
          <p:nvPr/>
        </p:nvSpPr>
        <p:spPr>
          <a:xfrm>
            <a:off x="859536" y="5550408"/>
            <a:ext cx="10058400" cy="438912"/>
          </a:xfrm>
          <a:prstGeom prst="rect">
            <a:avLst/>
          </a:prstGeom>
          <a:noFill/>
        </p:spPr>
        <p:txBody>
          <a:bodyPr wrap="square" lIns="0" rIns="0" tIns="18288" bIns="18288">
            <a:spAutoFit/>
          </a:bodyPr>
          <a:lstStyle/>
          <a:p>
            <a:pPr algn="l">
              <a:lnSpc>
                <a:spcPct val="105000"/>
              </a:lnSpc>
              <a:spcAft>
                <a:spcPts val="400"/>
              </a:spcAft>
            </a:pPr>
            <a:r>
              <a:rPr sz="2100" b="0">
                <a:solidFill>
                  <a:srgbClr val="4D655D"/>
                </a:solidFill>
                <a:latin typeface="Arial"/>
                <a:hlinkClick r:id="rId4"/>
              </a:rPr>
              <a:t>Web demosu: kayıtlı verilerle etkileşimli simülasyon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Arf — İşlem öncesi icra ve likidite kalkanı</dc:title>
  <dc:subject>OKX Agent Trade Kit × Avalanche Fuji</dc:subject>
  <dc:creator>Arf</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