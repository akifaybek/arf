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Arf, AI trading agent'lar için işlem öncesi icra ve likidite kalkanı; tek kişilik takım olarak OKX Agent Trade Kit ile topladığım piyasa verisini Avalanche üzerindeki devre kesiciye bağlıyorum. Cahit Arf ve Arf değişmezine gönderme yapan adı, sistemin koruduğu tek koşulu hatırlatıyor: hiçbir emir tahtanın taşıyabileceğinden büyük olamaz. Bugün önce icra maliyetinin tutarla nasıl değiştiğini, ardından çalışan karar akışını ve en önemlisi veri bozulduğunda ne olduğunu göstereceğim; iddialarımda geçmiş gerçek zincir işlemlerini, canlı ölçümü ve simülasyonu ayrı tutacağım.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ATK ile binlerce trading agent yazılacak; tahtanın emri kaldırıp kaldıramayacağını bilmeyen agent kendini batırır, çünkü aynı paritede tutar büyüdükçe icra maliyeti doğrusal artmaz. Hackathon ölçüm notundaki BIGTIME örneğinde bin USDT için kayma on virgül sekiz baz puanken on bin USDT için bin iki yüz seksen dört baz puan; tutar on kat, kayma oranı yüz kattan fazla büyüyor. Bunlar geçmiş bir tahta anının ölçümleri, canlı fiyat veya garanti değil; agent'ın her emir öncesinde güncel likiditeyi sorgulaması tam bu yüzden gerekli.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check_execution çağrısına sembolü, alış veya satış yönünü ve USDT tutarını verir; Arf deterministik risk skorunu, güvenli tutarı ve gerekiyorsa bölme önerisini üretir. Veri taze ve yeterliyse oracle bu sayıları imzalar, Avalanche kontratı da imzalı sınırı aşan niyeti reddeder; bölme hesabı hem agent'ta hem kontratta tutarın güvenli tutara bölümünün yukarı yuvarlanmasıdır. Buradaki değişmez imzalı güvenli tutarla sınırlıdır, gelecekteki tahta dolumunu garanti etmez ve prototip kontrat OKX'te emir yürütmez; güvenli tutar sıfırsa bölme önerisi de yoktur.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Mimari ATK CLI ile başlıyor; tüm piyasa verisi TR sitesi ve JSON çıktısı üzerinden gelirken logger yirmi paritenin epizodik hafızasını altmış saniye aralıkla tutuyor. Metrikler anlık tahtayı geçmiş medyan derinlikle karşılaştırıyor, piyasa rejimi için robust z hesaplıyor ve kayma sınırından güvenli tutarı çıkarıyor; LLM bu araçları çağırıyor ama sayısal sonucu yeniden yazamıyor. İmza yalnızca yeterli ve taze veriyle üretiliyor, kontrat ise imza ve tutar sınırını denetliyor; yüz yirmi saniyelik piyasa veri eşiği ile kontratın üç yüz saniyelik imza geçerlilik penceresi ayrı kontroller.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Planlayıcının scan_market, get_candles, get_orderbook, compute_metric ve sign_score araçları var; hangi kanıta bakacağını seçmesi agentic tarafı oluşturuyor, karar izinden de bu seçimi gösterebiliyorum. Sayılar deterministik, sign_score argümansız ve karar birleştirme sırası veri yetersiz, red, böl, onay şeklinde; LLM uygulama kararını yalnızca daha muhafazakâr yapabilir. Ana sağlayıcı Anthropic, ardından Gemini ve deterministik plan geliyor; dürüst sınır şu ki kontrat LLM etiketini değil imzalı sayıları denetler, dolayısıyla entegratör uygulama kararını da uygulamalı ve her LLM sıkılaştırmasının zincirde zorlandığını iddia etmiyorum.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Şimdi aynı ZBCN-USDT tahtasında önce bin USDT niyetini açıyorum, karar izini ve imzalı güvenli tutarı gösteriyorum; tahta uygunsa sonuç onay, ama tutar ve sonuç canlı veriyle değişebilir. İkinci sahnede on bin USDT güvenli tutarı aştığında ExceedsSafeSize cevabını gösterip agent'ın önerdiği parça sayısıyla kontratın hesabını karşılaştırıyorum; parça sayısını önceden sabitlemiyorum. Üçüncü sahne açıkça veri kesintisi simülasyonu: oracle imza üretmiyor, trader'ın kendi imzası BadSigner alıyor; ekrandaki ön izleme eth_call, alttaki explorer bağlantısı ise geçmiş gerçek işlemin kanıtı, ağ sorunu olursa deterministik yedeğe veya videoya geçiyorum.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Organizatörün sorusunu doğrudan cevaplayayım: veri bozulunca imza yok, yetkisiz imza BadSigner alıyor ve replay için önce tazelik kontrol ediliyor: eski onay StaleScore, üç yüz saniyelik pencere içindeki tüketilmiş onay AlreadyUsed ile reddediliyor; her iki katman da gerçek tx ile ölçüldü. Oracle anahtarı çalınırsa owner pause ve setOracle ile müdahale ediyor; yanlış alarm için zincirde parametrik eşik ve nominal Bonferroni düzeltmesi var, ancak gerçek yanlış alarm oranını ölçtüğümü söylemiyorum. LLM'e sadece yapısal veri gidiyor ve sayılar deterministik kalıyor; tek oracle güveni sürüyor, önceden verilmiş imzalar geçerlilik penceresinde kullanılabilir ve acil çıkış yolu yalnızca kavram, bu yüzden çoklu oracle ile eşik imza sonraki adım.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kanıt listesinde yedi gerçek tx var; IntentApproved ile demo kapsamındaki ExceedsSafeSize, BadSigner, AlreadyUsed ve StaleScore zincirde kaydedildi, taze replay kanıtı için bir USDT hazırlık işlemi ayrıca kullanıldı. Kontrat tazeliği replay kontrolünden önce denetlediği için eski kullanılmış onay StaleScore, geçerlilik penceresindeki kullanılmış onay AlreadyUsed alıyor; tablodaki bağlantılar bu gerçek işlemlere gidiyor. Güncel toplam seksen yedi Python testi burada ortam dosyası yüklemesi kapalı ve açık kontrat adresiyle geçti, on dört Solidity testi STATUS kaydı; yaklaşık iki saniye zincir onayı ve binde bir dolar LLM maliyeti örnek ölçümler, tek oracle ve testnet sınırları sürüyor.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İlk müşteri ATK ile agent geliştiren ekipler ve bireysel kullanıcılar; önerilen model temel kontrolü ücretsiz tutup gerçek zamanlı API erişimini ücretlendirmek, ama ücret ödeme isteği ve gelir henüz doğrulanmadı. Sonraki adım çoklu oracle ve eşik imza, EIP-712 ile daha okunur imzalama, Almgren–Chriss icra planı, ardından OKX.ai listeleme ve çağrı başına ödeme; bunlar bugün kodlanmış özellikler değil, mainnet veya Avalanche L1 geçişi de bu aşamaların sonrasında değerlendirilecek. Bugün gösterebildiğim değer, güncel ATK tahtasından çıkan sayısal sınırın Fuji üzerinde onay veya redde dönüşmesi; repo ve kontrat açık, her emirden önce aynı soruyu soruyoruz: bu tahta bu emri kaldırır mı?​</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hyperlink" Target="https://explorer-test.avax.network/c-chain/tx/0x7bef94f297de147acf74dce1139eca659e982e2ae51a51f013b2d89071ba5173" TargetMode="External"/><Relationship Id="rId4" Type="http://schemas.openxmlformats.org/officeDocument/2006/relationships/hyperlink" Target="https://explorer-test.avax.network/c-chain/tx/0xa5798d597f00a46e36c93a48f4423d46a18faf082d2006562140e4bd5eaacbbe" TargetMode="External"/><Relationship Id="rId5" Type="http://schemas.openxmlformats.org/officeDocument/2006/relationships/hyperlink" Target="https://explorer-test.avax.network/c-chain/tx/0x175eaee2cdce982ad58988c3d73bb08944bf3d62fbcf91dcab1a973b8f4bf0e5" TargetMode="External"/><Relationship Id="rId6" Type="http://schemas.openxmlformats.org/officeDocument/2006/relationships/hyperlink" Target="https://explorer-test.avax.network/c-chain/tx/0x80aeb84999c64df29bec84dccedd6addb3b1c22adac4e69abd74fc29eb2667a6" TargetMode="External"/><Relationship Id="rId7" Type="http://schemas.openxmlformats.org/officeDocument/2006/relationships/hyperlink" Target="https://explorer-test.avax.network/c-chain/tx/0x0b05e13fa25cb379d62f715820266a32db08250b40b19e2474940b5311ede98e" TargetMode="External"/><Relationship Id="rId8" Type="http://schemas.openxmlformats.org/officeDocument/2006/relationships/hyperlink" Target="https://explorer-test.avax.network/c-chain/tx/0xa1ad95144f813310c2b6c96457b35be32f71c3290f53d632f2b46baffbf99a80" TargetMode="External"/><Relationship Id="rId9" Type="http://schemas.openxmlformats.org/officeDocument/2006/relationships/hyperlink" Target="https://explorer-test.avax.network/c-chain/tx/0x0b29025776a1f03d8304fd01144ebe88741fe1d760ec405e5b8ebac9b91233a3"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hyperlink" Target="https://github.com/akifaybek/arf" TargetMode="External"/><Relationship Id="rId4" Type="http://schemas.openxmlformats.org/officeDocument/2006/relationships/hyperlink" Target="https://explorer-test.avax.network/c-chain/address/0xddE4C78F831f082E8AFDF716266bd1338B591159"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923"/>
        </a:solidFill>
        <a:effectLst/>
      </p:bgPr>
    </p:bg>
    <p:spTree>
      <p:nvGrpSpPr>
        <p:cNvPr id="1" name=""/>
        <p:cNvGrpSpPr/>
        <p:nvPr/>
      </p:nvGrpSpPr>
      <p:grpSpPr/>
      <p:sp>
        <p:nvSpPr>
          <p:cNvPr id="2" name="Rectangle 1"/>
          <p:cNvSpPr/>
          <p:nvPr/>
        </p:nvSpPr>
        <p:spPr>
          <a:xfrm>
            <a:off x="548640" y="475488"/>
            <a:ext cx="594360" cy="54864"/>
          </a:xfrm>
          <a:prstGeom prst="rect">
            <a:avLst/>
          </a:prstGeom>
          <a:solidFill>
            <a:srgbClr val="62E4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758952"/>
            <a:ext cx="10972800" cy="749808"/>
          </a:xfrm>
          <a:prstGeom prst="rect">
            <a:avLst/>
          </a:prstGeom>
          <a:noFill/>
        </p:spPr>
        <p:txBody>
          <a:bodyPr wrap="square" lIns="0" rIns="0" tIns="27432" bIns="27432">
            <a:spAutoFit/>
          </a:bodyPr>
          <a:lstStyle/>
          <a:p>
            <a:pPr algn="l">
              <a:spcAft>
                <a:spcPts val="800"/>
              </a:spcAft>
            </a:pPr>
            <a:r>
              <a:rPr sz="3800" b="1">
                <a:solidFill>
                  <a:srgbClr val="F4F7FA"/>
                </a:solidFill>
                <a:latin typeface="Arial"/>
              </a:rPr>
              <a:t>Arf</a:t>
            </a:r>
          </a:p>
        </p:txBody>
      </p:sp>
      <p:sp>
        <p:nvSpPr>
          <p:cNvPr id="4" name="TextBox 3"/>
          <p:cNvSpPr txBox="1"/>
          <p:nvPr/>
        </p:nvSpPr>
        <p:spPr>
          <a:xfrm>
            <a:off x="594360" y="6446520"/>
            <a:ext cx="10607040" cy="246888"/>
          </a:xfrm>
          <a:prstGeom prst="rect">
            <a:avLst/>
          </a:prstGeom>
          <a:noFill/>
        </p:spPr>
        <p:txBody>
          <a:bodyPr wrap="square" lIns="0" rIns="0" tIns="27432" bIns="27432">
            <a:spAutoFit/>
          </a:bodyPr>
          <a:lstStyle/>
          <a:p>
            <a:pPr algn="l">
              <a:spcAft>
                <a:spcPts val="800"/>
              </a:spcAft>
            </a:pPr>
            <a:r>
              <a:rPr sz="1200" b="0">
                <a:solidFill>
                  <a:srgbClr val="B6C4D1"/>
                </a:solidFill>
                <a:latin typeface="Arial"/>
              </a:rPr>
              <a:t>Arf  /  OKX Agent Trade Kit × Avalanche  /  17 Ekim 2026</a:t>
            </a:r>
          </a:p>
        </p:txBody>
      </p:sp>
      <p:sp>
        <p:nvSpPr>
          <p:cNvPr id="5" name="TextBox 4"/>
          <p:cNvSpPr txBox="1"/>
          <p:nvPr/>
        </p:nvSpPr>
        <p:spPr>
          <a:xfrm>
            <a:off x="11109960" y="6419088"/>
            <a:ext cx="457200" cy="274320"/>
          </a:xfrm>
          <a:prstGeom prst="rect">
            <a:avLst/>
          </a:prstGeom>
          <a:noFill/>
        </p:spPr>
        <p:txBody>
          <a:bodyPr wrap="square" lIns="0" rIns="0" tIns="27432" bIns="27432">
            <a:spAutoFit/>
          </a:bodyPr>
          <a:lstStyle/>
          <a:p>
            <a:pPr algn="l">
              <a:spcAft>
                <a:spcPts val="800"/>
              </a:spcAft>
            </a:pPr>
            <a:r>
              <a:rPr sz="1300" b="0">
                <a:solidFill>
                  <a:srgbClr val="B6C4D1"/>
                </a:solidFill>
                <a:latin typeface="Arial"/>
              </a:rPr>
              <a:t>01</a:t>
            </a:r>
          </a:p>
        </p:txBody>
      </p:sp>
      <p:sp>
        <p:nvSpPr>
          <p:cNvPr id="6" name="TextBox 5"/>
          <p:cNvSpPr txBox="1"/>
          <p:nvPr/>
        </p:nvSpPr>
        <p:spPr>
          <a:xfrm>
            <a:off x="685800" y="1828800"/>
            <a:ext cx="10789920" cy="1371600"/>
          </a:xfrm>
          <a:prstGeom prst="rect">
            <a:avLst/>
          </a:prstGeom>
          <a:noFill/>
        </p:spPr>
        <p:txBody>
          <a:bodyPr wrap="square" lIns="0" rIns="0" tIns="27432" bIns="27432">
            <a:spAutoFit/>
          </a:bodyPr>
          <a:lstStyle/>
          <a:p>
            <a:pPr algn="l">
              <a:spcAft>
                <a:spcPts val="800"/>
              </a:spcAft>
            </a:pPr>
            <a:r>
              <a:rPr sz="3600" b="1">
                <a:solidFill>
                  <a:srgbClr val="F4F7FA"/>
                </a:solidFill>
                <a:latin typeface="Arial"/>
              </a:rPr>
              <a:t>AI trading agent'lar için</a:t>
            </a:r>
          </a:p>
          <a:p>
            <a:pPr algn="l">
              <a:spcAft>
                <a:spcPts val="800"/>
              </a:spcAft>
            </a:pPr>
            <a:r>
              <a:rPr sz="3600" b="1">
                <a:solidFill>
                  <a:srgbClr val="F4F7FA"/>
                </a:solidFill>
                <a:latin typeface="Arial"/>
              </a:rPr>
              <a:t>işlem öncesi icra ve likidite kalkanı</a:t>
            </a:r>
          </a:p>
        </p:txBody>
      </p:sp>
      <p:sp>
        <p:nvSpPr>
          <p:cNvPr id="7" name="TextBox 6"/>
          <p:cNvSpPr txBox="1"/>
          <p:nvPr/>
        </p:nvSpPr>
        <p:spPr>
          <a:xfrm>
            <a:off x="704088" y="3703320"/>
            <a:ext cx="10789920" cy="548640"/>
          </a:xfrm>
          <a:prstGeom prst="rect">
            <a:avLst/>
          </a:prstGeom>
          <a:noFill/>
        </p:spPr>
        <p:txBody>
          <a:bodyPr wrap="square" lIns="0" rIns="0" tIns="27432" bIns="27432">
            <a:spAutoFit/>
          </a:bodyPr>
          <a:lstStyle/>
          <a:p>
            <a:pPr algn="l">
              <a:spcAft>
                <a:spcPts val="800"/>
              </a:spcAft>
            </a:pPr>
            <a:r>
              <a:rPr sz="2800" b="0">
                <a:solidFill>
                  <a:srgbClr val="62E4CD"/>
                </a:solidFill>
                <a:latin typeface="Arial"/>
              </a:rPr>
              <a:t>OKX Agent Trade Kit × Avalanche</a:t>
            </a:r>
          </a:p>
        </p:txBody>
      </p:sp>
      <p:sp>
        <p:nvSpPr>
          <p:cNvPr id="8" name="TextBox 7"/>
          <p:cNvSpPr txBox="1"/>
          <p:nvPr/>
        </p:nvSpPr>
        <p:spPr>
          <a:xfrm>
            <a:off x="704088" y="4572000"/>
            <a:ext cx="10789920" cy="731520"/>
          </a:xfrm>
          <a:prstGeom prst="rect">
            <a:avLst/>
          </a:prstGeom>
          <a:noFill/>
        </p:spPr>
        <p:txBody>
          <a:bodyPr wrap="square" lIns="0" rIns="0" tIns="27432" bIns="27432">
            <a:spAutoFit/>
          </a:bodyPr>
          <a:lstStyle/>
          <a:p>
            <a:pPr algn="l">
              <a:spcAft>
                <a:spcPts val="800"/>
              </a:spcAft>
            </a:pPr>
            <a:r>
              <a:rPr sz="2300" b="0">
                <a:solidFill>
                  <a:srgbClr val="B6C4D1"/>
                </a:solidFill>
                <a:latin typeface="Arial"/>
              </a:rPr>
              <a:t>Cahit Arf'a gönderme: tek bir değişmezi korumak.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923"/>
        </a:solidFill>
        <a:effectLst/>
      </p:bgPr>
    </p:bg>
    <p:spTree>
      <p:nvGrpSpPr>
        <p:cNvPr id="1" name=""/>
        <p:cNvGrpSpPr/>
        <p:nvPr/>
      </p:nvGrpSpPr>
      <p:grpSpPr/>
      <p:sp>
        <p:nvSpPr>
          <p:cNvPr id="2" name="Rectangle 1"/>
          <p:cNvSpPr/>
          <p:nvPr/>
        </p:nvSpPr>
        <p:spPr>
          <a:xfrm>
            <a:off x="548640" y="475488"/>
            <a:ext cx="594360" cy="54864"/>
          </a:xfrm>
          <a:prstGeom prst="rect">
            <a:avLst/>
          </a:prstGeom>
          <a:solidFill>
            <a:srgbClr val="62E4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758952"/>
            <a:ext cx="10972800" cy="749808"/>
          </a:xfrm>
          <a:prstGeom prst="rect">
            <a:avLst/>
          </a:prstGeom>
          <a:noFill/>
        </p:spPr>
        <p:txBody>
          <a:bodyPr wrap="square" lIns="0" rIns="0" tIns="27432" bIns="27432">
            <a:spAutoFit/>
          </a:bodyPr>
          <a:lstStyle/>
          <a:p>
            <a:pPr algn="l">
              <a:spcAft>
                <a:spcPts val="800"/>
              </a:spcAft>
            </a:pPr>
            <a:r>
              <a:rPr sz="3800" b="1">
                <a:solidFill>
                  <a:srgbClr val="F4F7FA"/>
                </a:solidFill>
                <a:latin typeface="Arial"/>
              </a:rPr>
              <a:t>Tahta emri kaldırabilecek mi?</a:t>
            </a:r>
          </a:p>
        </p:txBody>
      </p:sp>
      <p:sp>
        <p:nvSpPr>
          <p:cNvPr id="4" name="TextBox 3"/>
          <p:cNvSpPr txBox="1"/>
          <p:nvPr/>
        </p:nvSpPr>
        <p:spPr>
          <a:xfrm>
            <a:off x="594360" y="6446520"/>
            <a:ext cx="10607040" cy="246888"/>
          </a:xfrm>
          <a:prstGeom prst="rect">
            <a:avLst/>
          </a:prstGeom>
          <a:noFill/>
        </p:spPr>
        <p:txBody>
          <a:bodyPr wrap="square" lIns="0" rIns="0" tIns="27432" bIns="27432">
            <a:spAutoFit/>
          </a:bodyPr>
          <a:lstStyle/>
          <a:p>
            <a:pPr algn="l">
              <a:spcAft>
                <a:spcPts val="800"/>
              </a:spcAft>
            </a:pPr>
            <a:r>
              <a:rPr sz="1200" b="0">
                <a:solidFill>
                  <a:srgbClr val="B6C4D1"/>
                </a:solidFill>
                <a:latin typeface="Arial"/>
              </a:rPr>
              <a:t>Arf  /  OKX Agent Trade Kit × Avalanche  /  17 Ekim 2026</a:t>
            </a:r>
          </a:p>
        </p:txBody>
      </p:sp>
      <p:sp>
        <p:nvSpPr>
          <p:cNvPr id="5" name="TextBox 4"/>
          <p:cNvSpPr txBox="1"/>
          <p:nvPr/>
        </p:nvSpPr>
        <p:spPr>
          <a:xfrm>
            <a:off x="11109960" y="6419088"/>
            <a:ext cx="457200" cy="274320"/>
          </a:xfrm>
          <a:prstGeom prst="rect">
            <a:avLst/>
          </a:prstGeom>
          <a:noFill/>
        </p:spPr>
        <p:txBody>
          <a:bodyPr wrap="square" lIns="0" rIns="0" tIns="27432" bIns="27432">
            <a:spAutoFit/>
          </a:bodyPr>
          <a:lstStyle/>
          <a:p>
            <a:pPr algn="l">
              <a:spcAft>
                <a:spcPts val="800"/>
              </a:spcAft>
            </a:pPr>
            <a:r>
              <a:rPr sz="1300" b="0">
                <a:solidFill>
                  <a:srgbClr val="B6C4D1"/>
                </a:solidFill>
                <a:latin typeface="Arial"/>
              </a:rPr>
              <a:t>02</a:t>
            </a:r>
          </a:p>
        </p:txBody>
      </p:sp>
      <p:sp>
        <p:nvSpPr>
          <p:cNvPr id="6" name="TextBox 5"/>
          <p:cNvSpPr txBox="1"/>
          <p:nvPr/>
        </p:nvSpPr>
        <p:spPr>
          <a:xfrm>
            <a:off x="685800" y="1783080"/>
            <a:ext cx="10789920" cy="594360"/>
          </a:xfrm>
          <a:prstGeom prst="rect">
            <a:avLst/>
          </a:prstGeom>
          <a:noFill/>
        </p:spPr>
        <p:txBody>
          <a:bodyPr wrap="square" lIns="0" rIns="0" tIns="27432" bIns="27432">
            <a:spAutoFit/>
          </a:bodyPr>
          <a:lstStyle/>
          <a:p>
            <a:pPr algn="l">
              <a:spcAft>
                <a:spcPts val="800"/>
              </a:spcAft>
            </a:pPr>
            <a:r>
              <a:rPr sz="2800" b="0">
                <a:solidFill>
                  <a:srgbClr val="F4F7FA"/>
                </a:solidFill>
                <a:latin typeface="Arial"/>
              </a:rPr>
              <a:t>Tahtayı bilmeyen agent kendini batırır.</a:t>
            </a:r>
          </a:p>
        </p:txBody>
      </p:sp>
      <p:sp>
        <p:nvSpPr>
          <p:cNvPr id="7" name="TextBox 6"/>
          <p:cNvSpPr txBox="1"/>
          <p:nvPr/>
        </p:nvSpPr>
        <p:spPr>
          <a:xfrm>
            <a:off x="731520" y="2743200"/>
            <a:ext cx="5120640" cy="457200"/>
          </a:xfrm>
          <a:prstGeom prst="rect">
            <a:avLst/>
          </a:prstGeom>
          <a:noFill/>
        </p:spPr>
        <p:txBody>
          <a:bodyPr wrap="square" lIns="0" rIns="0" tIns="27432" bIns="27432">
            <a:spAutoFit/>
          </a:bodyPr>
          <a:lstStyle/>
          <a:p>
            <a:pPr algn="l">
              <a:spcAft>
                <a:spcPts val="800"/>
              </a:spcAft>
            </a:pPr>
            <a:r>
              <a:rPr sz="2300" b="0">
                <a:solidFill>
                  <a:srgbClr val="B6C4D1"/>
                </a:solidFill>
                <a:latin typeface="Arial"/>
              </a:rPr>
              <a:t>BIGTIME-USDT  /  1.000 USDT</a:t>
            </a:r>
          </a:p>
        </p:txBody>
      </p:sp>
      <p:sp>
        <p:nvSpPr>
          <p:cNvPr id="8" name="TextBox 7"/>
          <p:cNvSpPr txBox="1"/>
          <p:nvPr/>
        </p:nvSpPr>
        <p:spPr>
          <a:xfrm>
            <a:off x="731520" y="3337560"/>
            <a:ext cx="5120640" cy="914400"/>
          </a:xfrm>
          <a:prstGeom prst="rect">
            <a:avLst/>
          </a:prstGeom>
          <a:noFill/>
        </p:spPr>
        <p:txBody>
          <a:bodyPr wrap="square" lIns="0" rIns="0" tIns="27432" bIns="27432">
            <a:spAutoFit/>
          </a:bodyPr>
          <a:lstStyle/>
          <a:p>
            <a:pPr algn="l">
              <a:spcAft>
                <a:spcPts val="800"/>
              </a:spcAft>
            </a:pPr>
            <a:r>
              <a:rPr sz="5400" b="1">
                <a:solidFill>
                  <a:srgbClr val="62E4CD"/>
                </a:solidFill>
                <a:latin typeface="Arial"/>
              </a:rPr>
              <a:t>10,8 bps</a:t>
            </a:r>
          </a:p>
        </p:txBody>
      </p:sp>
      <p:sp>
        <p:nvSpPr>
          <p:cNvPr id="9" name="TextBox 8"/>
          <p:cNvSpPr txBox="1"/>
          <p:nvPr/>
        </p:nvSpPr>
        <p:spPr>
          <a:xfrm>
            <a:off x="6400800" y="2743200"/>
            <a:ext cx="5029200" cy="457200"/>
          </a:xfrm>
          <a:prstGeom prst="rect">
            <a:avLst/>
          </a:prstGeom>
          <a:noFill/>
        </p:spPr>
        <p:txBody>
          <a:bodyPr wrap="square" lIns="0" rIns="0" tIns="27432" bIns="27432">
            <a:spAutoFit/>
          </a:bodyPr>
          <a:lstStyle/>
          <a:p>
            <a:pPr algn="l">
              <a:spcAft>
                <a:spcPts val="800"/>
              </a:spcAft>
            </a:pPr>
            <a:r>
              <a:rPr sz="2300" b="0">
                <a:solidFill>
                  <a:srgbClr val="B6C4D1"/>
                </a:solidFill>
                <a:latin typeface="Arial"/>
              </a:rPr>
              <a:t>BIGTIME-USDT  /  10.000 USDT</a:t>
            </a:r>
          </a:p>
        </p:txBody>
      </p:sp>
      <p:sp>
        <p:nvSpPr>
          <p:cNvPr id="10" name="TextBox 9"/>
          <p:cNvSpPr txBox="1"/>
          <p:nvPr/>
        </p:nvSpPr>
        <p:spPr>
          <a:xfrm>
            <a:off x="6400800" y="3337560"/>
            <a:ext cx="5029200" cy="914400"/>
          </a:xfrm>
          <a:prstGeom prst="rect">
            <a:avLst/>
          </a:prstGeom>
          <a:noFill/>
        </p:spPr>
        <p:txBody>
          <a:bodyPr wrap="square" lIns="0" rIns="0" tIns="27432" bIns="27432">
            <a:spAutoFit/>
          </a:bodyPr>
          <a:lstStyle/>
          <a:p>
            <a:pPr algn="l">
              <a:spcAft>
                <a:spcPts val="800"/>
              </a:spcAft>
            </a:pPr>
            <a:r>
              <a:rPr sz="5400" b="1">
                <a:solidFill>
                  <a:srgbClr val="FFC56D"/>
                </a:solidFill>
                <a:latin typeface="Arial"/>
              </a:rPr>
              <a:t>1284 bps</a:t>
            </a:r>
          </a:p>
        </p:txBody>
      </p:sp>
      <p:sp>
        <p:nvSpPr>
          <p:cNvPr id="11" name="TextBox 10"/>
          <p:cNvSpPr txBox="1"/>
          <p:nvPr/>
        </p:nvSpPr>
        <p:spPr>
          <a:xfrm>
            <a:off x="731520" y="4892040"/>
            <a:ext cx="10789920" cy="640080"/>
          </a:xfrm>
          <a:prstGeom prst="rect">
            <a:avLst/>
          </a:prstGeom>
          <a:noFill/>
        </p:spPr>
        <p:txBody>
          <a:bodyPr wrap="square" lIns="0" rIns="0" tIns="27432" bIns="27432">
            <a:spAutoFit/>
          </a:bodyPr>
          <a:lstStyle/>
          <a:p>
            <a:pPr algn="l">
              <a:spcAft>
                <a:spcPts val="800"/>
              </a:spcAft>
            </a:pPr>
            <a:r>
              <a:rPr sz="3200" b="1">
                <a:solidFill>
                  <a:srgbClr val="F4F7FA"/>
                </a:solidFill>
                <a:latin typeface="Arial"/>
              </a:rPr>
              <a:t>10× tutar, 100×+ kayma oranı</a:t>
            </a:r>
          </a:p>
        </p:txBody>
      </p:sp>
      <p:sp>
        <p:nvSpPr>
          <p:cNvPr id="12" name="TextBox 11"/>
          <p:cNvSpPr txBox="1"/>
          <p:nvPr/>
        </p:nvSpPr>
        <p:spPr>
          <a:xfrm>
            <a:off x="731520" y="5715000"/>
            <a:ext cx="10789920" cy="365760"/>
          </a:xfrm>
          <a:prstGeom prst="rect">
            <a:avLst/>
          </a:prstGeom>
          <a:noFill/>
        </p:spPr>
        <p:txBody>
          <a:bodyPr wrap="square" lIns="0" rIns="0" tIns="27432" bIns="27432">
            <a:spAutoFit/>
          </a:bodyPr>
          <a:lstStyle/>
          <a:p>
            <a:pPr algn="l">
              <a:spcAft>
                <a:spcPts val="800"/>
              </a:spcAft>
            </a:pPr>
            <a:r>
              <a:rPr sz="1600" b="0">
                <a:solidFill>
                  <a:srgbClr val="B6C4D1"/>
                </a:solidFill>
                <a:latin typeface="Arial"/>
              </a:rPr>
              <a:t>ÖLÇÜLEN: hackathon notu, 17 Ekim 2026; canlı tahta değişir.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923"/>
        </a:solidFill>
        <a:effectLst/>
      </p:bgPr>
    </p:bg>
    <p:spTree>
      <p:nvGrpSpPr>
        <p:cNvPr id="1" name=""/>
        <p:cNvGrpSpPr/>
        <p:nvPr/>
      </p:nvGrpSpPr>
      <p:grpSpPr/>
      <p:sp>
        <p:nvSpPr>
          <p:cNvPr id="2" name="Rectangle 1"/>
          <p:cNvSpPr/>
          <p:nvPr/>
        </p:nvSpPr>
        <p:spPr>
          <a:xfrm>
            <a:off x="548640" y="475488"/>
            <a:ext cx="594360" cy="54864"/>
          </a:xfrm>
          <a:prstGeom prst="rect">
            <a:avLst/>
          </a:prstGeom>
          <a:solidFill>
            <a:srgbClr val="62E4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758952"/>
            <a:ext cx="10972800" cy="749808"/>
          </a:xfrm>
          <a:prstGeom prst="rect">
            <a:avLst/>
          </a:prstGeom>
          <a:noFill/>
        </p:spPr>
        <p:txBody>
          <a:bodyPr wrap="square" lIns="0" rIns="0" tIns="27432" bIns="27432">
            <a:spAutoFit/>
          </a:bodyPr>
          <a:lstStyle/>
          <a:p>
            <a:pPr algn="l">
              <a:spcAft>
                <a:spcPts val="800"/>
              </a:spcAft>
            </a:pPr>
            <a:r>
              <a:rPr sz="3800" b="1">
                <a:solidFill>
                  <a:srgbClr val="F4F7FA"/>
                </a:solidFill>
                <a:latin typeface="Arial"/>
              </a:rPr>
              <a:t>Her emirden önce icra karnesi</a:t>
            </a:r>
          </a:p>
        </p:txBody>
      </p:sp>
      <p:sp>
        <p:nvSpPr>
          <p:cNvPr id="4" name="TextBox 3"/>
          <p:cNvSpPr txBox="1"/>
          <p:nvPr/>
        </p:nvSpPr>
        <p:spPr>
          <a:xfrm>
            <a:off x="594360" y="6446520"/>
            <a:ext cx="10607040" cy="246888"/>
          </a:xfrm>
          <a:prstGeom prst="rect">
            <a:avLst/>
          </a:prstGeom>
          <a:noFill/>
        </p:spPr>
        <p:txBody>
          <a:bodyPr wrap="square" lIns="0" rIns="0" tIns="27432" bIns="27432">
            <a:spAutoFit/>
          </a:bodyPr>
          <a:lstStyle/>
          <a:p>
            <a:pPr algn="l">
              <a:spcAft>
                <a:spcPts val="800"/>
              </a:spcAft>
            </a:pPr>
            <a:r>
              <a:rPr sz="1200" b="0">
                <a:solidFill>
                  <a:srgbClr val="B6C4D1"/>
                </a:solidFill>
                <a:latin typeface="Arial"/>
              </a:rPr>
              <a:t>Arf  /  OKX Agent Trade Kit × Avalanche  /  17 Ekim 2026</a:t>
            </a:r>
          </a:p>
        </p:txBody>
      </p:sp>
      <p:sp>
        <p:nvSpPr>
          <p:cNvPr id="5" name="TextBox 4"/>
          <p:cNvSpPr txBox="1"/>
          <p:nvPr/>
        </p:nvSpPr>
        <p:spPr>
          <a:xfrm>
            <a:off x="11109960" y="6419088"/>
            <a:ext cx="457200" cy="274320"/>
          </a:xfrm>
          <a:prstGeom prst="rect">
            <a:avLst/>
          </a:prstGeom>
          <a:noFill/>
        </p:spPr>
        <p:txBody>
          <a:bodyPr wrap="square" lIns="0" rIns="0" tIns="27432" bIns="27432">
            <a:spAutoFit/>
          </a:bodyPr>
          <a:lstStyle/>
          <a:p>
            <a:pPr algn="l">
              <a:spcAft>
                <a:spcPts val="800"/>
              </a:spcAft>
            </a:pPr>
            <a:r>
              <a:rPr sz="1300" b="0">
                <a:solidFill>
                  <a:srgbClr val="B6C4D1"/>
                </a:solidFill>
                <a:latin typeface="Arial"/>
              </a:rPr>
              <a:t>03</a:t>
            </a:r>
          </a:p>
        </p:txBody>
      </p:sp>
      <p:sp>
        <p:nvSpPr>
          <p:cNvPr id="6" name="TextBox 5"/>
          <p:cNvSpPr txBox="1"/>
          <p:nvPr/>
        </p:nvSpPr>
        <p:spPr>
          <a:xfrm>
            <a:off x="731520" y="1828800"/>
            <a:ext cx="10789920" cy="594360"/>
          </a:xfrm>
          <a:prstGeom prst="rect">
            <a:avLst/>
          </a:prstGeom>
          <a:noFill/>
        </p:spPr>
        <p:txBody>
          <a:bodyPr wrap="square" lIns="0" rIns="0" tIns="27432" bIns="27432">
            <a:spAutoFit/>
          </a:bodyPr>
          <a:lstStyle/>
          <a:p>
            <a:pPr algn="l">
              <a:spcAft>
                <a:spcPts val="800"/>
              </a:spcAft>
            </a:pPr>
            <a:r>
              <a:rPr sz="3000" b="1">
                <a:solidFill>
                  <a:srgbClr val="62E4CD"/>
                </a:solidFill>
                <a:latin typeface="Arial"/>
              </a:rPr>
              <a:t>check_execution(symbol, side, size)</a:t>
            </a:r>
          </a:p>
        </p:txBody>
      </p:sp>
      <p:sp>
        <p:nvSpPr>
          <p:cNvPr id="7" name="TextBox 6"/>
          <p:cNvSpPr txBox="1"/>
          <p:nvPr/>
        </p:nvSpPr>
        <p:spPr>
          <a:xfrm>
            <a:off x="685800" y="2788920"/>
            <a:ext cx="320040" cy="411480"/>
          </a:xfrm>
          <a:prstGeom prst="rect">
            <a:avLst/>
          </a:prstGeom>
          <a:noFill/>
        </p:spPr>
        <p:txBody>
          <a:bodyPr wrap="square" lIns="0" rIns="0" tIns="27432" bIns="27432">
            <a:spAutoFit/>
          </a:bodyPr>
          <a:lstStyle/>
          <a:p>
            <a:pPr algn="l">
              <a:spcAft>
                <a:spcPts val="800"/>
              </a:spcAft>
            </a:pPr>
            <a:r>
              <a:rPr sz="2700" b="0">
                <a:solidFill>
                  <a:srgbClr val="62E4CD"/>
                </a:solidFill>
                <a:latin typeface="Arial"/>
              </a:rPr>
              <a:t>•</a:t>
            </a:r>
          </a:p>
        </p:txBody>
      </p:sp>
      <p:sp>
        <p:nvSpPr>
          <p:cNvPr id="8" name="TextBox 7"/>
          <p:cNvSpPr txBox="1"/>
          <p:nvPr/>
        </p:nvSpPr>
        <p:spPr>
          <a:xfrm>
            <a:off x="1078992" y="2788920"/>
            <a:ext cx="10287000" cy="777240"/>
          </a:xfrm>
          <a:prstGeom prst="rect">
            <a:avLst/>
          </a:prstGeom>
          <a:noFill/>
        </p:spPr>
        <p:txBody>
          <a:bodyPr wrap="square" lIns="0" rIns="0" tIns="27432" bIns="27432">
            <a:spAutoFit/>
          </a:bodyPr>
          <a:lstStyle/>
          <a:p>
            <a:pPr algn="l">
              <a:spcAft>
                <a:spcPts val="800"/>
              </a:spcAft>
            </a:pPr>
            <a:r>
              <a:rPr sz="2700" b="0">
                <a:solidFill>
                  <a:srgbClr val="F4F7FA"/>
                </a:solidFill>
                <a:latin typeface="Arial"/>
              </a:rPr>
              <a:t>riskScore + maxSafeSize + bölme önerisi</a:t>
            </a:r>
          </a:p>
        </p:txBody>
      </p:sp>
      <p:sp>
        <p:nvSpPr>
          <p:cNvPr id="9" name="TextBox 8"/>
          <p:cNvSpPr txBox="1"/>
          <p:nvPr/>
        </p:nvSpPr>
        <p:spPr>
          <a:xfrm>
            <a:off x="685800" y="3611879"/>
            <a:ext cx="320040" cy="411480"/>
          </a:xfrm>
          <a:prstGeom prst="rect">
            <a:avLst/>
          </a:prstGeom>
          <a:noFill/>
        </p:spPr>
        <p:txBody>
          <a:bodyPr wrap="square" lIns="0" rIns="0" tIns="27432" bIns="27432">
            <a:spAutoFit/>
          </a:bodyPr>
          <a:lstStyle/>
          <a:p>
            <a:pPr algn="l">
              <a:spcAft>
                <a:spcPts val="800"/>
              </a:spcAft>
            </a:pPr>
            <a:r>
              <a:rPr sz="2700" b="0">
                <a:solidFill>
                  <a:srgbClr val="62E4CD"/>
                </a:solidFill>
                <a:latin typeface="Arial"/>
              </a:rPr>
              <a:t>•</a:t>
            </a:r>
          </a:p>
        </p:txBody>
      </p:sp>
      <p:sp>
        <p:nvSpPr>
          <p:cNvPr id="10" name="TextBox 9"/>
          <p:cNvSpPr txBox="1"/>
          <p:nvPr/>
        </p:nvSpPr>
        <p:spPr>
          <a:xfrm>
            <a:off x="1078992" y="3611879"/>
            <a:ext cx="10287000" cy="777240"/>
          </a:xfrm>
          <a:prstGeom prst="rect">
            <a:avLst/>
          </a:prstGeom>
          <a:noFill/>
        </p:spPr>
        <p:txBody>
          <a:bodyPr wrap="square" lIns="0" rIns="0" tIns="27432" bIns="27432">
            <a:spAutoFit/>
          </a:bodyPr>
          <a:lstStyle/>
          <a:p>
            <a:pPr algn="l">
              <a:spcAft>
                <a:spcPts val="800"/>
              </a:spcAft>
            </a:pPr>
            <a:r>
              <a:rPr sz="2700" b="0">
                <a:solidFill>
                  <a:srgbClr val="F4F7FA"/>
                </a:solidFill>
                <a:latin typeface="Arial"/>
              </a:rPr>
              <a:t>EIP-191 imza, Avalanche'ta devre kesici</a:t>
            </a:r>
          </a:p>
        </p:txBody>
      </p:sp>
      <p:sp>
        <p:nvSpPr>
          <p:cNvPr id="11" name="Rectangle 10"/>
          <p:cNvSpPr/>
          <p:nvPr/>
        </p:nvSpPr>
        <p:spPr>
          <a:xfrm>
            <a:off x="685800" y="4681728"/>
            <a:ext cx="10835640" cy="1097280"/>
          </a:xfrm>
          <a:prstGeom prst="rect">
            <a:avLst/>
          </a:prstGeom>
          <a:solidFill>
            <a:srgbClr val="1C2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892040"/>
            <a:ext cx="10378440" cy="640080"/>
          </a:xfrm>
          <a:prstGeom prst="rect">
            <a:avLst/>
          </a:prstGeom>
          <a:noFill/>
        </p:spPr>
        <p:txBody>
          <a:bodyPr wrap="square" lIns="0" rIns="0" tIns="27432" bIns="27432">
            <a:spAutoFit/>
          </a:bodyPr>
          <a:lstStyle/>
          <a:p>
            <a:pPr algn="l">
              <a:spcAft>
                <a:spcPts val="800"/>
              </a:spcAft>
            </a:pPr>
            <a:r>
              <a:rPr sz="3200" b="1">
                <a:solidFill>
                  <a:srgbClr val="62E4CD"/>
                </a:solidFill>
                <a:latin typeface="Arial"/>
              </a:rPr>
              <a:t>Değişmez: emir tutarı ≤ maxSafeSize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923"/>
        </a:solidFill>
        <a:effectLst/>
      </p:bgPr>
    </p:bg>
    <p:spTree>
      <p:nvGrpSpPr>
        <p:cNvPr id="1" name=""/>
        <p:cNvGrpSpPr/>
        <p:nvPr/>
      </p:nvGrpSpPr>
      <p:grpSpPr/>
      <p:sp>
        <p:nvSpPr>
          <p:cNvPr id="2" name="Rectangle 1"/>
          <p:cNvSpPr/>
          <p:nvPr/>
        </p:nvSpPr>
        <p:spPr>
          <a:xfrm>
            <a:off x="548640" y="475488"/>
            <a:ext cx="594360" cy="54864"/>
          </a:xfrm>
          <a:prstGeom prst="rect">
            <a:avLst/>
          </a:prstGeom>
          <a:solidFill>
            <a:srgbClr val="62E4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758952"/>
            <a:ext cx="10972800" cy="749808"/>
          </a:xfrm>
          <a:prstGeom prst="rect">
            <a:avLst/>
          </a:prstGeom>
          <a:noFill/>
        </p:spPr>
        <p:txBody>
          <a:bodyPr wrap="square" lIns="0" rIns="0" tIns="27432" bIns="27432">
            <a:spAutoFit/>
          </a:bodyPr>
          <a:lstStyle/>
          <a:p>
            <a:pPr algn="l">
              <a:spcAft>
                <a:spcPts val="800"/>
              </a:spcAft>
            </a:pPr>
            <a:r>
              <a:rPr sz="3800" b="1">
                <a:solidFill>
                  <a:srgbClr val="F4F7FA"/>
                </a:solidFill>
                <a:latin typeface="Arial"/>
              </a:rPr>
              <a:t>Veriden zincire</a:t>
            </a:r>
          </a:p>
        </p:txBody>
      </p:sp>
      <p:sp>
        <p:nvSpPr>
          <p:cNvPr id="4" name="TextBox 3"/>
          <p:cNvSpPr txBox="1"/>
          <p:nvPr/>
        </p:nvSpPr>
        <p:spPr>
          <a:xfrm>
            <a:off x="594360" y="6446520"/>
            <a:ext cx="10607040" cy="246888"/>
          </a:xfrm>
          <a:prstGeom prst="rect">
            <a:avLst/>
          </a:prstGeom>
          <a:noFill/>
        </p:spPr>
        <p:txBody>
          <a:bodyPr wrap="square" lIns="0" rIns="0" tIns="27432" bIns="27432">
            <a:spAutoFit/>
          </a:bodyPr>
          <a:lstStyle/>
          <a:p>
            <a:pPr algn="l">
              <a:spcAft>
                <a:spcPts val="800"/>
              </a:spcAft>
            </a:pPr>
            <a:r>
              <a:rPr sz="1200" b="0">
                <a:solidFill>
                  <a:srgbClr val="B6C4D1"/>
                </a:solidFill>
                <a:latin typeface="Arial"/>
              </a:rPr>
              <a:t>Arf  /  OKX Agent Trade Kit × Avalanche  /  17 Ekim 2026</a:t>
            </a:r>
          </a:p>
        </p:txBody>
      </p:sp>
      <p:sp>
        <p:nvSpPr>
          <p:cNvPr id="5" name="TextBox 4"/>
          <p:cNvSpPr txBox="1"/>
          <p:nvPr/>
        </p:nvSpPr>
        <p:spPr>
          <a:xfrm>
            <a:off x="11109960" y="6419088"/>
            <a:ext cx="457200" cy="274320"/>
          </a:xfrm>
          <a:prstGeom prst="rect">
            <a:avLst/>
          </a:prstGeom>
          <a:noFill/>
        </p:spPr>
        <p:txBody>
          <a:bodyPr wrap="square" lIns="0" rIns="0" tIns="27432" bIns="27432">
            <a:spAutoFit/>
          </a:bodyPr>
          <a:lstStyle/>
          <a:p>
            <a:pPr algn="l">
              <a:spcAft>
                <a:spcPts val="800"/>
              </a:spcAft>
            </a:pPr>
            <a:r>
              <a:rPr sz="1300" b="0">
                <a:solidFill>
                  <a:srgbClr val="B6C4D1"/>
                </a:solidFill>
                <a:latin typeface="Arial"/>
              </a:rPr>
              <a:t>04</a:t>
            </a:r>
          </a:p>
        </p:txBody>
      </p:sp>
      <p:sp>
        <p:nvSpPr>
          <p:cNvPr id="6" name="Rectangle 5"/>
          <p:cNvSpPr/>
          <p:nvPr/>
        </p:nvSpPr>
        <p:spPr>
          <a:xfrm>
            <a:off x="685800" y="2011680"/>
            <a:ext cx="2971800" cy="1005840"/>
          </a:xfrm>
          <a:prstGeom prst="rect">
            <a:avLst/>
          </a:prstGeom>
          <a:solidFill>
            <a:srgbClr val="1C2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121408"/>
            <a:ext cx="2734056" cy="841248"/>
          </a:xfrm>
          <a:prstGeom prst="rect">
            <a:avLst/>
          </a:prstGeom>
          <a:noFill/>
        </p:spPr>
        <p:txBody>
          <a:bodyPr wrap="square" lIns="0" rIns="0" tIns="27432" bIns="27432">
            <a:spAutoFit/>
          </a:bodyPr>
          <a:lstStyle/>
          <a:p>
            <a:pPr algn="ctr">
              <a:spcAft>
                <a:spcPts val="800"/>
              </a:spcAft>
            </a:pPr>
            <a:r>
              <a:rPr sz="2300" b="0">
                <a:solidFill>
                  <a:srgbClr val="F4F7FA"/>
                </a:solidFill>
                <a:latin typeface="Arial"/>
              </a:rPr>
              <a:t>OKX ATK CLI</a:t>
            </a:r>
          </a:p>
          <a:p>
            <a:pPr algn="ctr">
              <a:spcAft>
                <a:spcPts val="800"/>
              </a:spcAft>
            </a:pPr>
            <a:r>
              <a:rPr sz="2300" b="0">
                <a:solidFill>
                  <a:srgbClr val="F4F7FA"/>
                </a:solidFill>
                <a:latin typeface="Arial"/>
              </a:rPr>
              <a:t>TR / JSON</a:t>
            </a:r>
          </a:p>
        </p:txBody>
      </p:sp>
      <p:sp>
        <p:nvSpPr>
          <p:cNvPr id="8" name="Rectangle 7"/>
          <p:cNvSpPr/>
          <p:nvPr/>
        </p:nvSpPr>
        <p:spPr>
          <a:xfrm>
            <a:off x="4617720" y="2011680"/>
            <a:ext cx="2971800" cy="1005840"/>
          </a:xfrm>
          <a:prstGeom prst="rect">
            <a:avLst/>
          </a:prstGeom>
          <a:solidFill>
            <a:srgbClr val="1C2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36592" y="2121408"/>
            <a:ext cx="2734056" cy="841248"/>
          </a:xfrm>
          <a:prstGeom prst="rect">
            <a:avLst/>
          </a:prstGeom>
          <a:noFill/>
        </p:spPr>
        <p:txBody>
          <a:bodyPr wrap="square" lIns="0" rIns="0" tIns="27432" bIns="27432">
            <a:spAutoFit/>
          </a:bodyPr>
          <a:lstStyle/>
          <a:p>
            <a:pPr algn="ctr">
              <a:spcAft>
                <a:spcPts val="800"/>
              </a:spcAft>
            </a:pPr>
            <a:r>
              <a:rPr sz="2300" b="0">
                <a:solidFill>
                  <a:srgbClr val="F4F7FA"/>
                </a:solidFill>
                <a:latin typeface="Arial"/>
              </a:rPr>
              <a:t>Epizodik hafıza</a:t>
            </a:r>
          </a:p>
          <a:p>
            <a:pPr algn="ctr">
              <a:spcAft>
                <a:spcPts val="800"/>
              </a:spcAft>
            </a:pPr>
            <a:r>
              <a:rPr sz="2300" b="0">
                <a:solidFill>
                  <a:srgbClr val="F4F7FA"/>
                </a:solidFill>
                <a:latin typeface="Arial"/>
              </a:rPr>
              <a:t>+ metrikler</a:t>
            </a:r>
          </a:p>
        </p:txBody>
      </p:sp>
      <p:sp>
        <p:nvSpPr>
          <p:cNvPr id="10" name="Rectangle 9"/>
          <p:cNvSpPr/>
          <p:nvPr/>
        </p:nvSpPr>
        <p:spPr>
          <a:xfrm>
            <a:off x="8549640" y="2011680"/>
            <a:ext cx="2971800" cy="1005840"/>
          </a:xfrm>
          <a:prstGeom prst="rect">
            <a:avLst/>
          </a:prstGeom>
          <a:solidFill>
            <a:srgbClr val="1C2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68512" y="2121408"/>
            <a:ext cx="2734056" cy="841248"/>
          </a:xfrm>
          <a:prstGeom prst="rect">
            <a:avLst/>
          </a:prstGeom>
          <a:noFill/>
        </p:spPr>
        <p:txBody>
          <a:bodyPr wrap="square" lIns="0" rIns="0" tIns="27432" bIns="27432">
            <a:spAutoFit/>
          </a:bodyPr>
          <a:lstStyle/>
          <a:p>
            <a:pPr algn="ctr">
              <a:spcAft>
                <a:spcPts val="800"/>
              </a:spcAft>
            </a:pPr>
            <a:r>
              <a:rPr sz="2300" b="0">
                <a:solidFill>
                  <a:srgbClr val="F4F7FA"/>
                </a:solidFill>
                <a:latin typeface="Arial"/>
              </a:rPr>
              <a:t>LLM planlayıcı</a:t>
            </a:r>
          </a:p>
          <a:p>
            <a:pPr algn="ctr">
              <a:spcAft>
                <a:spcPts val="800"/>
              </a:spcAft>
            </a:pPr>
            <a:r>
              <a:rPr sz="2300" b="0">
                <a:solidFill>
                  <a:srgbClr val="F4F7FA"/>
                </a:solidFill>
                <a:latin typeface="Arial"/>
              </a:rPr>
              <a:t>12 araç bütçesi</a:t>
            </a:r>
          </a:p>
        </p:txBody>
      </p:sp>
      <p:sp>
        <p:nvSpPr>
          <p:cNvPr id="12" name="Rectangle 11"/>
          <p:cNvSpPr/>
          <p:nvPr/>
        </p:nvSpPr>
        <p:spPr>
          <a:xfrm>
            <a:off x="8549640" y="4297680"/>
            <a:ext cx="2971800" cy="1005840"/>
          </a:xfrm>
          <a:prstGeom prst="rect">
            <a:avLst/>
          </a:prstGeom>
          <a:solidFill>
            <a:srgbClr val="1C2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68512" y="4407408"/>
            <a:ext cx="2734056" cy="841248"/>
          </a:xfrm>
          <a:prstGeom prst="rect">
            <a:avLst/>
          </a:prstGeom>
          <a:noFill/>
        </p:spPr>
        <p:txBody>
          <a:bodyPr wrap="square" lIns="0" rIns="0" tIns="27432" bIns="27432">
            <a:spAutoFit/>
          </a:bodyPr>
          <a:lstStyle/>
          <a:p>
            <a:pPr algn="ctr">
              <a:spcAft>
                <a:spcPts val="800"/>
              </a:spcAft>
            </a:pPr>
            <a:r>
              <a:rPr sz="2300" b="0">
                <a:solidFill>
                  <a:srgbClr val="F4F7FA"/>
                </a:solidFill>
                <a:latin typeface="Arial"/>
              </a:rPr>
              <a:t>EIP-191</a:t>
            </a:r>
          </a:p>
          <a:p>
            <a:pPr algn="ctr">
              <a:spcAft>
                <a:spcPts val="800"/>
              </a:spcAft>
            </a:pPr>
            <a:r>
              <a:rPr sz="2300" b="0">
                <a:solidFill>
                  <a:srgbClr val="F4F7FA"/>
                </a:solidFill>
                <a:latin typeface="Arial"/>
              </a:rPr>
              <a:t>imza</a:t>
            </a:r>
          </a:p>
        </p:txBody>
      </p:sp>
      <p:sp>
        <p:nvSpPr>
          <p:cNvPr id="14" name="Rectangle 13"/>
          <p:cNvSpPr/>
          <p:nvPr/>
        </p:nvSpPr>
        <p:spPr>
          <a:xfrm>
            <a:off x="4160520" y="4297680"/>
            <a:ext cx="3520440" cy="1005840"/>
          </a:xfrm>
          <a:prstGeom prst="rect">
            <a:avLst/>
          </a:prstGeom>
          <a:solidFill>
            <a:srgbClr val="1C2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79392" y="4407408"/>
            <a:ext cx="3282696" cy="841248"/>
          </a:xfrm>
          <a:prstGeom prst="rect">
            <a:avLst/>
          </a:prstGeom>
          <a:noFill/>
        </p:spPr>
        <p:txBody>
          <a:bodyPr wrap="square" lIns="0" rIns="0" tIns="27432" bIns="27432">
            <a:spAutoFit/>
          </a:bodyPr>
          <a:lstStyle/>
          <a:p>
            <a:pPr algn="ctr">
              <a:spcAft>
                <a:spcPts val="800"/>
              </a:spcAft>
            </a:pPr>
            <a:r>
              <a:rPr sz="2300" b="0">
                <a:solidFill>
                  <a:srgbClr val="F4F7FA"/>
                </a:solidFill>
                <a:latin typeface="Arial"/>
              </a:rPr>
              <a:t>RiskCircuitBreaker</a:t>
            </a:r>
          </a:p>
          <a:p>
            <a:pPr algn="ctr">
              <a:spcAft>
                <a:spcPts val="800"/>
              </a:spcAft>
            </a:pPr>
            <a:r>
              <a:rPr sz="2300" b="0">
                <a:solidFill>
                  <a:srgbClr val="F4F7FA"/>
                </a:solidFill>
                <a:latin typeface="Arial"/>
              </a:rPr>
              <a:t>Avalanche Fuji</a:t>
            </a:r>
          </a:p>
        </p:txBody>
      </p:sp>
      <p:cxnSp>
        <p:nvCxnSpPr>
          <p:cNvPr id="16" name="Connector 15"/>
          <p:cNvCxnSpPr/>
          <p:nvPr/>
        </p:nvCxnSpPr>
        <p:spPr>
          <a:xfrm>
            <a:off x="3703320" y="2514600"/>
            <a:ext cx="777240" cy="0"/>
          </a:xfrm>
          <a:prstGeom prst="line">
            <a:avLst/>
          </a:prstGeom>
          <a:ln w="38100">
            <a:solidFill>
              <a:srgbClr val="62E4C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635240" y="2514600"/>
            <a:ext cx="777240" cy="0"/>
          </a:xfrm>
          <a:prstGeom prst="line">
            <a:avLst/>
          </a:prstGeom>
          <a:ln w="38100">
            <a:solidFill>
              <a:srgbClr val="62E4CD"/>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030968" y="3108960"/>
            <a:ext cx="0" cy="1051560"/>
          </a:xfrm>
          <a:prstGeom prst="line">
            <a:avLst/>
          </a:prstGeom>
          <a:ln w="38100">
            <a:solidFill>
              <a:srgbClr val="62E4CD"/>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7818120" y="4800600"/>
            <a:ext cx="594360" cy="0"/>
          </a:xfrm>
          <a:prstGeom prst="line">
            <a:avLst/>
          </a:prstGeom>
          <a:ln w="38100">
            <a:solidFill>
              <a:srgbClr val="62E4CD"/>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31520" y="4251960"/>
            <a:ext cx="3017520" cy="914400"/>
          </a:xfrm>
          <a:prstGeom prst="rect">
            <a:avLst/>
          </a:prstGeom>
          <a:noFill/>
        </p:spPr>
        <p:txBody>
          <a:bodyPr wrap="square" lIns="0" rIns="0" tIns="27432" bIns="27432">
            <a:spAutoFit/>
          </a:bodyPr>
          <a:lstStyle/>
          <a:p>
            <a:pPr algn="l">
              <a:spcAft>
                <a:spcPts val="800"/>
              </a:spcAft>
            </a:pPr>
            <a:r>
              <a:rPr sz="2500" b="1">
                <a:solidFill>
                  <a:srgbClr val="FF8E88"/>
                </a:solidFill>
                <a:latin typeface="Arial"/>
              </a:rPr>
              <a:t>Veri yok / &gt;120 sn:</a:t>
            </a:r>
          </a:p>
          <a:p>
            <a:pPr algn="l">
              <a:spcAft>
                <a:spcPts val="800"/>
              </a:spcAft>
            </a:pPr>
            <a:r>
              <a:rPr sz="2500" b="1">
                <a:solidFill>
                  <a:srgbClr val="FF8E88"/>
                </a:solidFill>
                <a:latin typeface="Arial"/>
              </a:rPr>
              <a:t>imza yok</a:t>
            </a:r>
          </a:p>
        </p:txBody>
      </p:sp>
      <p:sp>
        <p:nvSpPr>
          <p:cNvPr id="21" name="TextBox 20"/>
          <p:cNvSpPr txBox="1"/>
          <p:nvPr/>
        </p:nvSpPr>
        <p:spPr>
          <a:xfrm>
            <a:off x="731520" y="5715000"/>
            <a:ext cx="10789920" cy="365760"/>
          </a:xfrm>
          <a:prstGeom prst="rect">
            <a:avLst/>
          </a:prstGeom>
          <a:noFill/>
        </p:spPr>
        <p:txBody>
          <a:bodyPr wrap="square" lIns="0" rIns="0" tIns="27432" bIns="27432">
            <a:spAutoFit/>
          </a:bodyPr>
          <a:lstStyle/>
          <a:p>
            <a:pPr algn="l">
              <a:spcAft>
                <a:spcPts val="800"/>
              </a:spcAft>
            </a:pPr>
            <a:r>
              <a:rPr sz="2000" b="0">
                <a:solidFill>
                  <a:srgbClr val="B6C4D1"/>
                </a:solidFill>
                <a:latin typeface="Arial"/>
              </a:rPr>
              <a:t>Ölçüm ve araç sonuçları karar izinde görünür.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923"/>
        </a:solidFill>
        <a:effectLst/>
      </p:bgPr>
    </p:bg>
    <p:spTree>
      <p:nvGrpSpPr>
        <p:cNvPr id="1" name=""/>
        <p:cNvGrpSpPr/>
        <p:nvPr/>
      </p:nvGrpSpPr>
      <p:grpSpPr/>
      <p:sp>
        <p:nvSpPr>
          <p:cNvPr id="2" name="Rectangle 1"/>
          <p:cNvSpPr/>
          <p:nvPr/>
        </p:nvSpPr>
        <p:spPr>
          <a:xfrm>
            <a:off x="548640" y="475488"/>
            <a:ext cx="594360" cy="54864"/>
          </a:xfrm>
          <a:prstGeom prst="rect">
            <a:avLst/>
          </a:prstGeom>
          <a:solidFill>
            <a:srgbClr val="62E4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758952"/>
            <a:ext cx="10972800" cy="749808"/>
          </a:xfrm>
          <a:prstGeom prst="rect">
            <a:avLst/>
          </a:prstGeom>
          <a:noFill/>
        </p:spPr>
        <p:txBody>
          <a:bodyPr wrap="square" lIns="0" rIns="0" tIns="27432" bIns="27432">
            <a:spAutoFit/>
          </a:bodyPr>
          <a:lstStyle/>
          <a:p>
            <a:pPr algn="l">
              <a:spcAft>
                <a:spcPts val="800"/>
              </a:spcAft>
            </a:pPr>
            <a:r>
              <a:rPr sz="3800" b="1">
                <a:solidFill>
                  <a:srgbClr val="F4F7FA"/>
                </a:solidFill>
                <a:latin typeface="Arial"/>
              </a:rPr>
              <a:t>LLM planlar, metrikler hesaplar</a:t>
            </a:r>
          </a:p>
        </p:txBody>
      </p:sp>
      <p:sp>
        <p:nvSpPr>
          <p:cNvPr id="4" name="TextBox 3"/>
          <p:cNvSpPr txBox="1"/>
          <p:nvPr/>
        </p:nvSpPr>
        <p:spPr>
          <a:xfrm>
            <a:off x="594360" y="6446520"/>
            <a:ext cx="10607040" cy="246888"/>
          </a:xfrm>
          <a:prstGeom prst="rect">
            <a:avLst/>
          </a:prstGeom>
          <a:noFill/>
        </p:spPr>
        <p:txBody>
          <a:bodyPr wrap="square" lIns="0" rIns="0" tIns="27432" bIns="27432">
            <a:spAutoFit/>
          </a:bodyPr>
          <a:lstStyle/>
          <a:p>
            <a:pPr algn="l">
              <a:spcAft>
                <a:spcPts val="800"/>
              </a:spcAft>
            </a:pPr>
            <a:r>
              <a:rPr sz="1200" b="0">
                <a:solidFill>
                  <a:srgbClr val="B6C4D1"/>
                </a:solidFill>
                <a:latin typeface="Arial"/>
              </a:rPr>
              <a:t>Arf  /  OKX Agent Trade Kit × Avalanche  /  17 Ekim 2026</a:t>
            </a:r>
          </a:p>
        </p:txBody>
      </p:sp>
      <p:sp>
        <p:nvSpPr>
          <p:cNvPr id="5" name="TextBox 4"/>
          <p:cNvSpPr txBox="1"/>
          <p:nvPr/>
        </p:nvSpPr>
        <p:spPr>
          <a:xfrm>
            <a:off x="11109960" y="6419088"/>
            <a:ext cx="457200" cy="274320"/>
          </a:xfrm>
          <a:prstGeom prst="rect">
            <a:avLst/>
          </a:prstGeom>
          <a:noFill/>
        </p:spPr>
        <p:txBody>
          <a:bodyPr wrap="square" lIns="0" rIns="0" tIns="27432" bIns="27432">
            <a:spAutoFit/>
          </a:bodyPr>
          <a:lstStyle/>
          <a:p>
            <a:pPr algn="l">
              <a:spcAft>
                <a:spcPts val="800"/>
              </a:spcAft>
            </a:pPr>
            <a:r>
              <a:rPr sz="1300" b="0">
                <a:solidFill>
                  <a:srgbClr val="B6C4D1"/>
                </a:solidFill>
                <a:latin typeface="Arial"/>
              </a:rPr>
              <a:t>05</a:t>
            </a:r>
          </a:p>
        </p:txBody>
      </p:sp>
      <p:sp>
        <p:nvSpPr>
          <p:cNvPr id="6" name="TextBox 5"/>
          <p:cNvSpPr txBox="1"/>
          <p:nvPr/>
        </p:nvSpPr>
        <p:spPr>
          <a:xfrm>
            <a:off x="685800" y="1783080"/>
            <a:ext cx="320040" cy="411480"/>
          </a:xfrm>
          <a:prstGeom prst="rect">
            <a:avLst/>
          </a:prstGeom>
          <a:noFill/>
        </p:spPr>
        <p:txBody>
          <a:bodyPr wrap="square" lIns="0" rIns="0" tIns="27432" bIns="27432">
            <a:spAutoFit/>
          </a:bodyPr>
          <a:lstStyle/>
          <a:p>
            <a:pPr algn="l">
              <a:spcAft>
                <a:spcPts val="800"/>
              </a:spcAft>
            </a:pPr>
            <a:r>
              <a:rPr sz="2600" b="0">
                <a:solidFill>
                  <a:srgbClr val="62E4CD"/>
                </a:solidFill>
                <a:latin typeface="Arial"/>
              </a:rPr>
              <a:t>•</a:t>
            </a:r>
          </a:p>
        </p:txBody>
      </p:sp>
      <p:sp>
        <p:nvSpPr>
          <p:cNvPr id="7" name="TextBox 6"/>
          <p:cNvSpPr txBox="1"/>
          <p:nvPr/>
        </p:nvSpPr>
        <p:spPr>
          <a:xfrm>
            <a:off x="1078992" y="1783080"/>
            <a:ext cx="10287000" cy="777240"/>
          </a:xfrm>
          <a:prstGeom prst="rect">
            <a:avLst/>
          </a:prstGeom>
          <a:noFill/>
        </p:spPr>
        <p:txBody>
          <a:bodyPr wrap="square" lIns="0" rIns="0" tIns="27432" bIns="27432">
            <a:spAutoFit/>
          </a:bodyPr>
          <a:lstStyle/>
          <a:p>
            <a:pPr algn="l">
              <a:spcAft>
                <a:spcPts val="800"/>
              </a:spcAft>
            </a:pPr>
            <a:r>
              <a:rPr sz="2600" b="0">
                <a:solidFill>
                  <a:srgbClr val="F4F7FA"/>
                </a:solidFill>
                <a:latin typeface="Arial"/>
              </a:rPr>
              <a:t>LLM araç sırasını seçer; sayılar deterministik.</a:t>
            </a:r>
          </a:p>
        </p:txBody>
      </p:sp>
      <p:sp>
        <p:nvSpPr>
          <p:cNvPr id="8" name="TextBox 7"/>
          <p:cNvSpPr txBox="1"/>
          <p:nvPr/>
        </p:nvSpPr>
        <p:spPr>
          <a:xfrm>
            <a:off x="685800" y="2651760"/>
            <a:ext cx="320040" cy="411480"/>
          </a:xfrm>
          <a:prstGeom prst="rect">
            <a:avLst/>
          </a:prstGeom>
          <a:noFill/>
        </p:spPr>
        <p:txBody>
          <a:bodyPr wrap="square" lIns="0" rIns="0" tIns="27432" bIns="27432">
            <a:spAutoFit/>
          </a:bodyPr>
          <a:lstStyle/>
          <a:p>
            <a:pPr algn="l">
              <a:spcAft>
                <a:spcPts val="800"/>
              </a:spcAft>
            </a:pPr>
            <a:r>
              <a:rPr sz="2600" b="0">
                <a:solidFill>
                  <a:srgbClr val="62E4CD"/>
                </a:solidFill>
                <a:latin typeface="Arial"/>
              </a:rPr>
              <a:t>•</a:t>
            </a:r>
          </a:p>
        </p:txBody>
      </p:sp>
      <p:sp>
        <p:nvSpPr>
          <p:cNvPr id="9" name="TextBox 8"/>
          <p:cNvSpPr txBox="1"/>
          <p:nvPr/>
        </p:nvSpPr>
        <p:spPr>
          <a:xfrm>
            <a:off x="1078992" y="2651760"/>
            <a:ext cx="10287000" cy="777240"/>
          </a:xfrm>
          <a:prstGeom prst="rect">
            <a:avLst/>
          </a:prstGeom>
          <a:noFill/>
        </p:spPr>
        <p:txBody>
          <a:bodyPr wrap="square" lIns="0" rIns="0" tIns="27432" bIns="27432">
            <a:spAutoFit/>
          </a:bodyPr>
          <a:lstStyle/>
          <a:p>
            <a:pPr algn="l">
              <a:spcAft>
                <a:spcPts val="800"/>
              </a:spcAft>
            </a:pPr>
            <a:r>
              <a:rPr sz="2600" b="0">
                <a:solidFill>
                  <a:srgbClr val="F4F7FA"/>
                </a:solidFill>
                <a:latin typeface="Arial"/>
              </a:rPr>
              <a:t>sign_score argümansız; sayılar değiştirilemez.</a:t>
            </a:r>
          </a:p>
        </p:txBody>
      </p:sp>
      <p:sp>
        <p:nvSpPr>
          <p:cNvPr id="10" name="TextBox 9"/>
          <p:cNvSpPr txBox="1"/>
          <p:nvPr/>
        </p:nvSpPr>
        <p:spPr>
          <a:xfrm>
            <a:off x="685800" y="3520439"/>
            <a:ext cx="320040" cy="411480"/>
          </a:xfrm>
          <a:prstGeom prst="rect">
            <a:avLst/>
          </a:prstGeom>
          <a:noFill/>
        </p:spPr>
        <p:txBody>
          <a:bodyPr wrap="square" lIns="0" rIns="0" tIns="27432" bIns="27432">
            <a:spAutoFit/>
          </a:bodyPr>
          <a:lstStyle/>
          <a:p>
            <a:pPr algn="l">
              <a:spcAft>
                <a:spcPts val="800"/>
              </a:spcAft>
            </a:pPr>
            <a:r>
              <a:rPr sz="2600" b="0">
                <a:solidFill>
                  <a:srgbClr val="62E4CD"/>
                </a:solidFill>
                <a:latin typeface="Arial"/>
              </a:rPr>
              <a:t>•</a:t>
            </a:r>
          </a:p>
        </p:txBody>
      </p:sp>
      <p:sp>
        <p:nvSpPr>
          <p:cNvPr id="11" name="TextBox 10"/>
          <p:cNvSpPr txBox="1"/>
          <p:nvPr/>
        </p:nvSpPr>
        <p:spPr>
          <a:xfrm>
            <a:off x="1078992" y="3520439"/>
            <a:ext cx="10287000" cy="777240"/>
          </a:xfrm>
          <a:prstGeom prst="rect">
            <a:avLst/>
          </a:prstGeom>
          <a:noFill/>
        </p:spPr>
        <p:txBody>
          <a:bodyPr wrap="square" lIns="0" rIns="0" tIns="27432" bIns="27432">
            <a:spAutoFit/>
          </a:bodyPr>
          <a:lstStyle/>
          <a:p>
            <a:pPr algn="l">
              <a:spcAft>
                <a:spcPts val="800"/>
              </a:spcAft>
            </a:pPr>
            <a:r>
              <a:rPr sz="2600" b="0">
                <a:solidFill>
                  <a:srgbClr val="F4F7FA"/>
                </a:solidFill>
                <a:latin typeface="Arial"/>
              </a:rPr>
              <a:t>Karar birleştirme yalnızca daha muhafazakâr olabilir.</a:t>
            </a:r>
          </a:p>
        </p:txBody>
      </p:sp>
      <p:sp>
        <p:nvSpPr>
          <p:cNvPr id="12" name="TextBox 11"/>
          <p:cNvSpPr txBox="1"/>
          <p:nvPr/>
        </p:nvSpPr>
        <p:spPr>
          <a:xfrm>
            <a:off x="685800" y="4389120"/>
            <a:ext cx="320040" cy="411480"/>
          </a:xfrm>
          <a:prstGeom prst="rect">
            <a:avLst/>
          </a:prstGeom>
          <a:noFill/>
        </p:spPr>
        <p:txBody>
          <a:bodyPr wrap="square" lIns="0" rIns="0" tIns="27432" bIns="27432">
            <a:spAutoFit/>
          </a:bodyPr>
          <a:lstStyle/>
          <a:p>
            <a:pPr algn="l">
              <a:spcAft>
                <a:spcPts val="800"/>
              </a:spcAft>
            </a:pPr>
            <a:r>
              <a:rPr sz="2600" b="0">
                <a:solidFill>
                  <a:srgbClr val="62E4CD"/>
                </a:solidFill>
                <a:latin typeface="Arial"/>
              </a:rPr>
              <a:t>•</a:t>
            </a:r>
          </a:p>
        </p:txBody>
      </p:sp>
      <p:sp>
        <p:nvSpPr>
          <p:cNvPr id="13" name="TextBox 12"/>
          <p:cNvSpPr txBox="1"/>
          <p:nvPr/>
        </p:nvSpPr>
        <p:spPr>
          <a:xfrm>
            <a:off x="1078992" y="4389120"/>
            <a:ext cx="10287000" cy="777240"/>
          </a:xfrm>
          <a:prstGeom prst="rect">
            <a:avLst/>
          </a:prstGeom>
          <a:noFill/>
        </p:spPr>
        <p:txBody>
          <a:bodyPr wrap="square" lIns="0" rIns="0" tIns="27432" bIns="27432">
            <a:spAutoFit/>
          </a:bodyPr>
          <a:lstStyle/>
          <a:p>
            <a:pPr algn="l">
              <a:spcAft>
                <a:spcPts val="800"/>
              </a:spcAft>
            </a:pPr>
            <a:r>
              <a:rPr sz="2600" b="0">
                <a:solidFill>
                  <a:srgbClr val="F4F7FA"/>
                </a:solidFill>
                <a:latin typeface="Arial"/>
              </a:rPr>
              <a:t>Anthropic → Gemini → deterministik yedek.</a:t>
            </a:r>
          </a:p>
        </p:txBody>
      </p:sp>
      <p:sp>
        <p:nvSpPr>
          <p:cNvPr id="14" name="TextBox 13"/>
          <p:cNvSpPr txBox="1"/>
          <p:nvPr/>
        </p:nvSpPr>
        <p:spPr>
          <a:xfrm>
            <a:off x="777240" y="5577840"/>
            <a:ext cx="10698480" cy="594360"/>
          </a:xfrm>
          <a:prstGeom prst="rect">
            <a:avLst/>
          </a:prstGeom>
          <a:noFill/>
        </p:spPr>
        <p:txBody>
          <a:bodyPr wrap="square" lIns="0" rIns="0" tIns="27432" bIns="27432">
            <a:spAutoFit/>
          </a:bodyPr>
          <a:lstStyle/>
          <a:p>
            <a:pPr algn="l">
              <a:spcAft>
                <a:spcPts val="800"/>
              </a:spcAft>
            </a:pPr>
            <a:r>
              <a:rPr sz="2000" b="0">
                <a:solidFill>
                  <a:srgbClr val="FFC56D"/>
                </a:solidFill>
                <a:latin typeface="Arial"/>
              </a:rPr>
              <a:t>Sınır: uygulama karar etiketi imzada yok; kontrat sayıları denetler.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923"/>
        </a:solidFill>
        <a:effectLst/>
      </p:bgPr>
    </p:bg>
    <p:spTree>
      <p:nvGrpSpPr>
        <p:cNvPr id="1" name=""/>
        <p:cNvGrpSpPr/>
        <p:nvPr/>
      </p:nvGrpSpPr>
      <p:grpSpPr/>
      <p:sp>
        <p:nvSpPr>
          <p:cNvPr id="2" name="Rectangle 1"/>
          <p:cNvSpPr/>
          <p:nvPr/>
        </p:nvSpPr>
        <p:spPr>
          <a:xfrm>
            <a:off x="548640" y="475488"/>
            <a:ext cx="594360" cy="54864"/>
          </a:xfrm>
          <a:prstGeom prst="rect">
            <a:avLst/>
          </a:prstGeom>
          <a:solidFill>
            <a:srgbClr val="62E4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758952"/>
            <a:ext cx="10972800" cy="749808"/>
          </a:xfrm>
          <a:prstGeom prst="rect">
            <a:avLst/>
          </a:prstGeom>
          <a:noFill/>
        </p:spPr>
        <p:txBody>
          <a:bodyPr wrap="square" lIns="0" rIns="0" tIns="27432" bIns="27432">
            <a:spAutoFit/>
          </a:bodyPr>
          <a:lstStyle/>
          <a:p>
            <a:pPr algn="l">
              <a:spcAft>
                <a:spcPts val="800"/>
              </a:spcAft>
            </a:pPr>
            <a:r>
              <a:rPr sz="3800" b="1">
                <a:solidFill>
                  <a:srgbClr val="F4F7FA"/>
                </a:solidFill>
                <a:latin typeface="Arial"/>
              </a:rPr>
              <a:t>Canlı demo: üç sahne</a:t>
            </a:r>
          </a:p>
        </p:txBody>
      </p:sp>
      <p:sp>
        <p:nvSpPr>
          <p:cNvPr id="4" name="TextBox 3"/>
          <p:cNvSpPr txBox="1"/>
          <p:nvPr/>
        </p:nvSpPr>
        <p:spPr>
          <a:xfrm>
            <a:off x="594360" y="6446520"/>
            <a:ext cx="10607040" cy="246888"/>
          </a:xfrm>
          <a:prstGeom prst="rect">
            <a:avLst/>
          </a:prstGeom>
          <a:noFill/>
        </p:spPr>
        <p:txBody>
          <a:bodyPr wrap="square" lIns="0" rIns="0" tIns="27432" bIns="27432">
            <a:spAutoFit/>
          </a:bodyPr>
          <a:lstStyle/>
          <a:p>
            <a:pPr algn="l">
              <a:spcAft>
                <a:spcPts val="800"/>
              </a:spcAft>
            </a:pPr>
            <a:r>
              <a:rPr sz="1200" b="0">
                <a:solidFill>
                  <a:srgbClr val="B6C4D1"/>
                </a:solidFill>
                <a:latin typeface="Arial"/>
              </a:rPr>
              <a:t>Arf  /  OKX Agent Trade Kit × Avalanche  /  17 Ekim 2026</a:t>
            </a:r>
          </a:p>
        </p:txBody>
      </p:sp>
      <p:sp>
        <p:nvSpPr>
          <p:cNvPr id="5" name="TextBox 4"/>
          <p:cNvSpPr txBox="1"/>
          <p:nvPr/>
        </p:nvSpPr>
        <p:spPr>
          <a:xfrm>
            <a:off x="11109960" y="6419088"/>
            <a:ext cx="457200" cy="274320"/>
          </a:xfrm>
          <a:prstGeom prst="rect">
            <a:avLst/>
          </a:prstGeom>
          <a:noFill/>
        </p:spPr>
        <p:txBody>
          <a:bodyPr wrap="square" lIns="0" rIns="0" tIns="27432" bIns="27432">
            <a:spAutoFit/>
          </a:bodyPr>
          <a:lstStyle/>
          <a:p>
            <a:pPr algn="l">
              <a:spcAft>
                <a:spcPts val="800"/>
              </a:spcAft>
            </a:pPr>
            <a:r>
              <a:rPr sz="1300" b="0">
                <a:solidFill>
                  <a:srgbClr val="B6C4D1"/>
                </a:solidFill>
                <a:latin typeface="Arial"/>
              </a:rPr>
              <a:t>06</a:t>
            </a:r>
          </a:p>
        </p:txBody>
      </p:sp>
      <p:sp>
        <p:nvSpPr>
          <p:cNvPr id="6" name="TextBox 5"/>
          <p:cNvSpPr txBox="1"/>
          <p:nvPr/>
        </p:nvSpPr>
        <p:spPr>
          <a:xfrm>
            <a:off x="685800" y="1828800"/>
            <a:ext cx="320040" cy="411480"/>
          </a:xfrm>
          <a:prstGeom prst="rect">
            <a:avLst/>
          </a:prstGeom>
          <a:noFill/>
        </p:spPr>
        <p:txBody>
          <a:bodyPr wrap="square" lIns="0" rIns="0" tIns="27432" bIns="27432">
            <a:spAutoFit/>
          </a:bodyPr>
          <a:lstStyle/>
          <a:p>
            <a:pPr algn="l">
              <a:spcAft>
                <a:spcPts val="800"/>
              </a:spcAft>
            </a:pPr>
            <a:r>
              <a:rPr sz="2700" b="0">
                <a:solidFill>
                  <a:srgbClr val="62E4CD"/>
                </a:solidFill>
                <a:latin typeface="Arial"/>
              </a:rPr>
              <a:t>•</a:t>
            </a:r>
          </a:p>
        </p:txBody>
      </p:sp>
      <p:sp>
        <p:nvSpPr>
          <p:cNvPr id="7" name="TextBox 6"/>
          <p:cNvSpPr txBox="1"/>
          <p:nvPr/>
        </p:nvSpPr>
        <p:spPr>
          <a:xfrm>
            <a:off x="1078992" y="1828800"/>
            <a:ext cx="10287000" cy="777240"/>
          </a:xfrm>
          <a:prstGeom prst="rect">
            <a:avLst/>
          </a:prstGeom>
          <a:noFill/>
        </p:spPr>
        <p:txBody>
          <a:bodyPr wrap="square" lIns="0" rIns="0" tIns="27432" bIns="27432">
            <a:spAutoFit/>
          </a:bodyPr>
          <a:lstStyle/>
          <a:p>
            <a:pPr algn="l">
              <a:spcAft>
                <a:spcPts val="800"/>
              </a:spcAft>
            </a:pPr>
            <a:r>
              <a:rPr sz="2700" b="0">
                <a:solidFill>
                  <a:srgbClr val="F4F7FA"/>
                </a:solidFill>
                <a:latin typeface="Arial"/>
              </a:rPr>
              <a:t>1.000 USDT: tahta uygunsa ONAY</a:t>
            </a:r>
          </a:p>
        </p:txBody>
      </p:sp>
      <p:sp>
        <p:nvSpPr>
          <p:cNvPr id="8" name="TextBox 7"/>
          <p:cNvSpPr txBox="1"/>
          <p:nvPr/>
        </p:nvSpPr>
        <p:spPr>
          <a:xfrm>
            <a:off x="685800" y="2816352"/>
            <a:ext cx="320040" cy="411480"/>
          </a:xfrm>
          <a:prstGeom prst="rect">
            <a:avLst/>
          </a:prstGeom>
          <a:noFill/>
        </p:spPr>
        <p:txBody>
          <a:bodyPr wrap="square" lIns="0" rIns="0" tIns="27432" bIns="27432">
            <a:spAutoFit/>
          </a:bodyPr>
          <a:lstStyle/>
          <a:p>
            <a:pPr algn="l">
              <a:spcAft>
                <a:spcPts val="800"/>
              </a:spcAft>
            </a:pPr>
            <a:r>
              <a:rPr sz="2700" b="0">
                <a:solidFill>
                  <a:srgbClr val="62E4CD"/>
                </a:solidFill>
                <a:latin typeface="Arial"/>
              </a:rPr>
              <a:t>•</a:t>
            </a:r>
          </a:p>
        </p:txBody>
      </p:sp>
      <p:sp>
        <p:nvSpPr>
          <p:cNvPr id="9" name="TextBox 8"/>
          <p:cNvSpPr txBox="1"/>
          <p:nvPr/>
        </p:nvSpPr>
        <p:spPr>
          <a:xfrm>
            <a:off x="1078992" y="2816352"/>
            <a:ext cx="10287000" cy="777240"/>
          </a:xfrm>
          <a:prstGeom prst="rect">
            <a:avLst/>
          </a:prstGeom>
          <a:noFill/>
        </p:spPr>
        <p:txBody>
          <a:bodyPr wrap="square" lIns="0" rIns="0" tIns="27432" bIns="27432">
            <a:spAutoFit/>
          </a:bodyPr>
          <a:lstStyle/>
          <a:p>
            <a:pPr algn="l">
              <a:spcAft>
                <a:spcPts val="800"/>
              </a:spcAft>
            </a:pPr>
            <a:r>
              <a:rPr sz="2700" b="0">
                <a:solidFill>
                  <a:srgbClr val="F4F7FA"/>
                </a:solidFill>
                <a:latin typeface="Arial"/>
              </a:rPr>
              <a:t>10.000 USDT: ExceedsSafeSize, N parçaya böl</a:t>
            </a:r>
          </a:p>
        </p:txBody>
      </p:sp>
      <p:sp>
        <p:nvSpPr>
          <p:cNvPr id="10" name="TextBox 9"/>
          <p:cNvSpPr txBox="1"/>
          <p:nvPr/>
        </p:nvSpPr>
        <p:spPr>
          <a:xfrm>
            <a:off x="685800" y="3803904"/>
            <a:ext cx="320040" cy="411480"/>
          </a:xfrm>
          <a:prstGeom prst="rect">
            <a:avLst/>
          </a:prstGeom>
          <a:noFill/>
        </p:spPr>
        <p:txBody>
          <a:bodyPr wrap="square" lIns="0" rIns="0" tIns="27432" bIns="27432">
            <a:spAutoFit/>
          </a:bodyPr>
          <a:lstStyle/>
          <a:p>
            <a:pPr algn="l">
              <a:spcAft>
                <a:spcPts val="800"/>
              </a:spcAft>
            </a:pPr>
            <a:r>
              <a:rPr sz="2700" b="0">
                <a:solidFill>
                  <a:srgbClr val="62E4CD"/>
                </a:solidFill>
                <a:latin typeface="Arial"/>
              </a:rPr>
              <a:t>•</a:t>
            </a:r>
          </a:p>
        </p:txBody>
      </p:sp>
      <p:sp>
        <p:nvSpPr>
          <p:cNvPr id="11" name="TextBox 10"/>
          <p:cNvSpPr txBox="1"/>
          <p:nvPr/>
        </p:nvSpPr>
        <p:spPr>
          <a:xfrm>
            <a:off x="1078992" y="3803904"/>
            <a:ext cx="10287000" cy="777240"/>
          </a:xfrm>
          <a:prstGeom prst="rect">
            <a:avLst/>
          </a:prstGeom>
          <a:noFill/>
        </p:spPr>
        <p:txBody>
          <a:bodyPr wrap="square" lIns="0" rIns="0" tIns="27432" bIns="27432">
            <a:spAutoFit/>
          </a:bodyPr>
          <a:lstStyle/>
          <a:p>
            <a:pPr algn="l">
              <a:spcAft>
                <a:spcPts val="800"/>
              </a:spcAft>
            </a:pPr>
            <a:r>
              <a:rPr sz="2700" b="0">
                <a:solidFill>
                  <a:srgbClr val="F4F7FA"/>
                </a:solidFill>
                <a:latin typeface="Arial"/>
              </a:rPr>
              <a:t>Veri kesintisi SİMÜLASYONU: imza yok, BadSigner</a:t>
            </a:r>
          </a:p>
        </p:txBody>
      </p:sp>
      <p:sp>
        <p:nvSpPr>
          <p:cNvPr id="12" name="TextBox 11"/>
          <p:cNvSpPr txBox="1"/>
          <p:nvPr/>
        </p:nvSpPr>
        <p:spPr>
          <a:xfrm>
            <a:off x="777240" y="5029200"/>
            <a:ext cx="10607040" cy="822960"/>
          </a:xfrm>
          <a:prstGeom prst="rect">
            <a:avLst/>
          </a:prstGeom>
          <a:noFill/>
        </p:spPr>
        <p:txBody>
          <a:bodyPr wrap="square" lIns="0" rIns="0" tIns="27432" bIns="27432">
            <a:spAutoFit/>
          </a:bodyPr>
          <a:lstStyle/>
          <a:p>
            <a:pPr algn="l">
              <a:spcAft>
                <a:spcPts val="800"/>
              </a:spcAft>
            </a:pPr>
            <a:r>
              <a:rPr sz="2500" b="0">
                <a:solidFill>
                  <a:srgbClr val="62E4CD"/>
                </a:solidFill>
                <a:latin typeface="Arial"/>
              </a:rPr>
              <a:t>Parça sayısı canlıdır. Agent ile kontratın hesabı birebir aynı.</a:t>
            </a:r>
          </a:p>
        </p:txBody>
      </p:sp>
      <p:sp>
        <p:nvSpPr>
          <p:cNvPr id="13" name="TextBox 12"/>
          <p:cNvSpPr txBox="1"/>
          <p:nvPr/>
        </p:nvSpPr>
        <p:spPr>
          <a:xfrm>
            <a:off x="777240" y="5897880"/>
            <a:ext cx="10607040" cy="320040"/>
          </a:xfrm>
          <a:prstGeom prst="rect">
            <a:avLst/>
          </a:prstGeom>
          <a:noFill/>
        </p:spPr>
        <p:txBody>
          <a:bodyPr wrap="square" lIns="0" rIns="0" tIns="27432" bIns="27432">
            <a:spAutoFit/>
          </a:bodyPr>
          <a:lstStyle/>
          <a:p>
            <a:pPr algn="l">
              <a:spcAft>
                <a:spcPts val="800"/>
              </a:spcAft>
            </a:pPr>
            <a:r>
              <a:rPr sz="1600" b="0">
                <a:solidFill>
                  <a:srgbClr val="B6C4D1"/>
                </a:solidFill>
                <a:latin typeface="Arial"/>
              </a:rPr>
              <a:t>Varsayılan: eth_call ön izlemesi. Geçmiş gerçek tx kanıtları README'de.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923"/>
        </a:solidFill>
        <a:effectLst/>
      </p:bgPr>
    </p:bg>
    <p:spTree>
      <p:nvGrpSpPr>
        <p:cNvPr id="1" name=""/>
        <p:cNvGrpSpPr/>
        <p:nvPr/>
      </p:nvGrpSpPr>
      <p:grpSpPr/>
      <p:sp>
        <p:nvSpPr>
          <p:cNvPr id="2" name="Rectangle 1"/>
          <p:cNvSpPr/>
          <p:nvPr/>
        </p:nvSpPr>
        <p:spPr>
          <a:xfrm>
            <a:off x="548640" y="475488"/>
            <a:ext cx="594360" cy="54864"/>
          </a:xfrm>
          <a:prstGeom prst="rect">
            <a:avLst/>
          </a:prstGeom>
          <a:solidFill>
            <a:srgbClr val="62E4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758952"/>
            <a:ext cx="10972800" cy="749808"/>
          </a:xfrm>
          <a:prstGeom prst="rect">
            <a:avLst/>
          </a:prstGeom>
          <a:noFill/>
        </p:spPr>
        <p:txBody>
          <a:bodyPr wrap="square" lIns="0" rIns="0" tIns="27432" bIns="27432">
            <a:spAutoFit/>
          </a:bodyPr>
          <a:lstStyle/>
          <a:p>
            <a:pPr algn="l">
              <a:spcAft>
                <a:spcPts val="800"/>
              </a:spcAft>
            </a:pPr>
            <a:r>
              <a:rPr sz="3800" b="1">
                <a:solidFill>
                  <a:srgbClr val="F4F7FA"/>
                </a:solidFill>
                <a:latin typeface="Arial"/>
              </a:rPr>
              <a:t>Kötü senaryoda ne oluyor?</a:t>
            </a:r>
          </a:p>
        </p:txBody>
      </p:sp>
      <p:sp>
        <p:nvSpPr>
          <p:cNvPr id="4" name="TextBox 3"/>
          <p:cNvSpPr txBox="1"/>
          <p:nvPr/>
        </p:nvSpPr>
        <p:spPr>
          <a:xfrm>
            <a:off x="594360" y="6446520"/>
            <a:ext cx="10607040" cy="246888"/>
          </a:xfrm>
          <a:prstGeom prst="rect">
            <a:avLst/>
          </a:prstGeom>
          <a:noFill/>
        </p:spPr>
        <p:txBody>
          <a:bodyPr wrap="square" lIns="0" rIns="0" tIns="27432" bIns="27432">
            <a:spAutoFit/>
          </a:bodyPr>
          <a:lstStyle/>
          <a:p>
            <a:pPr algn="l">
              <a:spcAft>
                <a:spcPts val="800"/>
              </a:spcAft>
            </a:pPr>
            <a:r>
              <a:rPr sz="1200" b="0">
                <a:solidFill>
                  <a:srgbClr val="B6C4D1"/>
                </a:solidFill>
                <a:latin typeface="Arial"/>
              </a:rPr>
              <a:t>Arf  /  OKX Agent Trade Kit × Avalanche  /  17 Ekim 2026</a:t>
            </a:r>
          </a:p>
        </p:txBody>
      </p:sp>
      <p:sp>
        <p:nvSpPr>
          <p:cNvPr id="5" name="TextBox 4"/>
          <p:cNvSpPr txBox="1"/>
          <p:nvPr/>
        </p:nvSpPr>
        <p:spPr>
          <a:xfrm>
            <a:off x="11109960" y="6419088"/>
            <a:ext cx="457200" cy="274320"/>
          </a:xfrm>
          <a:prstGeom prst="rect">
            <a:avLst/>
          </a:prstGeom>
          <a:noFill/>
        </p:spPr>
        <p:txBody>
          <a:bodyPr wrap="square" lIns="0" rIns="0" tIns="27432" bIns="27432">
            <a:spAutoFit/>
          </a:bodyPr>
          <a:lstStyle/>
          <a:p>
            <a:pPr algn="l">
              <a:spcAft>
                <a:spcPts val="800"/>
              </a:spcAft>
            </a:pPr>
            <a:r>
              <a:rPr sz="1300" b="0">
                <a:solidFill>
                  <a:srgbClr val="B6C4D1"/>
                </a:solidFill>
                <a:latin typeface="Arial"/>
              </a:rPr>
              <a:t>07</a:t>
            </a:r>
          </a:p>
        </p:txBody>
      </p:sp>
      <p:graphicFrame>
        <p:nvGraphicFramePr>
          <p:cNvPr id="6" name="Table 5"/>
          <p:cNvGraphicFramePr>
            <a:graphicFrameLocks noGrp="1"/>
          </p:cNvGraphicFramePr>
          <p:nvPr/>
        </p:nvGraphicFramePr>
        <p:xfrm>
          <a:off x="731520" y="1737360"/>
          <a:ext cx="10789920" cy="4023360"/>
        </p:xfrm>
        <a:graphic>
          <a:graphicData uri="http://schemas.openxmlformats.org/drawingml/2006/table">
            <a:tbl>
              <a:tblPr firstRow="1" bandRow="1">
                <a:tableStyleId>{5C22544A-7EE6-4342-B048-85BDC9FD1C3A}</a:tableStyleId>
              </a:tblPr>
              <a:tblGrid>
                <a:gridCol w="3657600"/>
                <a:gridCol w="7132320"/>
              </a:tblGrid>
              <a:tr h="670560">
                <a:tc>
                  <a:txBody>
                    <a:bodyPr/>
                    <a:lstStyle/>
                    <a:p>
                      <a:r>
                        <a:rPr sz="2200" b="1">
                          <a:solidFill>
                            <a:srgbClr val="F4F7FA"/>
                          </a:solidFill>
                          <a:latin typeface="Arial"/>
                        </a:rPr>
                        <a:t>Kötü senaryo</a:t>
                      </a:r>
                    </a:p>
                  </a:txBody>
                  <a:tcPr marL="164592" marR="109728" marT="109728" anchor="ctr">
                    <a:solidFill>
                      <a:srgbClr val="25483F"/>
                    </a:solidFill>
                  </a:tcPr>
                </a:tc>
                <a:tc>
                  <a:txBody>
                    <a:bodyPr/>
                    <a:lstStyle/>
                    <a:p>
                      <a:r>
                        <a:rPr sz="2200" b="1">
                          <a:solidFill>
                            <a:srgbClr val="F4F7FA"/>
                          </a:solidFill>
                          <a:latin typeface="Arial"/>
                        </a:rPr>
                        <a:t>Mevcut karşılık</a:t>
                      </a:r>
                    </a:p>
                  </a:txBody>
                  <a:tcPr marL="164592" marR="109728" marT="109728" anchor="ctr">
                    <a:solidFill>
                      <a:srgbClr val="25483F"/>
                    </a:solidFill>
                  </a:tcPr>
                </a:tc>
              </a:tr>
              <a:tr h="670560">
                <a:tc>
                  <a:txBody>
                    <a:bodyPr/>
                    <a:lstStyle/>
                    <a:p>
                      <a:r>
                        <a:rPr sz="2200" b="0">
                          <a:solidFill>
                            <a:srgbClr val="F4F7FA"/>
                          </a:solidFill>
                          <a:latin typeface="Arial"/>
                        </a:rPr>
                        <a:t>Oracle anahtarı çalınır</a:t>
                      </a:r>
                    </a:p>
                  </a:txBody>
                  <a:tcPr marL="164592" marR="109728" marT="109728" anchor="ctr">
                    <a:solidFill>
                      <a:srgbClr val="1C2B39"/>
                    </a:solidFill>
                  </a:tcPr>
                </a:tc>
                <a:tc>
                  <a:txBody>
                    <a:bodyPr/>
                    <a:lstStyle/>
                    <a:p>
                      <a:r>
                        <a:rPr sz="2200" b="0">
                          <a:solidFill>
                            <a:srgbClr val="F4F7FA"/>
                          </a:solidFill>
                          <a:latin typeface="Arial"/>
                        </a:rPr>
                        <a:t>pause + setOracle</a:t>
                      </a:r>
                    </a:p>
                  </a:txBody>
                  <a:tcPr marL="164592" marR="109728" marT="109728" anchor="ctr">
                    <a:solidFill>
                      <a:srgbClr val="1C2B39"/>
                    </a:solidFill>
                  </a:tcPr>
                </a:tc>
              </a:tr>
              <a:tr h="670560">
                <a:tc>
                  <a:txBody>
                    <a:bodyPr/>
                    <a:lstStyle/>
                    <a:p>
                      <a:r>
                        <a:rPr sz="2200" b="0">
                          <a:solidFill>
                            <a:srgbClr val="F4F7FA"/>
                          </a:solidFill>
                          <a:latin typeface="Arial"/>
                        </a:rPr>
                        <a:t>LLM yanlış yorumlar</a:t>
                      </a:r>
                    </a:p>
                  </a:txBody>
                  <a:tcPr marL="164592" marR="109728" marT="109728" anchor="ctr">
                    <a:solidFill>
                      <a:srgbClr val="1C2B39"/>
                    </a:solidFill>
                  </a:tcPr>
                </a:tc>
                <a:tc>
                  <a:txBody>
                    <a:bodyPr/>
                    <a:lstStyle/>
                    <a:p>
                      <a:r>
                        <a:rPr sz="2200" b="0">
                          <a:solidFill>
                            <a:srgbClr val="F4F7FA"/>
                          </a:solidFill>
                          <a:latin typeface="Arial"/>
                        </a:rPr>
                        <a:t>Yapısal veri + deterministik sayılar</a:t>
                      </a:r>
                    </a:p>
                  </a:txBody>
                  <a:tcPr marL="164592" marR="109728" marT="109728" anchor="ctr">
                    <a:solidFill>
                      <a:srgbClr val="1C2B39"/>
                    </a:solidFill>
                  </a:tcPr>
                </a:tc>
              </a:tr>
              <a:tr h="670560">
                <a:tc>
                  <a:txBody>
                    <a:bodyPr/>
                    <a:lstStyle/>
                    <a:p>
                      <a:r>
                        <a:rPr sz="2200" b="0">
                          <a:solidFill>
                            <a:srgbClr val="F4F7FA"/>
                          </a:solidFill>
                          <a:latin typeface="Arial"/>
                        </a:rPr>
                        <a:t>Yanlış alarm</a:t>
                      </a:r>
                    </a:p>
                  </a:txBody>
                  <a:tcPr marL="164592" marR="109728" marT="109728" anchor="ctr">
                    <a:solidFill>
                      <a:srgbClr val="1C2B39"/>
                    </a:solidFill>
                  </a:tcPr>
                </a:tc>
                <a:tc>
                  <a:txBody>
                    <a:bodyPr/>
                    <a:lstStyle/>
                    <a:p>
                      <a:r>
                        <a:rPr sz="2200" b="0">
                          <a:solidFill>
                            <a:srgbClr val="F4F7FA"/>
                          </a:solidFill>
                          <a:latin typeface="Arial"/>
                        </a:rPr>
                        <a:t>Parametrik eşik + Bonferroni</a:t>
                      </a:r>
                    </a:p>
                  </a:txBody>
                  <a:tcPr marL="164592" marR="109728" marT="109728" anchor="ctr">
                    <a:solidFill>
                      <a:srgbClr val="1C2B39"/>
                    </a:solidFill>
                  </a:tcPr>
                </a:tc>
              </a:tr>
              <a:tr h="670560">
                <a:tc>
                  <a:txBody>
                    <a:bodyPr/>
                    <a:lstStyle/>
                    <a:p>
                      <a:r>
                        <a:rPr sz="2200" b="0">
                          <a:solidFill>
                            <a:srgbClr val="F4F7FA"/>
                          </a:solidFill>
                          <a:latin typeface="Arial"/>
                        </a:rPr>
                        <a:t>Piyasa verisi kesilir</a:t>
                      </a:r>
                    </a:p>
                  </a:txBody>
                  <a:tcPr marL="164592" marR="109728" marT="109728" anchor="ctr">
                    <a:solidFill>
                      <a:srgbClr val="1C2B39"/>
                    </a:solidFill>
                  </a:tcPr>
                </a:tc>
                <a:tc>
                  <a:txBody>
                    <a:bodyPr/>
                    <a:lstStyle/>
                    <a:p>
                      <a:r>
                        <a:rPr sz="2200" b="0">
                          <a:solidFill>
                            <a:srgbClr val="F4F7FA"/>
                          </a:solidFill>
                          <a:latin typeface="Arial"/>
                        </a:rPr>
                        <a:t>İmza yok; yetkisiz imza BadSigner</a:t>
                      </a:r>
                    </a:p>
                  </a:txBody>
                  <a:tcPr marL="164592" marR="109728" marT="109728" anchor="ctr">
                    <a:solidFill>
                      <a:srgbClr val="1C2B39"/>
                    </a:solidFill>
                  </a:tcPr>
                </a:tc>
              </a:tr>
              <a:tr h="670560">
                <a:tc>
                  <a:txBody>
                    <a:bodyPr/>
                    <a:lstStyle/>
                    <a:p>
                      <a:r>
                        <a:rPr sz="2200" b="0">
                          <a:solidFill>
                            <a:srgbClr val="F4F7FA"/>
                          </a:solidFill>
                          <a:latin typeface="Arial"/>
                        </a:rPr>
                        <a:t>Taze tekrar / eski onay</a:t>
                      </a:r>
                    </a:p>
                  </a:txBody>
                  <a:tcPr marL="164592" marR="109728" marT="109728" anchor="ctr">
                    <a:solidFill>
                      <a:srgbClr val="1C2B39"/>
                    </a:solidFill>
                  </a:tcPr>
                </a:tc>
                <a:tc>
                  <a:txBody>
                    <a:bodyPr/>
                    <a:lstStyle/>
                    <a:p>
                      <a:r>
                        <a:rPr sz="2200" b="0">
                          <a:solidFill>
                            <a:srgbClr val="F4F7FA"/>
                          </a:solidFill>
                          <a:latin typeface="Arial"/>
                        </a:rPr>
                        <a:t>AlreadyUsed / StaleScore: gerçek tx</a:t>
                      </a:r>
                    </a:p>
                  </a:txBody>
                  <a:tcPr marL="164592" marR="109728" marT="109728" anchor="ctr">
                    <a:solidFill>
                      <a:srgbClr val="1C2B39"/>
                    </a:solidFill>
                  </a:tcPr>
                </a:tc>
              </a:tr>
            </a:tbl>
          </a:graphicData>
        </a:graphic>
      </p:graphicFrame>
      <p:sp>
        <p:nvSpPr>
          <p:cNvPr id="7" name="TextBox 6"/>
          <p:cNvSpPr txBox="1"/>
          <p:nvPr/>
        </p:nvSpPr>
        <p:spPr>
          <a:xfrm>
            <a:off x="777240" y="5852160"/>
            <a:ext cx="10607040" cy="502920"/>
          </a:xfrm>
          <a:prstGeom prst="rect">
            <a:avLst/>
          </a:prstGeom>
          <a:noFill/>
        </p:spPr>
        <p:txBody>
          <a:bodyPr wrap="square" lIns="0" rIns="0" tIns="27432" bIns="27432">
            <a:spAutoFit/>
          </a:bodyPr>
          <a:lstStyle/>
          <a:p>
            <a:pPr algn="l">
              <a:spcAft>
                <a:spcPts val="800"/>
              </a:spcAft>
            </a:pPr>
            <a:r>
              <a:rPr sz="2000" b="0">
                <a:solidFill>
                  <a:srgbClr val="62E4CD"/>
                </a:solidFill>
                <a:latin typeface="Arial"/>
              </a:rPr>
              <a:t>Tazelik önce: eski onay StaleScore, taze tekrar AlreadyUsed.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923"/>
        </a:solidFill>
        <a:effectLst/>
      </p:bgPr>
    </p:bg>
    <p:spTree>
      <p:nvGrpSpPr>
        <p:cNvPr id="1" name=""/>
        <p:cNvGrpSpPr/>
        <p:nvPr/>
      </p:nvGrpSpPr>
      <p:grpSpPr/>
      <p:sp>
        <p:nvSpPr>
          <p:cNvPr id="2" name="Rectangle 1"/>
          <p:cNvSpPr/>
          <p:nvPr/>
        </p:nvSpPr>
        <p:spPr>
          <a:xfrm>
            <a:off x="548640" y="475488"/>
            <a:ext cx="594360" cy="54864"/>
          </a:xfrm>
          <a:prstGeom prst="rect">
            <a:avLst/>
          </a:prstGeom>
          <a:solidFill>
            <a:srgbClr val="62E4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758952"/>
            <a:ext cx="10972800" cy="749808"/>
          </a:xfrm>
          <a:prstGeom prst="rect">
            <a:avLst/>
          </a:prstGeom>
          <a:noFill/>
        </p:spPr>
        <p:txBody>
          <a:bodyPr wrap="square" lIns="0" rIns="0" tIns="27432" bIns="27432">
            <a:spAutoFit/>
          </a:bodyPr>
          <a:lstStyle/>
          <a:p>
            <a:pPr algn="l">
              <a:spcAft>
                <a:spcPts val="800"/>
              </a:spcAft>
            </a:pPr>
            <a:r>
              <a:rPr sz="3800" b="1">
                <a:solidFill>
                  <a:srgbClr val="F4F7FA"/>
                </a:solidFill>
                <a:latin typeface="Arial"/>
              </a:rPr>
              <a:t>Ölçülen kanıt, açık sınırlar</a:t>
            </a:r>
          </a:p>
        </p:txBody>
      </p:sp>
      <p:sp>
        <p:nvSpPr>
          <p:cNvPr id="4" name="TextBox 3"/>
          <p:cNvSpPr txBox="1"/>
          <p:nvPr/>
        </p:nvSpPr>
        <p:spPr>
          <a:xfrm>
            <a:off x="594360" y="6446520"/>
            <a:ext cx="10607040" cy="246888"/>
          </a:xfrm>
          <a:prstGeom prst="rect">
            <a:avLst/>
          </a:prstGeom>
          <a:noFill/>
        </p:spPr>
        <p:txBody>
          <a:bodyPr wrap="square" lIns="0" rIns="0" tIns="27432" bIns="27432">
            <a:spAutoFit/>
          </a:bodyPr>
          <a:lstStyle/>
          <a:p>
            <a:pPr algn="l">
              <a:spcAft>
                <a:spcPts val="800"/>
              </a:spcAft>
            </a:pPr>
            <a:r>
              <a:rPr sz="1200" b="0">
                <a:solidFill>
                  <a:srgbClr val="B6C4D1"/>
                </a:solidFill>
                <a:latin typeface="Arial"/>
              </a:rPr>
              <a:t>Arf  /  OKX Agent Trade Kit × Avalanche  /  17 Ekim 2026</a:t>
            </a:r>
          </a:p>
        </p:txBody>
      </p:sp>
      <p:sp>
        <p:nvSpPr>
          <p:cNvPr id="5" name="TextBox 4"/>
          <p:cNvSpPr txBox="1"/>
          <p:nvPr/>
        </p:nvSpPr>
        <p:spPr>
          <a:xfrm>
            <a:off x="11109960" y="6419088"/>
            <a:ext cx="457200" cy="274320"/>
          </a:xfrm>
          <a:prstGeom prst="rect">
            <a:avLst/>
          </a:prstGeom>
          <a:noFill/>
        </p:spPr>
        <p:txBody>
          <a:bodyPr wrap="square" lIns="0" rIns="0" tIns="27432" bIns="27432">
            <a:spAutoFit/>
          </a:bodyPr>
          <a:lstStyle/>
          <a:p>
            <a:pPr algn="l">
              <a:spcAft>
                <a:spcPts val="800"/>
              </a:spcAft>
            </a:pPr>
            <a:r>
              <a:rPr sz="1300" b="0">
                <a:solidFill>
                  <a:srgbClr val="B6C4D1"/>
                </a:solidFill>
                <a:latin typeface="Arial"/>
              </a:rPr>
              <a:t>08</a:t>
            </a:r>
          </a:p>
        </p:txBody>
      </p:sp>
      <p:graphicFrame>
        <p:nvGraphicFramePr>
          <p:cNvPr id="6" name="Table 5"/>
          <p:cNvGraphicFramePr>
            <a:graphicFrameLocks noGrp="1"/>
          </p:cNvGraphicFramePr>
          <p:nvPr/>
        </p:nvGraphicFramePr>
        <p:xfrm>
          <a:off x="731520" y="1691640"/>
          <a:ext cx="10789920" cy="3474720"/>
        </p:xfrm>
        <a:graphic>
          <a:graphicData uri="http://schemas.openxmlformats.org/drawingml/2006/table">
            <a:tbl>
              <a:tblPr firstRow="1" bandRow="1">
                <a:tableStyleId>{5C22544A-7EE6-4342-B048-85BDC9FD1C3A}</a:tableStyleId>
              </a:tblPr>
              <a:tblGrid>
                <a:gridCol w="5943600"/>
                <a:gridCol w="4846320"/>
              </a:tblGrid>
              <a:tr h="434340">
                <a:tc>
                  <a:txBody>
                    <a:bodyPr/>
                    <a:lstStyle/>
                    <a:p>
                      <a:r>
                        <a:rPr sz="2000" b="1">
                          <a:solidFill>
                            <a:srgbClr val="F4F7FA"/>
                          </a:solidFill>
                          <a:latin typeface="Arial"/>
                        </a:rPr>
                        <a:t>7 gerçek tx / ana kanıt listesi</a:t>
                      </a:r>
                    </a:p>
                  </a:txBody>
                  <a:tcPr marL="146304" marT="27432" marB="27432" anchor="ctr">
                    <a:solidFill>
                      <a:srgbClr val="25483F"/>
                    </a:solidFill>
                  </a:tcPr>
                </a:tc>
                <a:tc>
                  <a:txBody>
                    <a:bodyPr/>
                    <a:lstStyle/>
                    <a:p>
                      <a:r>
                        <a:rPr sz="2000" b="1">
                          <a:solidFill>
                            <a:srgbClr val="F4F7FA"/>
                          </a:solidFill>
                          <a:latin typeface="Arial"/>
                        </a:rPr>
                        <a:t>Fuji işlem bağlantısı</a:t>
                      </a:r>
                    </a:p>
                  </a:txBody>
                  <a:tcPr marL="146304" marT="27432" marB="27432" anchor="ctr">
                    <a:solidFill>
                      <a:srgbClr val="25483F"/>
                    </a:solidFill>
                  </a:tcPr>
                </a:tc>
              </a:tr>
              <a:tr h="434340">
                <a:tc>
                  <a:txBody>
                    <a:bodyPr/>
                    <a:lstStyle/>
                    <a:p>
                      <a:r>
                        <a:rPr sz="2000" b="0">
                          <a:solidFill>
                            <a:srgbClr val="F4F7FA"/>
                          </a:solidFill>
                          <a:latin typeface="Arial"/>
                        </a:rPr>
                        <a:t>IntentApproved / ilk kontrol</a:t>
                      </a:r>
                    </a:p>
                  </a:txBody>
                  <a:tcPr marL="146304" marT="27432" marB="27432" anchor="ctr">
                    <a:solidFill>
                      <a:srgbClr val="1C2B39"/>
                    </a:solidFill>
                  </a:tcPr>
                </a:tc>
                <a:tc>
                  <a:txBody>
                    <a:bodyPr/>
                    <a:lstStyle/>
                    <a:p>
                      <a:r>
                        <a:rPr sz="2000" b="0">
                          <a:solidFill>
                            <a:srgbClr val="62E4CD"/>
                          </a:solidFill>
                          <a:latin typeface="Arial"/>
                          <a:hlinkClick r:id="rId3"/>
                        </a:rPr>
                        <a:t>0x7bef94f297de…71ba5173</a:t>
                      </a:r>
                    </a:p>
                  </a:txBody>
                  <a:tcPr marL="146304" marT="27432" marB="27432" anchor="ctr">
                    <a:solidFill>
                      <a:srgbClr val="1C2B39"/>
                    </a:solidFill>
                  </a:tcPr>
                </a:tc>
              </a:tr>
              <a:tr h="434340">
                <a:tc>
                  <a:txBody>
                    <a:bodyPr/>
                    <a:lstStyle/>
                    <a:p>
                      <a:r>
                        <a:rPr sz="2000" b="0">
                          <a:solidFill>
                            <a:srgbClr val="F4F7FA"/>
                          </a:solidFill>
                          <a:latin typeface="Arial"/>
                        </a:rPr>
                        <a:t>IntentApproved / agent</a:t>
                      </a:r>
                    </a:p>
                  </a:txBody>
                  <a:tcPr marL="146304" marT="27432" marB="27432" anchor="ctr">
                    <a:solidFill>
                      <a:srgbClr val="1C2B39"/>
                    </a:solidFill>
                  </a:tcPr>
                </a:tc>
                <a:tc>
                  <a:txBody>
                    <a:bodyPr/>
                    <a:lstStyle/>
                    <a:p>
                      <a:r>
                        <a:rPr sz="2000" b="0">
                          <a:solidFill>
                            <a:srgbClr val="62E4CD"/>
                          </a:solidFill>
                          <a:latin typeface="Arial"/>
                          <a:hlinkClick r:id="rId4"/>
                        </a:rPr>
                        <a:t>0xa5798d597f00…5eaacbbe</a:t>
                      </a:r>
                    </a:p>
                  </a:txBody>
                  <a:tcPr marL="146304" marT="27432" marB="27432" anchor="ctr">
                    <a:solidFill>
                      <a:srgbClr val="1C2B39"/>
                    </a:solidFill>
                  </a:tcPr>
                </a:tc>
              </a:tr>
              <a:tr h="434340">
                <a:tc>
                  <a:txBody>
                    <a:bodyPr/>
                    <a:lstStyle/>
                    <a:p>
                      <a:r>
                        <a:rPr sz="2000" b="0">
                          <a:solidFill>
                            <a:srgbClr val="F4F7FA"/>
                          </a:solidFill>
                          <a:latin typeface="Arial"/>
                        </a:rPr>
                        <a:t>ExceedsSafeSize / ilk kontrol</a:t>
                      </a:r>
                    </a:p>
                  </a:txBody>
                  <a:tcPr marL="146304" marT="27432" marB="27432" anchor="ctr">
                    <a:solidFill>
                      <a:srgbClr val="1C2B39"/>
                    </a:solidFill>
                  </a:tcPr>
                </a:tc>
                <a:tc>
                  <a:txBody>
                    <a:bodyPr/>
                    <a:lstStyle/>
                    <a:p>
                      <a:r>
                        <a:rPr sz="2000" b="0">
                          <a:solidFill>
                            <a:srgbClr val="62E4CD"/>
                          </a:solidFill>
                          <a:latin typeface="Arial"/>
                          <a:hlinkClick r:id="rId5"/>
                        </a:rPr>
                        <a:t>0x175eaee2cdce…8f4bf0e5</a:t>
                      </a:r>
                    </a:p>
                  </a:txBody>
                  <a:tcPr marL="146304" marT="27432" marB="27432" anchor="ctr">
                    <a:solidFill>
                      <a:srgbClr val="1C2B39"/>
                    </a:solidFill>
                  </a:tcPr>
                </a:tc>
              </a:tr>
              <a:tr h="434340">
                <a:tc>
                  <a:txBody>
                    <a:bodyPr/>
                    <a:lstStyle/>
                    <a:p>
                      <a:r>
                        <a:rPr sz="2000" b="0">
                          <a:solidFill>
                            <a:srgbClr val="F4F7FA"/>
                          </a:solidFill>
                          <a:latin typeface="Arial"/>
                        </a:rPr>
                        <a:t>ExceedsSafeSize / agent</a:t>
                      </a:r>
                    </a:p>
                  </a:txBody>
                  <a:tcPr marL="146304" marT="27432" marB="27432" anchor="ctr">
                    <a:solidFill>
                      <a:srgbClr val="1C2B39"/>
                    </a:solidFill>
                  </a:tcPr>
                </a:tc>
                <a:tc>
                  <a:txBody>
                    <a:bodyPr/>
                    <a:lstStyle/>
                    <a:p>
                      <a:r>
                        <a:rPr sz="2000" b="0">
                          <a:solidFill>
                            <a:srgbClr val="62E4CD"/>
                          </a:solidFill>
                          <a:latin typeface="Arial"/>
                          <a:hlinkClick r:id="rId6"/>
                        </a:rPr>
                        <a:t>0x80aeb84999c6…eb2667a6</a:t>
                      </a:r>
                    </a:p>
                  </a:txBody>
                  <a:tcPr marL="146304" marT="27432" marB="27432" anchor="ctr">
                    <a:solidFill>
                      <a:srgbClr val="1C2B39"/>
                    </a:solidFill>
                  </a:tcPr>
                </a:tc>
              </a:tr>
              <a:tr h="434340">
                <a:tc>
                  <a:txBody>
                    <a:bodyPr/>
                    <a:lstStyle/>
                    <a:p>
                      <a:r>
                        <a:rPr sz="2000" b="0">
                          <a:solidFill>
                            <a:srgbClr val="F4F7FA"/>
                          </a:solidFill>
                          <a:latin typeface="Arial"/>
                        </a:rPr>
                        <a:t>BadSigner</a:t>
                      </a:r>
                    </a:p>
                  </a:txBody>
                  <a:tcPr marL="146304" marT="27432" marB="27432" anchor="ctr">
                    <a:solidFill>
                      <a:srgbClr val="1C2B39"/>
                    </a:solidFill>
                  </a:tcPr>
                </a:tc>
                <a:tc>
                  <a:txBody>
                    <a:bodyPr/>
                    <a:lstStyle/>
                    <a:p>
                      <a:r>
                        <a:rPr sz="2000" b="0">
                          <a:solidFill>
                            <a:srgbClr val="62E4CD"/>
                          </a:solidFill>
                          <a:latin typeface="Arial"/>
                          <a:hlinkClick r:id="rId7"/>
                        </a:rPr>
                        <a:t>0x0b05e13fa25c…11ede98e</a:t>
                      </a:r>
                    </a:p>
                  </a:txBody>
                  <a:tcPr marL="146304" marT="27432" marB="27432" anchor="ctr">
                    <a:solidFill>
                      <a:srgbClr val="1C2B39"/>
                    </a:solidFill>
                  </a:tcPr>
                </a:tc>
              </a:tr>
              <a:tr h="434340">
                <a:tc>
                  <a:txBody>
                    <a:bodyPr/>
                    <a:lstStyle/>
                    <a:p>
                      <a:r>
                        <a:rPr sz="2000" b="0">
                          <a:solidFill>
                            <a:srgbClr val="F4F7FA"/>
                          </a:solidFill>
                          <a:latin typeface="Arial"/>
                        </a:rPr>
                        <a:t>AlreadyUsed</a:t>
                      </a:r>
                    </a:p>
                  </a:txBody>
                  <a:tcPr marL="146304" marT="27432" marB="27432" anchor="ctr">
                    <a:solidFill>
                      <a:srgbClr val="1C2B39"/>
                    </a:solidFill>
                  </a:tcPr>
                </a:tc>
                <a:tc>
                  <a:txBody>
                    <a:bodyPr/>
                    <a:lstStyle/>
                    <a:p>
                      <a:r>
                        <a:rPr sz="2000" b="0">
                          <a:solidFill>
                            <a:srgbClr val="62E4CD"/>
                          </a:solidFill>
                          <a:latin typeface="Arial"/>
                          <a:hlinkClick r:id="rId8"/>
                        </a:rPr>
                        <a:t>0xa1ad95144f81…fbf99a80</a:t>
                      </a:r>
                    </a:p>
                  </a:txBody>
                  <a:tcPr marL="146304" marT="27432" marB="27432" anchor="ctr">
                    <a:solidFill>
                      <a:srgbClr val="1C2B39"/>
                    </a:solidFill>
                  </a:tcPr>
                </a:tc>
              </a:tr>
              <a:tr h="434340">
                <a:tc>
                  <a:txBody>
                    <a:bodyPr/>
                    <a:lstStyle/>
                    <a:p>
                      <a:r>
                        <a:rPr sz="2000" b="0">
                          <a:solidFill>
                            <a:srgbClr val="F4F7FA"/>
                          </a:solidFill>
                          <a:latin typeface="Arial"/>
                        </a:rPr>
                        <a:t>StaleScore</a:t>
                      </a:r>
                    </a:p>
                  </a:txBody>
                  <a:tcPr marL="146304" marT="27432" marB="27432" anchor="ctr">
                    <a:solidFill>
                      <a:srgbClr val="1C2B39"/>
                    </a:solidFill>
                  </a:tcPr>
                </a:tc>
                <a:tc>
                  <a:txBody>
                    <a:bodyPr/>
                    <a:lstStyle/>
                    <a:p>
                      <a:r>
                        <a:rPr sz="2000" b="0">
                          <a:solidFill>
                            <a:srgbClr val="62E4CD"/>
                          </a:solidFill>
                          <a:latin typeface="Arial"/>
                          <a:hlinkClick r:id="rId9"/>
                        </a:rPr>
                        <a:t>0x0b29025776a1…b91233a3</a:t>
                      </a:r>
                    </a:p>
                  </a:txBody>
                  <a:tcPr marL="146304" marT="27432" marB="27432" anchor="ctr">
                    <a:solidFill>
                      <a:srgbClr val="1C2B39"/>
                    </a:solidFill>
                  </a:tcPr>
                </a:tc>
              </a:tr>
            </a:tbl>
          </a:graphicData>
        </a:graphic>
      </p:graphicFrame>
      <p:sp>
        <p:nvSpPr>
          <p:cNvPr id="7" name="TextBox 6"/>
          <p:cNvSpPr txBox="1"/>
          <p:nvPr/>
        </p:nvSpPr>
        <p:spPr>
          <a:xfrm>
            <a:off x="777240" y="5340096"/>
            <a:ext cx="10607040" cy="411480"/>
          </a:xfrm>
          <a:prstGeom prst="rect">
            <a:avLst/>
          </a:prstGeom>
          <a:noFill/>
        </p:spPr>
        <p:txBody>
          <a:bodyPr wrap="square" lIns="0" rIns="0" tIns="27432" bIns="27432">
            <a:spAutoFit/>
          </a:bodyPr>
          <a:lstStyle/>
          <a:p>
            <a:pPr algn="l">
              <a:spcAft>
                <a:spcPts val="800"/>
              </a:spcAft>
            </a:pPr>
            <a:r>
              <a:rPr sz="2200" b="0">
                <a:solidFill>
                  <a:srgbClr val="F4F7FA"/>
                </a:solidFill>
                <a:latin typeface="Arial"/>
              </a:rPr>
              <a:t>Yaklaşık 2 sn zincir onayı; yaklaşık $0,001 / LLM koşusu</a:t>
            </a:r>
          </a:p>
        </p:txBody>
      </p:sp>
      <p:sp>
        <p:nvSpPr>
          <p:cNvPr id="8" name="TextBox 7"/>
          <p:cNvSpPr txBox="1"/>
          <p:nvPr/>
        </p:nvSpPr>
        <p:spPr>
          <a:xfrm>
            <a:off x="777240" y="5779008"/>
            <a:ext cx="10607040" cy="411480"/>
          </a:xfrm>
          <a:prstGeom prst="rect">
            <a:avLst/>
          </a:prstGeom>
          <a:noFill/>
        </p:spPr>
        <p:txBody>
          <a:bodyPr wrap="square" lIns="0" rIns="0" tIns="27432" bIns="27432">
            <a:spAutoFit/>
          </a:bodyPr>
          <a:lstStyle/>
          <a:p>
            <a:pPr algn="l">
              <a:spcAft>
                <a:spcPts val="800"/>
              </a:spcAft>
            </a:pPr>
            <a:r>
              <a:rPr sz="2000" b="0">
                <a:solidFill>
                  <a:srgbClr val="F4F7FA"/>
                </a:solidFill>
                <a:latin typeface="Arial"/>
              </a:rPr>
              <a:t>Python 87/87; Solidity 14/14 (STATUS); 20 parite epizodik hafıza</a:t>
            </a:r>
          </a:p>
        </p:txBody>
      </p:sp>
      <p:sp>
        <p:nvSpPr>
          <p:cNvPr id="9" name="TextBox 8"/>
          <p:cNvSpPr txBox="1"/>
          <p:nvPr/>
        </p:nvSpPr>
        <p:spPr>
          <a:xfrm>
            <a:off x="777240" y="6199632"/>
            <a:ext cx="10607040" cy="228600"/>
          </a:xfrm>
          <a:prstGeom prst="rect">
            <a:avLst/>
          </a:prstGeom>
          <a:noFill/>
        </p:spPr>
        <p:txBody>
          <a:bodyPr wrap="square" lIns="0" rIns="0" tIns="27432" bIns="27432">
            <a:spAutoFit/>
          </a:bodyPr>
          <a:lstStyle/>
          <a:p>
            <a:pPr algn="l">
              <a:spcAft>
                <a:spcPts val="800"/>
              </a:spcAft>
            </a:pPr>
            <a:r>
              <a:rPr sz="1400" b="0">
                <a:solidFill>
                  <a:srgbClr val="B6C4D1"/>
                </a:solidFill>
                <a:latin typeface="Arial"/>
              </a:rPr>
              <a:t>Sınır: tek oracle, testnet; ağırlıklar varsayım. 1 USDT hazırlık tx'i ayrıca README'de.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923"/>
        </a:solidFill>
        <a:effectLst/>
      </p:bgPr>
    </p:bg>
    <p:spTree>
      <p:nvGrpSpPr>
        <p:cNvPr id="1" name=""/>
        <p:cNvGrpSpPr/>
        <p:nvPr/>
      </p:nvGrpSpPr>
      <p:grpSpPr/>
      <p:sp>
        <p:nvSpPr>
          <p:cNvPr id="2" name="Rectangle 1"/>
          <p:cNvSpPr/>
          <p:nvPr/>
        </p:nvSpPr>
        <p:spPr>
          <a:xfrm>
            <a:off x="548640" y="475488"/>
            <a:ext cx="594360" cy="54864"/>
          </a:xfrm>
          <a:prstGeom prst="rect">
            <a:avLst/>
          </a:prstGeom>
          <a:solidFill>
            <a:srgbClr val="62E4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758952"/>
            <a:ext cx="10972800" cy="749808"/>
          </a:xfrm>
          <a:prstGeom prst="rect">
            <a:avLst/>
          </a:prstGeom>
          <a:noFill/>
        </p:spPr>
        <p:txBody>
          <a:bodyPr wrap="square" lIns="0" rIns="0" tIns="27432" bIns="27432">
            <a:spAutoFit/>
          </a:bodyPr>
          <a:lstStyle/>
          <a:p>
            <a:pPr algn="l">
              <a:spcAft>
                <a:spcPts val="800"/>
              </a:spcAft>
            </a:pPr>
            <a:r>
              <a:rPr sz="3800" b="1">
                <a:solidFill>
                  <a:srgbClr val="F4F7FA"/>
                </a:solidFill>
                <a:latin typeface="Arial"/>
              </a:rPr>
              <a:t>Agent'lar için icra kontrolü servisi</a:t>
            </a:r>
          </a:p>
        </p:txBody>
      </p:sp>
      <p:sp>
        <p:nvSpPr>
          <p:cNvPr id="4" name="TextBox 3"/>
          <p:cNvSpPr txBox="1"/>
          <p:nvPr/>
        </p:nvSpPr>
        <p:spPr>
          <a:xfrm>
            <a:off x="594360" y="6446520"/>
            <a:ext cx="10607040" cy="246888"/>
          </a:xfrm>
          <a:prstGeom prst="rect">
            <a:avLst/>
          </a:prstGeom>
          <a:noFill/>
        </p:spPr>
        <p:txBody>
          <a:bodyPr wrap="square" lIns="0" rIns="0" tIns="27432" bIns="27432">
            <a:spAutoFit/>
          </a:bodyPr>
          <a:lstStyle/>
          <a:p>
            <a:pPr algn="l">
              <a:spcAft>
                <a:spcPts val="800"/>
              </a:spcAft>
            </a:pPr>
            <a:r>
              <a:rPr sz="1200" b="0">
                <a:solidFill>
                  <a:srgbClr val="B6C4D1"/>
                </a:solidFill>
                <a:latin typeface="Arial"/>
              </a:rPr>
              <a:t>Arf  /  OKX Agent Trade Kit × Avalanche  /  17 Ekim 2026</a:t>
            </a:r>
          </a:p>
        </p:txBody>
      </p:sp>
      <p:sp>
        <p:nvSpPr>
          <p:cNvPr id="5" name="TextBox 4"/>
          <p:cNvSpPr txBox="1"/>
          <p:nvPr/>
        </p:nvSpPr>
        <p:spPr>
          <a:xfrm>
            <a:off x="11109960" y="6419088"/>
            <a:ext cx="457200" cy="274320"/>
          </a:xfrm>
          <a:prstGeom prst="rect">
            <a:avLst/>
          </a:prstGeom>
          <a:noFill/>
        </p:spPr>
        <p:txBody>
          <a:bodyPr wrap="square" lIns="0" rIns="0" tIns="27432" bIns="27432">
            <a:spAutoFit/>
          </a:bodyPr>
          <a:lstStyle/>
          <a:p>
            <a:pPr algn="l">
              <a:spcAft>
                <a:spcPts val="800"/>
              </a:spcAft>
            </a:pPr>
            <a:r>
              <a:rPr sz="1300" b="0">
                <a:solidFill>
                  <a:srgbClr val="B6C4D1"/>
                </a:solidFill>
                <a:latin typeface="Arial"/>
              </a:rPr>
              <a:t>09</a:t>
            </a:r>
          </a:p>
        </p:txBody>
      </p:sp>
      <p:sp>
        <p:nvSpPr>
          <p:cNvPr id="6" name="TextBox 5"/>
          <p:cNvSpPr txBox="1"/>
          <p:nvPr/>
        </p:nvSpPr>
        <p:spPr>
          <a:xfrm>
            <a:off x="685800" y="1691640"/>
            <a:ext cx="320040" cy="411480"/>
          </a:xfrm>
          <a:prstGeom prst="rect">
            <a:avLst/>
          </a:prstGeom>
          <a:noFill/>
        </p:spPr>
        <p:txBody>
          <a:bodyPr wrap="square" lIns="0" rIns="0" tIns="27432" bIns="27432">
            <a:spAutoFit/>
          </a:bodyPr>
          <a:lstStyle/>
          <a:p>
            <a:pPr algn="l">
              <a:spcAft>
                <a:spcPts val="800"/>
              </a:spcAft>
            </a:pPr>
            <a:r>
              <a:rPr sz="2500" b="0">
                <a:solidFill>
                  <a:srgbClr val="62E4CD"/>
                </a:solidFill>
                <a:latin typeface="Arial"/>
              </a:rPr>
              <a:t>•</a:t>
            </a:r>
          </a:p>
        </p:txBody>
      </p:sp>
      <p:sp>
        <p:nvSpPr>
          <p:cNvPr id="7" name="TextBox 6"/>
          <p:cNvSpPr txBox="1"/>
          <p:nvPr/>
        </p:nvSpPr>
        <p:spPr>
          <a:xfrm>
            <a:off x="1078992" y="1691640"/>
            <a:ext cx="10287000" cy="777240"/>
          </a:xfrm>
          <a:prstGeom prst="rect">
            <a:avLst/>
          </a:prstGeom>
          <a:noFill/>
        </p:spPr>
        <p:txBody>
          <a:bodyPr wrap="square" lIns="0" rIns="0" tIns="27432" bIns="27432">
            <a:spAutoFit/>
          </a:bodyPr>
          <a:lstStyle/>
          <a:p>
            <a:pPr algn="l">
              <a:spcAft>
                <a:spcPts val="800"/>
              </a:spcAft>
            </a:pPr>
            <a:r>
              <a:rPr sz="2500" b="0">
                <a:solidFill>
                  <a:srgbClr val="F4F7FA"/>
                </a:solidFill>
                <a:latin typeface="Arial"/>
              </a:rPr>
              <a:t>Müşteri: ATK agent geliştiricileri ve bireyler</a:t>
            </a:r>
          </a:p>
        </p:txBody>
      </p:sp>
      <p:sp>
        <p:nvSpPr>
          <p:cNvPr id="8" name="TextBox 7"/>
          <p:cNvSpPr txBox="1"/>
          <p:nvPr/>
        </p:nvSpPr>
        <p:spPr>
          <a:xfrm>
            <a:off x="685800" y="2441448"/>
            <a:ext cx="320040" cy="411480"/>
          </a:xfrm>
          <a:prstGeom prst="rect">
            <a:avLst/>
          </a:prstGeom>
          <a:noFill/>
        </p:spPr>
        <p:txBody>
          <a:bodyPr wrap="square" lIns="0" rIns="0" tIns="27432" bIns="27432">
            <a:spAutoFit/>
          </a:bodyPr>
          <a:lstStyle/>
          <a:p>
            <a:pPr algn="l">
              <a:spcAft>
                <a:spcPts val="800"/>
              </a:spcAft>
            </a:pPr>
            <a:r>
              <a:rPr sz="2500" b="0">
                <a:solidFill>
                  <a:srgbClr val="62E4CD"/>
                </a:solidFill>
                <a:latin typeface="Arial"/>
              </a:rPr>
              <a:t>•</a:t>
            </a:r>
          </a:p>
        </p:txBody>
      </p:sp>
      <p:sp>
        <p:nvSpPr>
          <p:cNvPr id="9" name="TextBox 8"/>
          <p:cNvSpPr txBox="1"/>
          <p:nvPr/>
        </p:nvSpPr>
        <p:spPr>
          <a:xfrm>
            <a:off x="1078992" y="2441448"/>
            <a:ext cx="10287000" cy="777240"/>
          </a:xfrm>
          <a:prstGeom prst="rect">
            <a:avLst/>
          </a:prstGeom>
          <a:noFill/>
        </p:spPr>
        <p:txBody>
          <a:bodyPr wrap="square" lIns="0" rIns="0" tIns="27432" bIns="27432">
            <a:spAutoFit/>
          </a:bodyPr>
          <a:lstStyle/>
          <a:p>
            <a:pPr algn="l">
              <a:spcAft>
                <a:spcPts val="800"/>
              </a:spcAft>
            </a:pPr>
            <a:r>
              <a:rPr sz="2500" b="0">
                <a:solidFill>
                  <a:srgbClr val="F4F7FA"/>
                </a:solidFill>
                <a:latin typeface="Arial"/>
              </a:rPr>
              <a:t>Model: temel ücretsiz, gerçek zamanlı/API ücretli</a:t>
            </a:r>
          </a:p>
        </p:txBody>
      </p:sp>
      <p:sp>
        <p:nvSpPr>
          <p:cNvPr id="10" name="TextBox 9"/>
          <p:cNvSpPr txBox="1"/>
          <p:nvPr/>
        </p:nvSpPr>
        <p:spPr>
          <a:xfrm>
            <a:off x="685800" y="3191256"/>
            <a:ext cx="320040" cy="411480"/>
          </a:xfrm>
          <a:prstGeom prst="rect">
            <a:avLst/>
          </a:prstGeom>
          <a:noFill/>
        </p:spPr>
        <p:txBody>
          <a:bodyPr wrap="square" lIns="0" rIns="0" tIns="27432" bIns="27432">
            <a:spAutoFit/>
          </a:bodyPr>
          <a:lstStyle/>
          <a:p>
            <a:pPr algn="l">
              <a:spcAft>
                <a:spcPts val="800"/>
              </a:spcAft>
            </a:pPr>
            <a:r>
              <a:rPr sz="2500" b="0">
                <a:solidFill>
                  <a:srgbClr val="62E4CD"/>
                </a:solidFill>
                <a:latin typeface="Arial"/>
              </a:rPr>
              <a:t>•</a:t>
            </a:r>
          </a:p>
        </p:txBody>
      </p:sp>
      <p:sp>
        <p:nvSpPr>
          <p:cNvPr id="11" name="TextBox 10"/>
          <p:cNvSpPr txBox="1"/>
          <p:nvPr/>
        </p:nvSpPr>
        <p:spPr>
          <a:xfrm>
            <a:off x="1078992" y="3191256"/>
            <a:ext cx="10287000" cy="777240"/>
          </a:xfrm>
          <a:prstGeom prst="rect">
            <a:avLst/>
          </a:prstGeom>
          <a:noFill/>
        </p:spPr>
        <p:txBody>
          <a:bodyPr wrap="square" lIns="0" rIns="0" tIns="27432" bIns="27432">
            <a:spAutoFit/>
          </a:bodyPr>
          <a:lstStyle/>
          <a:p>
            <a:pPr algn="l">
              <a:spcAft>
                <a:spcPts val="800"/>
              </a:spcAft>
            </a:pPr>
            <a:r>
              <a:rPr sz="2500" b="0">
                <a:solidFill>
                  <a:srgbClr val="F4F7FA"/>
                </a:solidFill>
                <a:latin typeface="Arial"/>
              </a:rPr>
              <a:t>Kodlanmadı: çoklu oracle, EIP-712, icra planı</a:t>
            </a:r>
          </a:p>
        </p:txBody>
      </p:sp>
      <p:sp>
        <p:nvSpPr>
          <p:cNvPr id="12" name="TextBox 11"/>
          <p:cNvSpPr txBox="1"/>
          <p:nvPr/>
        </p:nvSpPr>
        <p:spPr>
          <a:xfrm>
            <a:off x="685800" y="3941064"/>
            <a:ext cx="320040" cy="411480"/>
          </a:xfrm>
          <a:prstGeom prst="rect">
            <a:avLst/>
          </a:prstGeom>
          <a:noFill/>
        </p:spPr>
        <p:txBody>
          <a:bodyPr wrap="square" lIns="0" rIns="0" tIns="27432" bIns="27432">
            <a:spAutoFit/>
          </a:bodyPr>
          <a:lstStyle/>
          <a:p>
            <a:pPr algn="l">
              <a:spcAft>
                <a:spcPts val="800"/>
              </a:spcAft>
            </a:pPr>
            <a:r>
              <a:rPr sz="2500" b="0">
                <a:solidFill>
                  <a:srgbClr val="62E4CD"/>
                </a:solidFill>
                <a:latin typeface="Arial"/>
              </a:rPr>
              <a:t>•</a:t>
            </a:r>
          </a:p>
        </p:txBody>
      </p:sp>
      <p:sp>
        <p:nvSpPr>
          <p:cNvPr id="13" name="TextBox 12"/>
          <p:cNvSpPr txBox="1"/>
          <p:nvPr/>
        </p:nvSpPr>
        <p:spPr>
          <a:xfrm>
            <a:off x="1078992" y="3941064"/>
            <a:ext cx="10287000" cy="777240"/>
          </a:xfrm>
          <a:prstGeom prst="rect">
            <a:avLst/>
          </a:prstGeom>
          <a:noFill/>
        </p:spPr>
        <p:txBody>
          <a:bodyPr wrap="square" lIns="0" rIns="0" tIns="27432" bIns="27432">
            <a:spAutoFit/>
          </a:bodyPr>
          <a:lstStyle/>
          <a:p>
            <a:pPr algn="l">
              <a:spcAft>
                <a:spcPts val="800"/>
              </a:spcAft>
            </a:pPr>
            <a:r>
              <a:rPr sz="2500" b="0">
                <a:solidFill>
                  <a:srgbClr val="F4F7FA"/>
                </a:solidFill>
                <a:latin typeface="Arial"/>
              </a:rPr>
              <a:t>Kodlanmadı: OKX.ai, HTTP 402, mainnet / L1</a:t>
            </a:r>
          </a:p>
        </p:txBody>
      </p:sp>
      <p:sp>
        <p:nvSpPr>
          <p:cNvPr id="14" name="TextBox 13"/>
          <p:cNvSpPr txBox="1"/>
          <p:nvPr/>
        </p:nvSpPr>
        <p:spPr>
          <a:xfrm>
            <a:off x="777240" y="4956048"/>
            <a:ext cx="10652760" cy="457200"/>
          </a:xfrm>
          <a:prstGeom prst="rect">
            <a:avLst/>
          </a:prstGeom>
          <a:noFill/>
        </p:spPr>
        <p:txBody>
          <a:bodyPr wrap="square" lIns="0" rIns="0" tIns="27432" bIns="27432">
            <a:spAutoFit/>
          </a:bodyPr>
          <a:lstStyle/>
          <a:p>
            <a:pPr algn="l">
              <a:spcAft>
                <a:spcPts val="800"/>
              </a:spcAft>
            </a:pPr>
            <a:r>
              <a:rPr sz="2500" b="0">
                <a:solidFill>
                  <a:srgbClr val="62E4CD"/>
                </a:solidFill>
                <a:latin typeface="Arial"/>
                <a:hlinkClick r:id="rId3"/>
              </a:rPr>
              <a:t>https://github.com/akifaybek/arf</a:t>
            </a:r>
          </a:p>
        </p:txBody>
      </p:sp>
      <p:sp>
        <p:nvSpPr>
          <p:cNvPr id="15" name="TextBox 14"/>
          <p:cNvSpPr txBox="1"/>
          <p:nvPr/>
        </p:nvSpPr>
        <p:spPr>
          <a:xfrm>
            <a:off x="777240" y="5522976"/>
            <a:ext cx="10652760" cy="594360"/>
          </a:xfrm>
          <a:prstGeom prst="rect">
            <a:avLst/>
          </a:prstGeom>
          <a:noFill/>
        </p:spPr>
        <p:txBody>
          <a:bodyPr wrap="square" lIns="0" rIns="0" tIns="27432" bIns="27432">
            <a:spAutoFit/>
          </a:bodyPr>
          <a:lstStyle/>
          <a:p>
            <a:pPr algn="l">
              <a:spcAft>
                <a:spcPts val="800"/>
              </a:spcAft>
            </a:pPr>
            <a:r>
              <a:rPr sz="2000" b="0">
                <a:solidFill>
                  <a:srgbClr val="B6C4D1"/>
                </a:solidFill>
                <a:latin typeface="Arial"/>
                <a:hlinkClick r:id="rId4"/>
              </a:rPr>
              <a:t>Fuji kontratı</a:t>
            </a:r>
          </a:p>
          <a:p>
            <a:pPr algn="l">
              <a:spcAft>
                <a:spcPts val="800"/>
              </a:spcAft>
            </a:pPr>
            <a:r>
              <a:rPr sz="2000" b="0">
                <a:solidFill>
                  <a:srgbClr val="B6C4D1"/>
                </a:solidFill>
                <a:latin typeface="Arial"/>
                <a:hlinkClick r:id="rId4"/>
              </a:rPr>
              <a:t>0xddE4C78F831f082E8AFDF716266bd1338B591159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